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3652" r:id="rId2"/>
  </p:sldMasterIdLst>
  <p:notesMasterIdLst>
    <p:notesMasterId r:id="rId28"/>
  </p:notesMasterIdLst>
  <p:sldIdLst>
    <p:sldId id="637" r:id="rId3"/>
    <p:sldId id="708" r:id="rId4"/>
    <p:sldId id="725" r:id="rId5"/>
    <p:sldId id="709" r:id="rId6"/>
    <p:sldId id="711" r:id="rId7"/>
    <p:sldId id="720" r:id="rId8"/>
    <p:sldId id="712" r:id="rId9"/>
    <p:sldId id="713" r:id="rId10"/>
    <p:sldId id="718" r:id="rId11"/>
    <p:sldId id="717" r:id="rId12"/>
    <p:sldId id="716" r:id="rId13"/>
    <p:sldId id="722" r:id="rId14"/>
    <p:sldId id="719" r:id="rId15"/>
    <p:sldId id="700" r:id="rId16"/>
    <p:sldId id="701" r:id="rId17"/>
    <p:sldId id="702" r:id="rId18"/>
    <p:sldId id="703" r:id="rId19"/>
    <p:sldId id="704" r:id="rId20"/>
    <p:sldId id="715" r:id="rId21"/>
    <p:sldId id="721" r:id="rId22"/>
    <p:sldId id="723" r:id="rId23"/>
    <p:sldId id="724" r:id="rId24"/>
    <p:sldId id="705" r:id="rId25"/>
    <p:sldId id="714" r:id="rId26"/>
    <p:sldId id="662" r:id="rId27"/>
  </p:sldIdLst>
  <p:sldSz cx="9144000" cy="6858000" type="screen4x3"/>
  <p:notesSz cx="7150100" cy="94488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99FF33"/>
    <a:srgbClr val="0099FF"/>
    <a:srgbClr val="A50021"/>
    <a:srgbClr val="096DBF"/>
    <a:srgbClr val="008000"/>
    <a:srgbClr val="62A2CA"/>
    <a:srgbClr val="86B8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41" autoAdjust="0"/>
    <p:restoredTop sz="89464" autoAdjust="0"/>
  </p:normalViewPr>
  <p:slideViewPr>
    <p:cSldViewPr snapToGrid="0">
      <p:cViewPr varScale="1">
        <p:scale>
          <a:sx n="101" d="100"/>
          <a:sy n="101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988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1" tIns="47425" rIns="94851" bIns="47425" numCol="1" anchor="t" anchorCtr="0" compatLnSpc="1">
            <a:prstTxWarp prst="textNoShape">
              <a:avLst/>
            </a:prstTxWarp>
          </a:bodyPr>
          <a:lstStyle>
            <a:lvl1pPr algn="l" defTabSz="947738">
              <a:defRPr sz="12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51300" y="0"/>
            <a:ext cx="30988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1" tIns="47425" rIns="94851" bIns="47425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2850" y="708025"/>
            <a:ext cx="4724400" cy="3543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54088" y="4487863"/>
            <a:ext cx="5241925" cy="425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1" tIns="47425" rIns="94851" bIns="474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75725"/>
            <a:ext cx="30988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1" tIns="47425" rIns="94851" bIns="47425" numCol="1" anchor="b" anchorCtr="0" compatLnSpc="1">
            <a:prstTxWarp prst="textNoShape">
              <a:avLst/>
            </a:prstTxWarp>
          </a:bodyPr>
          <a:lstStyle>
            <a:lvl1pPr algn="l" defTabSz="947738">
              <a:defRPr sz="12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51300" y="8975725"/>
            <a:ext cx="30988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1" tIns="47425" rIns="94851" bIns="47425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 b="0" smtClean="0"/>
            </a:lvl1pPr>
          </a:lstStyle>
          <a:p>
            <a:pPr>
              <a:defRPr/>
            </a:pPr>
            <a:fld id="{78D28F11-D338-4439-9444-2589B5B737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97440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231775" indent="-23018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461963" indent="-228600" algn="l" rtl="0" eaLnBrk="0" fontAlgn="base" hangingPunct="0">
      <a:spcBef>
        <a:spcPct val="30000"/>
      </a:spcBef>
      <a:spcAft>
        <a:spcPct val="0"/>
      </a:spcAft>
      <a:buFont typeface="Verdana" pitchFamily="34" charset="0"/>
      <a:buChar char="–"/>
      <a:defRPr sz="12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633413" indent="-169863" algn="l" rtl="0" eaLnBrk="0" fontAlgn="base" hangingPunct="0">
      <a:spcBef>
        <a:spcPct val="30000"/>
      </a:spcBef>
      <a:spcAft>
        <a:spcPct val="0"/>
      </a:spcAft>
      <a:buFont typeface="Verdana" pitchFamily="34" charset="0"/>
      <a:buChar char="•"/>
      <a:defRPr sz="10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803275" indent="-168275" algn="l" rtl="0" eaLnBrk="0" fontAlgn="base" hangingPunct="0">
      <a:spcBef>
        <a:spcPct val="30000"/>
      </a:spcBef>
      <a:spcAft>
        <a:spcPct val="0"/>
      </a:spcAft>
      <a:buFont typeface="Verdana" pitchFamily="34" charset="0"/>
      <a:buChar char="–"/>
      <a:defRPr sz="10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MYO</a:t>
            </a:r>
            <a:r>
              <a:rPr lang="en-US" baseline="0" dirty="0" smtClean="0"/>
              <a:t> API’s are used to allocate SVM.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D28F11-D338-4439-9444-2589B5B737F4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MYO</a:t>
            </a:r>
            <a:r>
              <a:rPr lang="en-US" baseline="0" dirty="0" smtClean="0"/>
              <a:t> API’s are used to allocate SVM.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D28F11-D338-4439-9444-2589B5B737F4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Marshaling </a:t>
            </a:r>
            <a:r>
              <a:rPr lang="en-US" smtClean="0"/>
              <a:t>and un-marshaling </a:t>
            </a:r>
            <a:r>
              <a:rPr lang="en-US" dirty="0" smtClean="0"/>
              <a:t>of data</a:t>
            </a:r>
            <a:r>
              <a:rPr lang="en-US" baseline="0" dirty="0" smtClean="0"/>
              <a:t> refers to converting complex data structure to sequential form, transfer and then recreate the structure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D28F11-D338-4439-9444-2589B5B737F4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Next two slides requires explanation to the </a:t>
            </a:r>
            <a:r>
              <a:rPr lang="en-US" dirty="0" smtClean="0"/>
              <a:t>customer</a:t>
            </a:r>
            <a:r>
              <a:rPr lang="en-US" dirty="0" smtClean="0"/>
              <a:t>. Visualization of hybrid</a:t>
            </a:r>
            <a:r>
              <a:rPr lang="en-US" baseline="0" dirty="0" smtClean="0"/>
              <a:t> and lazy are same except for runtime optimizations on granularity of data and reducing page faults</a:t>
            </a:r>
            <a:r>
              <a:rPr lang="en-US" baseline="0" dirty="0" smtClean="0"/>
              <a:t>.</a:t>
            </a:r>
          </a:p>
          <a:p>
            <a:endParaRPr lang="en-US" baseline="0" dirty="0" smtClean="0"/>
          </a:p>
          <a:p>
            <a:r>
              <a:rPr lang="en-US" baseline="0" dirty="0" smtClean="0"/>
              <a:t>Ron: What are the 3 MYO modes? Or are these the 3 modes above?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D28F11-D338-4439-9444-2589B5B737F4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 dirty="0" smtClean="0"/>
              <a:t>Shared Virtual memory (Ours)</a:t>
            </a:r>
          </a:p>
          <a:p>
            <a:pPr eaLnBrk="1" hangingPunct="1">
              <a:buFontTx/>
              <a:buChar char="•"/>
            </a:pPr>
            <a:r>
              <a:rPr lang="en-US" altLang="zh-CN" sz="2000" dirty="0" smtClean="0"/>
              <a:t>Weak release consistency</a:t>
            </a:r>
          </a:p>
          <a:p>
            <a:pPr lvl="2" eaLnBrk="1" hangingPunct="1"/>
            <a:r>
              <a:rPr lang="en-US" altLang="zh-CN" dirty="0" smtClean="0"/>
              <a:t>handover for shared data using memory sync (acquire/release)</a:t>
            </a:r>
          </a:p>
          <a:p>
            <a:pPr lvl="1" eaLnBrk="1" hangingPunct="1"/>
            <a:r>
              <a:rPr lang="en-US" altLang="zh-CN" dirty="0" smtClean="0"/>
              <a:t>Shared address space access detection </a:t>
            </a:r>
          </a:p>
          <a:p>
            <a:pPr lvl="2" eaLnBrk="1" hangingPunct="1"/>
            <a:r>
              <a:rPr lang="en-US" altLang="zh-CN" sz="2000" dirty="0" smtClean="0"/>
              <a:t>Page fault exception</a:t>
            </a:r>
          </a:p>
          <a:p>
            <a:pPr lvl="2" eaLnBrk="1" hangingPunct="1"/>
            <a:r>
              <a:rPr lang="en-US" altLang="zh-CN" sz="2000" dirty="0" smtClean="0"/>
              <a:t>Virtual memory protection</a:t>
            </a:r>
          </a:p>
          <a:p>
            <a:pPr lvl="1" eaLnBrk="1" hangingPunct="1"/>
            <a:r>
              <a:rPr lang="en-US" altLang="zh-CN" dirty="0" smtClean="0"/>
              <a:t>Multiple-reader &amp; multiple-writer</a:t>
            </a:r>
          </a:p>
          <a:p>
            <a:pPr lvl="1" eaLnBrk="1" hangingPunct="1">
              <a:buFontTx/>
              <a:buNone/>
            </a:pPr>
            <a:endParaRPr lang="en-US" altLang="zh-CN" dirty="0" smtClean="0"/>
          </a:p>
          <a:p>
            <a:pPr lvl="1" eaLnBrk="1" hangingPunct="1">
              <a:buFontTx/>
              <a:buNone/>
            </a:pPr>
            <a:r>
              <a:rPr lang="en-US" altLang="zh-CN" dirty="0" smtClean="0"/>
              <a:t>Update on demand  need AP/SP concept for multi-reader or multi-writer in </a:t>
            </a:r>
            <a:r>
              <a:rPr lang="en-US" altLang="zh-CN" dirty="0" err="1" smtClean="0"/>
              <a:t>lrb</a:t>
            </a:r>
            <a:r>
              <a:rPr lang="en-US" altLang="zh-CN" dirty="0" smtClean="0"/>
              <a:t>.</a:t>
            </a:r>
          </a:p>
          <a:p>
            <a:pPr lvl="1" eaLnBrk="1" hangingPunct="1">
              <a:buFontTx/>
              <a:buNone/>
            </a:pPr>
            <a:r>
              <a:rPr lang="en-US" altLang="zh-CN" dirty="0" smtClean="0"/>
              <a:t>i.e. when one thread update the page(need to be set to writable) from CPU, while another thread wants to write something to the page(need trigger </a:t>
            </a:r>
            <a:r>
              <a:rPr lang="en-US" altLang="zh-CN" dirty="0" err="1" smtClean="0"/>
              <a:t>pagefault</a:t>
            </a:r>
            <a:r>
              <a:rPr lang="en-US" altLang="zh-CN" dirty="0" smtClean="0"/>
              <a:t> to record the </a:t>
            </a:r>
            <a:r>
              <a:rPr lang="en-US" altLang="zh-CN" dirty="0" err="1" smtClean="0"/>
              <a:t>dirtybit</a:t>
            </a:r>
            <a:r>
              <a:rPr lang="en-US" altLang="zh-CN" dirty="0" smtClean="0"/>
              <a:t>). Also Atomic operation cannot guaranteed.</a:t>
            </a:r>
          </a:p>
          <a:p>
            <a:pPr lvl="1" eaLnBrk="1" hangingPunct="1">
              <a:buFontTx/>
              <a:buNone/>
            </a:pPr>
            <a:r>
              <a:rPr lang="en-US" altLang="zh-CN" dirty="0" smtClean="0"/>
              <a:t>We use </a:t>
            </a:r>
            <a:r>
              <a:rPr lang="en-US" altLang="zh-CN" dirty="0" smtClean="0">
                <a:solidFill>
                  <a:schemeClr val="bg2"/>
                </a:solidFill>
              </a:rPr>
              <a:t>SHMEM(</a:t>
            </a:r>
            <a:r>
              <a:rPr lang="en-US" altLang="zh-CN" dirty="0" err="1" smtClean="0">
                <a:solidFill>
                  <a:schemeClr val="bg2"/>
                </a:solidFill>
              </a:rPr>
              <a:t>shmat</a:t>
            </a:r>
            <a:r>
              <a:rPr lang="en-US" altLang="zh-CN" dirty="0" smtClean="0">
                <a:solidFill>
                  <a:schemeClr val="bg2"/>
                </a:solidFill>
              </a:rPr>
              <a:t>) </a:t>
            </a:r>
            <a:r>
              <a:rPr lang="en-US" altLang="zh-CN" dirty="0" smtClean="0"/>
              <a:t>to map 2 virtual address(AP/SP) to the same physical address. Update operation use SP(writable) to update page, while other working threads is protected by the </a:t>
            </a:r>
            <a:r>
              <a:rPr lang="en-US" altLang="zh-CN" dirty="0" err="1" smtClean="0"/>
              <a:t>pagefault</a:t>
            </a:r>
            <a:r>
              <a:rPr lang="en-US" altLang="zh-CN" dirty="0" smtClean="0"/>
              <a:t> happened in AP space.</a:t>
            </a:r>
          </a:p>
          <a:p>
            <a:pPr lvl="1" eaLnBrk="1" hangingPunct="1">
              <a:buFontTx/>
              <a:buNone/>
            </a:pPr>
            <a:endParaRPr lang="en-US" altLang="zh-CN" dirty="0" smtClean="0"/>
          </a:p>
          <a:p>
            <a:pPr eaLnBrk="1" hangingPunct="1"/>
            <a:endParaRPr lang="zh-CN" altLang="en-US" dirty="0" smtClean="0"/>
          </a:p>
        </p:txBody>
      </p:sp>
      <p:sp>
        <p:nvSpPr>
          <p:cNvPr id="31748" name="Slide Number Placeholder 3"/>
          <p:cNvSpPr txBox="1">
            <a:spLocks noGrp="1"/>
          </p:cNvSpPr>
          <p:nvPr/>
        </p:nvSpPr>
        <p:spPr bwMode="auto">
          <a:xfrm>
            <a:off x="4051300" y="8975725"/>
            <a:ext cx="30988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51" tIns="47425" rIns="94851" bIns="47425" anchor="b"/>
          <a:lstStyle/>
          <a:p>
            <a:pPr algn="r" defTabSz="947738"/>
            <a:fld id="{859BA66C-7AB6-4F54-BA1B-AD2D1A5BD236}" type="slidenum">
              <a:rPr lang="en-US" altLang="zh-CN" sz="1200" b="0"/>
              <a:pPr algn="r" defTabSz="947738"/>
              <a:t>10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 smtClean="0"/>
              <a:t>Shared Virtual memory (Ours)</a:t>
            </a:r>
          </a:p>
          <a:p>
            <a:pPr eaLnBrk="1" hangingPunct="1">
              <a:buFontTx/>
              <a:buChar char="•"/>
            </a:pPr>
            <a:r>
              <a:rPr lang="en-US" altLang="zh-CN" sz="2000" smtClean="0"/>
              <a:t>Weak release consistency</a:t>
            </a:r>
          </a:p>
          <a:p>
            <a:pPr lvl="2" eaLnBrk="1" hangingPunct="1"/>
            <a:r>
              <a:rPr lang="en-US" altLang="zh-CN" smtClean="0"/>
              <a:t>handover for shared data using memory sync (acquire/release)</a:t>
            </a:r>
          </a:p>
          <a:p>
            <a:pPr lvl="1" eaLnBrk="1" hangingPunct="1"/>
            <a:r>
              <a:rPr lang="en-US" altLang="zh-CN" smtClean="0"/>
              <a:t>Shared address space access detection </a:t>
            </a:r>
          </a:p>
          <a:p>
            <a:pPr lvl="2" eaLnBrk="1" hangingPunct="1"/>
            <a:r>
              <a:rPr lang="en-US" altLang="zh-CN" sz="2000" smtClean="0"/>
              <a:t>Page fault exception</a:t>
            </a:r>
          </a:p>
          <a:p>
            <a:pPr lvl="2" eaLnBrk="1" hangingPunct="1"/>
            <a:r>
              <a:rPr lang="en-US" altLang="zh-CN" sz="2000" smtClean="0"/>
              <a:t>Virtual memory protection</a:t>
            </a:r>
          </a:p>
          <a:p>
            <a:pPr lvl="1" eaLnBrk="1" hangingPunct="1"/>
            <a:r>
              <a:rPr lang="en-US" altLang="zh-CN" smtClean="0"/>
              <a:t>Multiple-reader &amp; multiple-writer</a:t>
            </a:r>
          </a:p>
          <a:p>
            <a:pPr eaLnBrk="1" hangingPunct="1"/>
            <a:endParaRPr lang="zh-CN" altLang="en-US" smtClean="0"/>
          </a:p>
        </p:txBody>
      </p:sp>
      <p:sp>
        <p:nvSpPr>
          <p:cNvPr id="32772" name="Slide Number Placeholder 3"/>
          <p:cNvSpPr txBox="1">
            <a:spLocks noGrp="1"/>
          </p:cNvSpPr>
          <p:nvPr/>
        </p:nvSpPr>
        <p:spPr bwMode="auto">
          <a:xfrm>
            <a:off x="4051300" y="8975725"/>
            <a:ext cx="30988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51" tIns="47425" rIns="94851" bIns="47425" anchor="b"/>
          <a:lstStyle/>
          <a:p>
            <a:pPr algn="r" defTabSz="947738"/>
            <a:fld id="{569F34E3-4AF7-432B-B6FC-E440A8E81284}" type="slidenum">
              <a:rPr lang="en-US" altLang="zh-CN" sz="1200" b="0"/>
              <a:pPr algn="r" defTabSz="947738"/>
              <a:t>11</a:t>
            </a:fld>
            <a:endParaRPr lang="en-US" altLang="zh-CN" sz="1200" b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Shared</a:t>
            </a:r>
            <a:r>
              <a:rPr lang="en-US" baseline="0" dirty="0" smtClean="0"/>
              <a:t> memory properties can be set at the Arena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D28F11-D338-4439-9444-2589B5B737F4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Feel free to skip the programming section and walk through actual code if that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D28F11-D338-4439-9444-2589B5B737F4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0860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Intel_whit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96163" y="538163"/>
            <a:ext cx="1290637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9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2420938" y="3651250"/>
            <a:ext cx="6265862" cy="457200"/>
          </a:xfrm>
        </p:spPr>
        <p:txBody>
          <a:bodyPr wrap="none" anchor="b">
            <a:spAutoFit/>
          </a:bodyPr>
          <a:lstStyle>
            <a:lvl1pPr algn="r"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subTitle" idx="1"/>
          </p:nvPr>
        </p:nvSpPr>
        <p:spPr>
          <a:xfrm>
            <a:off x="519113" y="4478338"/>
            <a:ext cx="8167687" cy="593725"/>
          </a:xfrm>
        </p:spPr>
        <p:txBody>
          <a:bodyPr wrap="none">
            <a:spAutoFit/>
          </a:bodyPr>
          <a:lstStyle>
            <a:lvl1pPr algn="r">
              <a:defRPr sz="390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7839C3-4C75-4980-81B5-0F633030F8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5C2E8-69AA-4D91-B70B-57BA5147AD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1600"/>
            <a:ext cx="40417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371600"/>
            <a:ext cx="4043362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52D036-E8A6-4823-9F61-A7C5A3DC35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0B4A9E-F70F-4DF7-8D0C-30E9FEDBA3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364FC0-F5AE-41C4-8020-3672721A24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742FD7-BE23-4E67-B0C1-C5244AC165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Title 1"/>
          <p:cNvSpPr>
            <a:spLocks noGrp="1"/>
          </p:cNvSpPr>
          <p:nvPr userDrawn="1">
            <p:ph type="title"/>
          </p:nvPr>
        </p:nvSpPr>
        <p:spPr>
          <a:xfrm>
            <a:off x="608013" y="425450"/>
            <a:ext cx="8237537" cy="88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 userDrawn="1">
            <p:ph idx="1"/>
          </p:nvPr>
        </p:nvSpPr>
        <p:spPr>
          <a:xfrm>
            <a:off x="603813" y="1541362"/>
            <a:ext cx="8241737" cy="43260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 userDrawn="1"/>
        </p:nvSpPr>
        <p:spPr bwMode="auto">
          <a:xfrm>
            <a:off x="608013" y="6510338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7839C3-4C75-4980-81B5-0F633030F8FC}" type="slidenum">
              <a:rPr kumimoji="0" lang="en-US" altLang="zh-CN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宋体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宋体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42A419-44D4-4F88-9FD1-B558F76F39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3E08AB-DCFB-4FB5-9043-0EBF3D0BE3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47875C-1398-485F-B995-04C7D592F5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4163" y="273050"/>
            <a:ext cx="2058987" cy="5441950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73050"/>
            <a:ext cx="6026150" cy="5441950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300B9-7ABC-4E69-889E-AD77262A71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GB" altLang="zh-CN" b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eaLnBrk="1" hangingPunct="1">
                <a:defRPr/>
              </a:pPr>
              <a:endParaRPr lang="en-GB" altLang="zh-CN" b="0"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defRPr/>
                </a:pPr>
                <a:endParaRPr lang="en-GB" altLang="zh-CN" b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defRPr/>
                </a:pPr>
                <a:endParaRPr lang="en-GB" altLang="zh-CN" b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defRPr/>
                </a:pPr>
                <a:endParaRPr lang="en-GB" altLang="zh-CN" b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defRPr/>
                </a:pPr>
                <a:endParaRPr lang="en-GB" altLang="zh-CN" b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defRPr/>
                </a:pPr>
                <a:endParaRPr lang="en-GB" altLang="zh-CN" b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defRPr/>
                </a:pPr>
                <a:endParaRPr lang="en-GB" altLang="zh-CN" b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defRPr/>
                </a:pPr>
                <a:endParaRPr lang="en-GB" altLang="zh-CN" b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defRPr/>
                </a:pPr>
                <a:endParaRPr lang="en-GB" altLang="zh-CN" b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defRPr/>
                </a:pPr>
                <a:endParaRPr lang="en-GB" altLang="zh-CN" b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defRPr/>
                </a:pPr>
                <a:endParaRPr lang="en-GB" altLang="zh-CN" b="0">
                  <a:latin typeface="Times New Roman" pitchFamily="18" charset="0"/>
                  <a:ea typeface="宋体" charset="-122"/>
                </a:endParaRPr>
              </a:p>
            </p:txBody>
          </p:sp>
        </p:grpSp>
      </p:grpSp>
      <p:sp>
        <p:nvSpPr>
          <p:cNvPr id="22120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22120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8400"/>
            <a:ext cx="39624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231204-B397-47C3-96B2-D6CD8E2BCB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3CB4EC-DD8E-4746-824D-176A07C494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43795C-D085-4601-88AC-5F9197221D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191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81200"/>
            <a:ext cx="4191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B9A7C-9C7E-47DE-B6AE-2272ACC3D3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5B1A6C-1F69-4386-83BB-33FAC354A7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41FF84-A1E1-4E70-B7D6-D455446A87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B51C81-689E-4E3F-809C-CB375B8675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56EBF9-FB93-4EEA-AFB6-609CE484E1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5A02F8-C629-4ADA-A365-ED71443E1B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660E-BDF4-4738-9F08-FA2B827B81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457200"/>
            <a:ext cx="2133600" cy="5943600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248400" cy="5943600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3C0F63-B177-4479-8A6E-15BB483F3F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6D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Rectangle 17"/>
          <p:cNvSpPr>
            <a:spLocks noChangeArrowheads="1"/>
          </p:cNvSpPr>
          <p:nvPr/>
        </p:nvSpPr>
        <p:spPr bwMode="white">
          <a:xfrm>
            <a:off x="3175" y="6029325"/>
            <a:ext cx="9140825" cy="828675"/>
          </a:xfrm>
          <a:prstGeom prst="rect">
            <a:avLst/>
          </a:prstGeom>
          <a:solidFill>
            <a:srgbClr val="0860A8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5613" y="273050"/>
            <a:ext cx="8237537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371600"/>
            <a:ext cx="8237537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730375" y="6357938"/>
            <a:ext cx="3889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800" smtClean="0">
                <a:solidFill>
                  <a:srgbClr val="FFFFFF"/>
                </a:solidFill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5613" y="6357938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800" smtClean="0">
                <a:solidFill>
                  <a:srgbClr val="FFFFFF"/>
                </a:solidFill>
                <a:ea typeface="宋体" charset="-122"/>
              </a:defRPr>
            </a:lvl1pPr>
          </a:lstStyle>
          <a:p>
            <a:pPr>
              <a:defRPr/>
            </a:pPr>
            <a:fld id="{9DFF03E9-96F1-433F-85B2-D0560BFFBFD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1" name="Picture 14" descr="Intel_white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889875" y="6169025"/>
            <a:ext cx="811213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4236" r:id="rId1"/>
    <p:sldLayoutId id="2147484216" r:id="rId2"/>
    <p:sldLayoutId id="2147484217" r:id="rId3"/>
    <p:sldLayoutId id="2147484218" r:id="rId4"/>
    <p:sldLayoutId id="2147484219" r:id="rId5"/>
    <p:sldLayoutId id="2147484220" r:id="rId6"/>
    <p:sldLayoutId id="2147484221" r:id="rId7"/>
    <p:sldLayoutId id="2147484222" r:id="rId8"/>
    <p:sldLayoutId id="2147484223" r:id="rId9"/>
    <p:sldLayoutId id="2147484224" r:id="rId10"/>
    <p:sldLayoutId id="2147484225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6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246063" indent="-244475" algn="l" rtl="0" eaLnBrk="0" fontAlgn="base" hangingPunct="0">
        <a:spcBef>
          <a:spcPct val="40000"/>
        </a:spcBef>
        <a:spcAft>
          <a:spcPct val="0"/>
        </a:spcAft>
        <a:buSzPct val="125000"/>
        <a:buFont typeface="Times" pitchFamily="18" charset="0"/>
        <a:buChar char="•"/>
        <a:defRPr sz="2000">
          <a:solidFill>
            <a:schemeClr val="tx1"/>
          </a:solidFill>
          <a:latin typeface="+mn-lt"/>
        </a:defRPr>
      </a:lvl2pPr>
      <a:lvl3pPr marL="571500" indent="-3238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3pPr>
      <a:lvl4pPr marL="725488" indent="-152400" algn="l" rtl="0" eaLnBrk="0" fontAlgn="base" hangingPunct="0">
        <a:spcBef>
          <a:spcPct val="20000"/>
        </a:spcBef>
        <a:spcAft>
          <a:spcPct val="0"/>
        </a:spcAft>
        <a:buFont typeface="Times" pitchFamily="18" charset="0"/>
        <a:buChar char="•"/>
        <a:defRPr sz="2000">
          <a:solidFill>
            <a:schemeClr val="tx1"/>
          </a:solidFill>
          <a:latin typeface="+mn-lt"/>
        </a:defRPr>
      </a:lvl4pPr>
      <a:lvl5pPr marL="1136650" indent="-409575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5pPr>
      <a:lvl6pPr marL="1593850" indent="-409575" algn="l" rtl="0" fontAlgn="base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6pPr>
      <a:lvl7pPr marL="2051050" indent="-409575" algn="l" rtl="0" fontAlgn="base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7pPr>
      <a:lvl8pPr marL="2508250" indent="-409575" algn="l" rtl="0" fontAlgn="base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8pPr>
      <a:lvl9pPr marL="2965450" indent="-409575" algn="l" rtl="0" fontAlgn="base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20163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GB" altLang="zh-CN" b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0164" name="Rectangle 4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eaLnBrk="1" hangingPunct="1">
                <a:defRPr/>
              </a:pPr>
              <a:endParaRPr lang="en-GB" altLang="zh-CN" b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0165" name="Rectangle 5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eaLnBrk="1" hangingPunct="1">
                <a:defRPr/>
              </a:pPr>
              <a:endParaRPr lang="en-GB" altLang="zh-CN" sz="1800" b="0">
                <a:solidFill>
                  <a:schemeClr val="hlink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220166" name="Rectangle 6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eaLnBrk="1" hangingPunct="1">
                <a:defRPr/>
              </a:pPr>
              <a:endParaRPr lang="en-GB" altLang="zh-CN" sz="1800" b="0">
                <a:solidFill>
                  <a:schemeClr val="hlink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220167" name="Rectangle 7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eaLnBrk="1" hangingPunct="1">
                <a:defRPr/>
              </a:pPr>
              <a:endParaRPr lang="en-GB" altLang="zh-CN" sz="1800" b="0">
                <a:solidFill>
                  <a:schemeClr val="accent2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220168" name="Rectangle 8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eaLnBrk="1" hangingPunct="1">
                <a:defRPr/>
              </a:pPr>
              <a:endParaRPr lang="en-GB" altLang="zh-CN" sz="1800" b="0">
                <a:solidFill>
                  <a:schemeClr val="hlink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220169" name="Rectangle 9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eaLnBrk="1" hangingPunct="1">
                <a:defRPr/>
              </a:pPr>
              <a:endParaRPr lang="en-GB" altLang="zh-CN" b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0170" name="Rectangle 10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eaLnBrk="1" hangingPunct="1">
                <a:defRPr/>
              </a:pPr>
              <a:endParaRPr lang="en-GB" altLang="zh-CN" sz="1800" b="0">
                <a:solidFill>
                  <a:schemeClr val="accent2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220171" name="Rectangle 11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eaLnBrk="1" hangingPunct="1">
                <a:defRPr/>
              </a:pPr>
              <a:endParaRPr lang="en-GB" altLang="zh-CN" sz="1800" b="0">
                <a:solidFill>
                  <a:schemeClr val="accent2"/>
                </a:solidFill>
                <a:latin typeface="Arial" charset="0"/>
                <a:ea typeface="宋体" charset="-122"/>
              </a:endParaRPr>
            </a:p>
          </p:txBody>
        </p:sp>
      </p:grpSp>
      <p:sp>
        <p:nvSpPr>
          <p:cNvPr id="2051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5344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2052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5344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22017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017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400800"/>
            <a:ext cx="3962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smtClean="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017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latin typeface="Arial Black" pitchFamily="34" charset="0"/>
                <a:ea typeface="宋体" charset="-122"/>
              </a:defRPr>
            </a:lvl1pPr>
          </a:lstStyle>
          <a:p>
            <a:pPr>
              <a:defRPr/>
            </a:pPr>
            <a:fld id="{51B7E5B5-5E97-4BF8-B455-9A3A8E2E5B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7" r:id="rId1"/>
    <p:sldLayoutId id="2147484226" r:id="rId2"/>
    <p:sldLayoutId id="2147484227" r:id="rId3"/>
    <p:sldLayoutId id="2147484228" r:id="rId4"/>
    <p:sldLayoutId id="2147484229" r:id="rId5"/>
    <p:sldLayoutId id="2147484230" r:id="rId6"/>
    <p:sldLayoutId id="2147484231" r:id="rId7"/>
    <p:sldLayoutId id="2147484232" r:id="rId8"/>
    <p:sldLayoutId id="2147484233" r:id="rId9"/>
    <p:sldLayoutId id="2147484234" r:id="rId10"/>
    <p:sldLayoutId id="2147484235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5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5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5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5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5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5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5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ctrTitle" idx="4294967295"/>
          </p:nvPr>
        </p:nvSpPr>
        <p:spPr>
          <a:xfrm>
            <a:off x="1154113" y="2254250"/>
            <a:ext cx="7718425" cy="2738438"/>
          </a:xfrm>
        </p:spPr>
        <p:txBody>
          <a:bodyPr wrap="none" anchor="b">
            <a:spAutoFit/>
          </a:bodyPr>
          <a:lstStyle/>
          <a:p>
            <a:pPr algn="r" eaLnBrk="1" hangingPunct="1"/>
            <a:r>
              <a:rPr lang="en-US" altLang="zh-CN" sz="3000" dirty="0" smtClean="0">
                <a:solidFill>
                  <a:srgbClr val="FFFFFF"/>
                </a:solidFill>
                <a:ea typeface="宋体" charset="-122"/>
              </a:rPr>
              <a:t>MYO: Shared Memory Programming</a:t>
            </a:r>
            <a:br>
              <a:rPr lang="en-US" altLang="zh-CN" sz="3000" dirty="0" smtClean="0">
                <a:solidFill>
                  <a:srgbClr val="FFFFFF"/>
                </a:solidFill>
                <a:ea typeface="宋体" charset="-122"/>
              </a:rPr>
            </a:br>
            <a:r>
              <a:rPr lang="en-US" altLang="zh-CN" sz="3000" dirty="0" smtClean="0">
                <a:solidFill>
                  <a:srgbClr val="FFFFFF"/>
                </a:solidFill>
                <a:ea typeface="宋体" charset="-122"/>
              </a:rPr>
              <a:t>Model for </a:t>
            </a:r>
            <a:r>
              <a:rPr lang="en-US" altLang="zh-CN" sz="3000" dirty="0" smtClean="0">
                <a:solidFill>
                  <a:srgbClr val="FFFFFF"/>
                </a:solidFill>
                <a:ea typeface="宋体" charset="-122"/>
              </a:rPr>
              <a:t>Intel® </a:t>
            </a:r>
            <a:r>
              <a:rPr lang="en-US" altLang="zh-CN" sz="3000" dirty="0" smtClean="0">
                <a:solidFill>
                  <a:srgbClr val="FFFFFF"/>
                </a:solidFill>
                <a:ea typeface="宋体" charset="-122"/>
              </a:rPr>
              <a:t>MIC</a:t>
            </a:r>
            <a:r>
              <a:rPr lang="en-US" altLang="zh-CN" sz="3000" dirty="0" smtClean="0">
                <a:solidFill>
                  <a:srgbClr val="FFFFFF"/>
                </a:solidFill>
                <a:ea typeface="宋体" charset="-122"/>
              </a:rPr>
              <a:t/>
            </a:r>
            <a:br>
              <a:rPr lang="en-US" altLang="zh-CN" sz="3000" dirty="0" smtClean="0">
                <a:solidFill>
                  <a:srgbClr val="FFFFFF"/>
                </a:solidFill>
                <a:ea typeface="宋体" charset="-122"/>
              </a:rPr>
            </a:br>
            <a:r>
              <a:rPr lang="en-US" altLang="zh-CN" sz="3000" dirty="0" smtClean="0">
                <a:solidFill>
                  <a:srgbClr val="FFFFFF"/>
                </a:solidFill>
                <a:ea typeface="宋体" charset="-122"/>
              </a:rPr>
              <a:t/>
            </a:r>
            <a:br>
              <a:rPr lang="en-US" altLang="zh-CN" sz="3000" dirty="0" smtClean="0">
                <a:solidFill>
                  <a:srgbClr val="FFFFFF"/>
                </a:solidFill>
                <a:ea typeface="宋体" charset="-122"/>
              </a:rPr>
            </a:br>
            <a:r>
              <a:rPr lang="en-US" altLang="zh-CN" sz="3000" dirty="0" smtClean="0">
                <a:solidFill>
                  <a:srgbClr val="FFFFFF"/>
                </a:solidFill>
                <a:ea typeface="宋体" charset="-122"/>
              </a:rPr>
              <a:t/>
            </a:r>
            <a:br>
              <a:rPr lang="en-US" altLang="zh-CN" sz="3000" dirty="0" smtClean="0">
                <a:solidFill>
                  <a:srgbClr val="FFFFFF"/>
                </a:solidFill>
                <a:ea typeface="宋体" charset="-122"/>
              </a:rPr>
            </a:br>
            <a:r>
              <a:rPr lang="en-US" altLang="zh-CN" sz="3000" dirty="0" smtClean="0">
                <a:solidFill>
                  <a:srgbClr val="FFFFFF"/>
                </a:solidFill>
                <a:ea typeface="宋体" charset="-122"/>
              </a:rPr>
              <a:t/>
            </a:r>
            <a:br>
              <a:rPr lang="en-US" altLang="zh-CN" sz="3000" dirty="0" smtClean="0">
                <a:solidFill>
                  <a:srgbClr val="FFFFFF"/>
                </a:solidFill>
                <a:ea typeface="宋体" charset="-122"/>
              </a:rPr>
            </a:br>
            <a:r>
              <a:rPr lang="en-US" altLang="zh-CN" sz="2800" dirty="0" smtClean="0">
                <a:solidFill>
                  <a:srgbClr val="FFFFFF"/>
                </a:solidFill>
                <a:ea typeface="宋体" charset="-122"/>
              </a:rPr>
              <a:t>Ravi Ganapathi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MYO – Shared  Programming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889" y="1348451"/>
            <a:ext cx="8237537" cy="4343400"/>
          </a:xfrm>
        </p:spPr>
        <p:txBody>
          <a:bodyPr/>
          <a:lstStyle/>
          <a:p>
            <a:r>
              <a:rPr lang="en-US" sz="2200" dirty="0" smtClean="0"/>
              <a:t>Allocate Shared virtual memory(SVM) on </a:t>
            </a:r>
            <a:r>
              <a:rPr lang="en-US" sz="2200" dirty="0" smtClean="0"/>
              <a:t>Xeon®</a:t>
            </a:r>
            <a:r>
              <a:rPr lang="en-US" sz="2200" dirty="0" smtClean="0"/>
              <a:t> or MIC</a:t>
            </a:r>
            <a:endParaRPr lang="en-US" sz="2200" dirty="0" smtClean="0"/>
          </a:p>
          <a:p>
            <a:r>
              <a:rPr lang="en-US" sz="2200" dirty="0" smtClean="0"/>
              <a:t>Access the allocated memory on </a:t>
            </a:r>
            <a:r>
              <a:rPr lang="en-US" sz="2200" dirty="0" smtClean="0"/>
              <a:t>Xeon®</a:t>
            </a:r>
            <a:r>
              <a:rPr lang="en-US" sz="2200" dirty="0" smtClean="0"/>
              <a:t> </a:t>
            </a:r>
            <a:r>
              <a:rPr lang="en-US" sz="2200" dirty="0" smtClean="0"/>
              <a:t>and MIC.</a:t>
            </a:r>
          </a:p>
          <a:p>
            <a:r>
              <a:rPr lang="en-US" sz="2200" dirty="0" smtClean="0"/>
              <a:t>Address pointers in SVM are valid on both </a:t>
            </a:r>
            <a:r>
              <a:rPr lang="en-US" sz="2200" dirty="0" smtClean="0"/>
              <a:t>Xeon®</a:t>
            </a:r>
            <a:r>
              <a:rPr lang="en-US" sz="2200" dirty="0" smtClean="0"/>
              <a:t> </a:t>
            </a:r>
            <a:r>
              <a:rPr lang="en-US" sz="2200" dirty="0" smtClean="0"/>
              <a:t>and MIC</a:t>
            </a:r>
          </a:p>
          <a:p>
            <a:r>
              <a:rPr lang="en-US" sz="2200" dirty="0" smtClean="0"/>
              <a:t>Seamlessly share complex data structures</a:t>
            </a:r>
          </a:p>
          <a:p>
            <a:r>
              <a:rPr lang="en-US" sz="2200" dirty="0" smtClean="0"/>
              <a:t>All data transfers are implicit between </a:t>
            </a:r>
            <a:r>
              <a:rPr lang="en-US" sz="2200" dirty="0" smtClean="0"/>
              <a:t>Xeon® host</a:t>
            </a:r>
            <a:r>
              <a:rPr lang="en-US" sz="2200" dirty="0" smtClean="0"/>
              <a:t> </a:t>
            </a:r>
            <a:r>
              <a:rPr lang="en-US" sz="2200" dirty="0" smtClean="0"/>
              <a:t>and MIC</a:t>
            </a:r>
          </a:p>
          <a:p>
            <a:r>
              <a:rPr lang="en-US" sz="2200" dirty="0" smtClean="0"/>
              <a:t>Remote procedures can be called in following ways</a:t>
            </a:r>
          </a:p>
          <a:p>
            <a:pPr lvl="2"/>
            <a:r>
              <a:rPr lang="en-US" sz="2200" dirty="0" smtClean="0"/>
              <a:t>Xeon® host</a:t>
            </a:r>
            <a:r>
              <a:rPr lang="en-US" sz="2200" dirty="0" smtClean="0"/>
              <a:t> </a:t>
            </a:r>
            <a:r>
              <a:rPr lang="en-US" sz="2200" dirty="0" smtClean="0"/>
              <a:t>to </a:t>
            </a:r>
            <a:r>
              <a:rPr lang="en-US" sz="2200" dirty="0" smtClean="0"/>
              <a:t>MIC</a:t>
            </a:r>
          </a:p>
          <a:p>
            <a:pPr lvl="2"/>
            <a:r>
              <a:rPr lang="en-US" sz="2200" dirty="0" smtClean="0"/>
              <a:t>MIC </a:t>
            </a:r>
            <a:r>
              <a:rPr lang="en-US" sz="2200" dirty="0" smtClean="0"/>
              <a:t>to </a:t>
            </a:r>
            <a:r>
              <a:rPr lang="en-US" sz="2200" dirty="0" smtClean="0"/>
              <a:t>Xeon® host </a:t>
            </a:r>
            <a:endParaRPr lang="en-US" sz="22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7839C3-4C75-4980-81B5-0F633030F8FC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MYO – Shared  Programming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7839C3-4C75-4980-81B5-0F633030F8FC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grpSp>
        <p:nvGrpSpPr>
          <p:cNvPr id="3" name="Group 2"/>
          <p:cNvGrpSpPr/>
          <p:nvPr/>
        </p:nvGrpSpPr>
        <p:grpSpPr>
          <a:xfrm>
            <a:off x="2933902" y="953064"/>
            <a:ext cx="3721100" cy="5650408"/>
            <a:chOff x="2933902" y="953064"/>
            <a:chExt cx="3721100" cy="5650408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2933902" y="953064"/>
              <a:ext cx="1901825" cy="5650408"/>
            </a:xfrm>
            <a:prstGeom prst="rect">
              <a:avLst/>
            </a:prstGeom>
            <a:solidFill>
              <a:schemeClr val="accent1"/>
            </a:solidFill>
            <a:ln w="5080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CN" sz="2000" dirty="0">
                <a:ea typeface="宋体" charset="-122"/>
              </a:endParaRPr>
            </a:p>
            <a:p>
              <a:endParaRPr lang="en-US" altLang="zh-CN" sz="2000" b="0" dirty="0" smtClean="0">
                <a:solidFill>
                  <a:schemeClr val="bg1"/>
                </a:solidFill>
                <a:ea typeface="宋体" charset="-122"/>
              </a:endParaRPr>
            </a:p>
            <a:p>
              <a:endParaRPr lang="en-US" altLang="zh-CN" sz="2000" b="0" dirty="0">
                <a:solidFill>
                  <a:schemeClr val="bg1"/>
                </a:solidFill>
                <a:ea typeface="宋体" charset="-122"/>
              </a:endParaRPr>
            </a:p>
            <a:p>
              <a:endParaRPr lang="en-US" altLang="zh-CN" sz="2000" b="0" dirty="0" smtClean="0">
                <a:solidFill>
                  <a:schemeClr val="bg1"/>
                </a:solidFill>
                <a:ea typeface="宋体" charset="-122"/>
              </a:endParaRPr>
            </a:p>
            <a:p>
              <a:endParaRPr lang="en-US" altLang="zh-CN" sz="2000" b="0" dirty="0">
                <a:solidFill>
                  <a:schemeClr val="bg1"/>
                </a:solidFill>
                <a:ea typeface="宋体" charset="-122"/>
              </a:endParaRPr>
            </a:p>
            <a:p>
              <a:endParaRPr lang="en-US" altLang="zh-CN" sz="2000" b="0" dirty="0" smtClean="0">
                <a:solidFill>
                  <a:schemeClr val="bg1"/>
                </a:solidFill>
                <a:ea typeface="宋体" charset="-122"/>
              </a:endParaRPr>
            </a:p>
            <a:p>
              <a:endParaRPr lang="en-US" altLang="zh-CN" sz="2000" b="0" dirty="0">
                <a:solidFill>
                  <a:schemeClr val="bg1"/>
                </a:solidFill>
                <a:ea typeface="宋体" charset="-122"/>
              </a:endParaRPr>
            </a:p>
            <a:p>
              <a:endParaRPr lang="en-US" altLang="zh-CN" sz="2000" b="0" dirty="0" smtClean="0">
                <a:solidFill>
                  <a:schemeClr val="bg1"/>
                </a:solidFill>
                <a:ea typeface="宋体" charset="-122"/>
              </a:endParaRPr>
            </a:p>
            <a:p>
              <a:endParaRPr lang="en-US" altLang="zh-CN" sz="2000" b="0" dirty="0">
                <a:solidFill>
                  <a:schemeClr val="bg1"/>
                </a:solidFill>
                <a:ea typeface="宋体" charset="-122"/>
              </a:endParaRPr>
            </a:p>
            <a:p>
              <a:endParaRPr lang="en-US" altLang="zh-CN" sz="2000" b="0" dirty="0" smtClean="0">
                <a:solidFill>
                  <a:schemeClr val="bg1"/>
                </a:solidFill>
                <a:ea typeface="宋体" charset="-122"/>
              </a:endParaRPr>
            </a:p>
            <a:p>
              <a:endParaRPr lang="en-US" altLang="zh-CN" sz="2000" b="0" dirty="0">
                <a:solidFill>
                  <a:schemeClr val="bg1"/>
                </a:solidFill>
                <a:ea typeface="宋体" charset="-122"/>
              </a:endParaRPr>
            </a:p>
            <a:p>
              <a:endParaRPr lang="en-US" altLang="zh-CN" sz="2000" b="0" dirty="0" smtClean="0">
                <a:solidFill>
                  <a:schemeClr val="bg1"/>
                </a:solidFill>
                <a:ea typeface="宋体" charset="-122"/>
              </a:endParaRPr>
            </a:p>
            <a:p>
              <a:r>
                <a:rPr lang="en-US" altLang="zh-CN" sz="2000" b="0" dirty="0" smtClean="0">
                  <a:solidFill>
                    <a:schemeClr val="bg1"/>
                  </a:solidFill>
                  <a:ea typeface="宋体" charset="-122"/>
                </a:rPr>
                <a:t>Xeon®</a:t>
              </a:r>
              <a:r>
                <a:rPr lang="en-US" altLang="zh-CN" sz="2000" b="0" dirty="0" smtClean="0">
                  <a:solidFill>
                    <a:schemeClr val="bg1"/>
                  </a:solidFill>
                  <a:ea typeface="宋体" charset="-122"/>
                </a:rPr>
                <a:t> </a:t>
              </a:r>
              <a:r>
                <a:rPr lang="en-US" altLang="zh-CN" sz="2000" b="0" dirty="0">
                  <a:solidFill>
                    <a:schemeClr val="bg1"/>
                  </a:solidFill>
                  <a:ea typeface="宋体" charset="-122"/>
                </a:rPr>
                <a:t>virtual</a:t>
              </a:r>
            </a:p>
            <a:p>
              <a:r>
                <a:rPr lang="en-US" altLang="zh-CN" sz="2000" b="0" dirty="0">
                  <a:solidFill>
                    <a:schemeClr val="bg1"/>
                  </a:solidFill>
                  <a:ea typeface="宋体" charset="-122"/>
                </a:rPr>
                <a:t>address</a:t>
              </a: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4873827" y="953064"/>
              <a:ext cx="1781175" cy="5641135"/>
            </a:xfrm>
            <a:prstGeom prst="rect">
              <a:avLst/>
            </a:prstGeom>
            <a:solidFill>
              <a:srgbClr val="00CCFF"/>
            </a:solidFill>
            <a:ln w="5080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CN" sz="2000" dirty="0">
                <a:solidFill>
                  <a:schemeClr val="bg1"/>
                </a:solidFill>
                <a:ea typeface="宋体" charset="-122"/>
              </a:endParaRPr>
            </a:p>
            <a:p>
              <a:endParaRPr lang="en-US" altLang="zh-CN" sz="2000" b="0" dirty="0" smtClean="0">
                <a:solidFill>
                  <a:schemeClr val="bg1"/>
                </a:solidFill>
                <a:ea typeface="宋体" charset="-122"/>
              </a:endParaRPr>
            </a:p>
            <a:p>
              <a:endParaRPr lang="en-US" altLang="zh-CN" sz="2000" b="0" dirty="0">
                <a:solidFill>
                  <a:schemeClr val="bg1"/>
                </a:solidFill>
                <a:ea typeface="宋体" charset="-122"/>
              </a:endParaRPr>
            </a:p>
            <a:p>
              <a:endParaRPr lang="en-US" altLang="zh-CN" sz="2000" b="0" dirty="0" smtClean="0">
                <a:solidFill>
                  <a:schemeClr val="bg1"/>
                </a:solidFill>
                <a:ea typeface="宋体" charset="-122"/>
              </a:endParaRPr>
            </a:p>
            <a:p>
              <a:endParaRPr lang="en-US" altLang="zh-CN" sz="2000" b="0" dirty="0">
                <a:solidFill>
                  <a:schemeClr val="bg1"/>
                </a:solidFill>
                <a:ea typeface="宋体" charset="-122"/>
              </a:endParaRPr>
            </a:p>
            <a:p>
              <a:endParaRPr lang="en-US" altLang="zh-CN" sz="2000" b="0" dirty="0" smtClean="0">
                <a:solidFill>
                  <a:schemeClr val="bg1"/>
                </a:solidFill>
                <a:ea typeface="宋体" charset="-122"/>
              </a:endParaRPr>
            </a:p>
            <a:p>
              <a:endParaRPr lang="en-US" altLang="zh-CN" sz="2000" b="0" dirty="0">
                <a:solidFill>
                  <a:schemeClr val="bg1"/>
                </a:solidFill>
                <a:ea typeface="宋体" charset="-122"/>
              </a:endParaRPr>
            </a:p>
            <a:p>
              <a:endParaRPr lang="en-US" altLang="zh-CN" sz="2000" b="0" dirty="0" smtClean="0">
                <a:solidFill>
                  <a:schemeClr val="bg1"/>
                </a:solidFill>
                <a:ea typeface="宋体" charset="-122"/>
              </a:endParaRPr>
            </a:p>
            <a:p>
              <a:endParaRPr lang="en-US" altLang="zh-CN" sz="2000" b="0" dirty="0">
                <a:solidFill>
                  <a:schemeClr val="bg1"/>
                </a:solidFill>
                <a:ea typeface="宋体" charset="-122"/>
              </a:endParaRPr>
            </a:p>
            <a:p>
              <a:endParaRPr lang="en-US" altLang="zh-CN" sz="2000" b="0" dirty="0" smtClean="0">
                <a:solidFill>
                  <a:schemeClr val="bg1"/>
                </a:solidFill>
                <a:ea typeface="宋体" charset="-122"/>
              </a:endParaRPr>
            </a:p>
            <a:p>
              <a:endParaRPr lang="en-US" altLang="zh-CN" sz="2000" b="0" dirty="0">
                <a:solidFill>
                  <a:schemeClr val="bg1"/>
                </a:solidFill>
                <a:ea typeface="宋体" charset="-122"/>
              </a:endParaRPr>
            </a:p>
            <a:p>
              <a:endParaRPr lang="en-US" altLang="zh-CN" sz="2000" b="0" dirty="0" smtClean="0">
                <a:solidFill>
                  <a:schemeClr val="bg1"/>
                </a:solidFill>
                <a:ea typeface="宋体" charset="-122"/>
              </a:endParaRPr>
            </a:p>
            <a:p>
              <a:r>
                <a:rPr lang="en-US" altLang="zh-CN" sz="2000" b="0" dirty="0" smtClean="0">
                  <a:solidFill>
                    <a:schemeClr val="bg1"/>
                  </a:solidFill>
                  <a:ea typeface="宋体" charset="-122"/>
                </a:rPr>
                <a:t>MIC </a:t>
              </a:r>
              <a:r>
                <a:rPr lang="en-US" altLang="zh-CN" sz="2000" b="0" dirty="0">
                  <a:solidFill>
                    <a:schemeClr val="bg1"/>
                  </a:solidFill>
                  <a:ea typeface="宋体" charset="-122"/>
                </a:rPr>
                <a:t>virtual</a:t>
              </a:r>
            </a:p>
            <a:p>
              <a:r>
                <a:rPr lang="en-US" altLang="zh-CN" sz="2000" b="0" dirty="0">
                  <a:solidFill>
                    <a:schemeClr val="bg1"/>
                  </a:solidFill>
                  <a:ea typeface="宋体" charset="-122"/>
                </a:rPr>
                <a:t>address</a:t>
              </a:r>
              <a:r>
                <a:rPr lang="en-US" altLang="zh-CN" sz="2000" dirty="0">
                  <a:solidFill>
                    <a:schemeClr val="bg1"/>
                  </a:solidFill>
                  <a:ea typeface="宋体" charset="-122"/>
                </a:rPr>
                <a:t> </a:t>
              </a:r>
            </a:p>
          </p:txBody>
        </p:sp>
        <p:sp>
          <p:nvSpPr>
            <p:cNvPr id="5" name="Rectangle 2"/>
            <p:cNvSpPr>
              <a:spLocks noChangeArrowheads="1"/>
            </p:cNvSpPr>
            <p:nvPr/>
          </p:nvSpPr>
          <p:spPr bwMode="auto">
            <a:xfrm>
              <a:off x="2937077" y="2762285"/>
              <a:ext cx="3698875" cy="2362944"/>
            </a:xfrm>
            <a:prstGeom prst="rect">
              <a:avLst/>
            </a:prstGeom>
            <a:solidFill>
              <a:schemeClr val="tx1">
                <a:alpha val="78000"/>
              </a:schemeClr>
            </a:solidFill>
            <a:ln w="508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zh-CN" dirty="0">
                <a:ea typeface="宋体" charset="-122"/>
              </a:endParaRPr>
            </a:p>
            <a:p>
              <a:endParaRPr lang="en-US" altLang="zh-CN" dirty="0">
                <a:ea typeface="宋体" charset="-122"/>
              </a:endParaRPr>
            </a:p>
            <a:p>
              <a:endParaRPr lang="en-US" altLang="zh-CN" dirty="0">
                <a:ea typeface="宋体" charset="-122"/>
              </a:endParaRPr>
            </a:p>
            <a:p>
              <a:endParaRPr lang="en-US" altLang="zh-CN" sz="2000" dirty="0">
                <a:solidFill>
                  <a:schemeClr val="bg1"/>
                </a:solidFill>
                <a:ea typeface="宋体" charset="-122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4181677" y="2882151"/>
              <a:ext cx="1193800" cy="1363662"/>
              <a:chOff x="606" y="1750"/>
              <a:chExt cx="752" cy="859"/>
            </a:xfrm>
          </p:grpSpPr>
          <p:sp>
            <p:nvSpPr>
              <p:cNvPr id="8" name="Oval 6"/>
              <p:cNvSpPr>
                <a:spLocks noChangeArrowheads="1"/>
              </p:cNvSpPr>
              <p:nvPr/>
            </p:nvSpPr>
            <p:spPr bwMode="auto">
              <a:xfrm>
                <a:off x="950" y="1750"/>
                <a:ext cx="204" cy="160"/>
              </a:xfrm>
              <a:prstGeom prst="ellipse">
                <a:avLst/>
              </a:prstGeom>
              <a:solidFill>
                <a:schemeClr val="tx2"/>
              </a:solidFill>
              <a:ln w="50800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9" name="Oval 7"/>
              <p:cNvSpPr>
                <a:spLocks noChangeArrowheads="1"/>
              </p:cNvSpPr>
              <p:nvPr/>
            </p:nvSpPr>
            <p:spPr bwMode="auto">
              <a:xfrm>
                <a:off x="782" y="2038"/>
                <a:ext cx="204" cy="160"/>
              </a:xfrm>
              <a:prstGeom prst="ellipse">
                <a:avLst/>
              </a:prstGeom>
              <a:solidFill>
                <a:schemeClr val="tx2"/>
              </a:solidFill>
              <a:ln w="50800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0" name="Oval 8"/>
              <p:cNvSpPr>
                <a:spLocks noChangeArrowheads="1"/>
              </p:cNvSpPr>
              <p:nvPr/>
            </p:nvSpPr>
            <p:spPr bwMode="auto">
              <a:xfrm>
                <a:off x="1134" y="2038"/>
                <a:ext cx="204" cy="160"/>
              </a:xfrm>
              <a:prstGeom prst="ellipse">
                <a:avLst/>
              </a:prstGeom>
              <a:solidFill>
                <a:schemeClr val="tx2"/>
              </a:solidFill>
              <a:ln w="50800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1" name="Oval 9"/>
              <p:cNvSpPr>
                <a:spLocks noChangeArrowheads="1"/>
              </p:cNvSpPr>
              <p:nvPr/>
            </p:nvSpPr>
            <p:spPr bwMode="auto">
              <a:xfrm>
                <a:off x="1022" y="2310"/>
                <a:ext cx="204" cy="160"/>
              </a:xfrm>
              <a:prstGeom prst="ellipse">
                <a:avLst/>
              </a:prstGeom>
              <a:solidFill>
                <a:schemeClr val="tx2"/>
              </a:solidFill>
              <a:ln w="50800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2" name="Oval 10"/>
              <p:cNvSpPr>
                <a:spLocks noChangeArrowheads="1"/>
              </p:cNvSpPr>
              <p:nvPr/>
            </p:nvSpPr>
            <p:spPr bwMode="auto">
              <a:xfrm>
                <a:off x="606" y="2326"/>
                <a:ext cx="204" cy="160"/>
              </a:xfrm>
              <a:prstGeom prst="ellipse">
                <a:avLst/>
              </a:prstGeom>
              <a:solidFill>
                <a:schemeClr val="tx2"/>
              </a:solidFill>
              <a:ln w="50800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3" name="Line 11"/>
              <p:cNvSpPr>
                <a:spLocks noChangeShapeType="1"/>
              </p:cNvSpPr>
              <p:nvPr/>
            </p:nvSpPr>
            <p:spPr bwMode="auto">
              <a:xfrm flipH="1">
                <a:off x="927" y="1910"/>
                <a:ext cx="91" cy="11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Line 12"/>
              <p:cNvSpPr>
                <a:spLocks noChangeShapeType="1"/>
              </p:cNvSpPr>
              <p:nvPr/>
            </p:nvSpPr>
            <p:spPr bwMode="auto">
              <a:xfrm flipH="1">
                <a:off x="711" y="2206"/>
                <a:ext cx="91" cy="11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Line 13"/>
              <p:cNvSpPr>
                <a:spLocks noChangeShapeType="1"/>
              </p:cNvSpPr>
              <p:nvPr/>
            </p:nvSpPr>
            <p:spPr bwMode="auto">
              <a:xfrm flipH="1">
                <a:off x="1125" y="2203"/>
                <a:ext cx="91" cy="11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Line 14"/>
              <p:cNvSpPr>
                <a:spLocks noChangeShapeType="1"/>
              </p:cNvSpPr>
              <p:nvPr/>
            </p:nvSpPr>
            <p:spPr bwMode="auto">
              <a:xfrm>
                <a:off x="1290" y="2208"/>
                <a:ext cx="68" cy="11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Line 15"/>
              <p:cNvSpPr>
                <a:spLocks noChangeShapeType="1"/>
              </p:cNvSpPr>
              <p:nvPr/>
            </p:nvSpPr>
            <p:spPr bwMode="auto">
              <a:xfrm>
                <a:off x="1106" y="1917"/>
                <a:ext cx="68" cy="11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Line 16"/>
              <p:cNvSpPr>
                <a:spLocks noChangeShapeType="1"/>
              </p:cNvSpPr>
              <p:nvPr/>
            </p:nvSpPr>
            <p:spPr bwMode="auto">
              <a:xfrm>
                <a:off x="793" y="2490"/>
                <a:ext cx="68" cy="11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Line 17"/>
              <p:cNvSpPr>
                <a:spLocks noChangeShapeType="1"/>
              </p:cNvSpPr>
              <p:nvPr/>
            </p:nvSpPr>
            <p:spPr bwMode="auto">
              <a:xfrm flipH="1">
                <a:off x="1017" y="2496"/>
                <a:ext cx="91" cy="11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2" name="TextBox 21"/>
            <p:cNvSpPr txBox="1"/>
            <p:nvPr/>
          </p:nvSpPr>
          <p:spPr>
            <a:xfrm>
              <a:off x="3028737" y="4436197"/>
              <a:ext cx="345690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0" dirty="0" smtClean="0">
                  <a:solidFill>
                    <a:schemeClr val="bg1"/>
                  </a:solidFill>
                  <a:ea typeface="宋体" charset="-122"/>
                </a:rPr>
                <a:t>MYO </a:t>
              </a:r>
            </a:p>
            <a:p>
              <a:r>
                <a:rPr lang="en-US" altLang="zh-CN" sz="2000" b="0" dirty="0" smtClean="0">
                  <a:solidFill>
                    <a:schemeClr val="bg1"/>
                  </a:solidFill>
                  <a:ea typeface="宋体" charset="-122"/>
                </a:rPr>
                <a:t>Shared Virtual Memory</a:t>
              </a:r>
              <a:endParaRPr lang="en-US" altLang="zh-CN" sz="2000" b="0" dirty="0" smtClean="0">
                <a:solidFill>
                  <a:schemeClr val="bg1"/>
                </a:solidFill>
                <a:ea typeface="宋体" charset="-122"/>
              </a:endParaRPr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3602240" y="4171201"/>
              <a:ext cx="2276475" cy="400050"/>
            </a:xfrm>
            <a:prstGeom prst="rect">
              <a:avLst/>
            </a:prstGeom>
            <a:noFill/>
            <a:ln w="508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chemeClr val="folHlink"/>
                  </a:solidFill>
                  <a:ea typeface="宋体" charset="-122"/>
                </a:rPr>
                <a:t>Data </a:t>
              </a:r>
              <a:r>
                <a:rPr lang="en-US" altLang="zh-CN" sz="2000" dirty="0" smtClean="0">
                  <a:solidFill>
                    <a:schemeClr val="folHlink"/>
                  </a:solidFill>
                  <a:ea typeface="宋体" charset="-122"/>
                </a:rPr>
                <a:t>structure</a:t>
              </a:r>
              <a:endParaRPr lang="en-US" altLang="zh-CN" sz="2000" dirty="0">
                <a:solidFill>
                  <a:schemeClr val="folHlink"/>
                </a:solidFill>
                <a:ea typeface="宋体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Offload Model(Non Shared)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Allocate memory on host</a:t>
            </a:r>
          </a:p>
          <a:p>
            <a:r>
              <a:rPr lang="en-US" dirty="0" smtClean="0"/>
              <a:t>Explicit data transfer between host and device</a:t>
            </a:r>
          </a:p>
          <a:p>
            <a:pPr lvl="2"/>
            <a:r>
              <a:rPr lang="en-US" dirty="0" smtClean="0"/>
              <a:t>Transfer data with knowledge of input/output</a:t>
            </a:r>
          </a:p>
          <a:p>
            <a:pPr lvl="2"/>
            <a:r>
              <a:rPr lang="en-US" dirty="0" smtClean="0"/>
              <a:t>Explicit data synchronizations</a:t>
            </a:r>
          </a:p>
          <a:p>
            <a:pPr lvl="2"/>
            <a:r>
              <a:rPr lang="en-US" dirty="0" smtClean="0"/>
              <a:t>Marshal and un-marshal of data</a:t>
            </a:r>
          </a:p>
          <a:p>
            <a:pPr lvl="3"/>
            <a:r>
              <a:rPr lang="en-US" dirty="0" smtClean="0"/>
              <a:t>Convert data to sequential form for transfer</a:t>
            </a:r>
          </a:p>
          <a:p>
            <a:pPr lvl="4">
              <a:buNone/>
            </a:pPr>
            <a:r>
              <a:rPr lang="en-US" dirty="0" smtClean="0"/>
              <a:t>Ex: Balanced tree to array and vice versa.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7839C3-4C75-4980-81B5-0F633030F8FC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/>
          <p:cNvSpPr>
            <a:spLocks noChangeArrowheads="1"/>
          </p:cNvSpPr>
          <p:nvPr/>
        </p:nvSpPr>
        <p:spPr bwMode="auto">
          <a:xfrm>
            <a:off x="6802438" y="903288"/>
            <a:ext cx="1793875" cy="1468437"/>
          </a:xfrm>
          <a:prstGeom prst="rect">
            <a:avLst/>
          </a:prstGeom>
          <a:solidFill>
            <a:srgbClr val="00CCFF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CN">
              <a:ea typeface="宋体" charset="-122"/>
              <a:cs typeface="Arial" charset="0"/>
            </a:endParaRPr>
          </a:p>
          <a:p>
            <a:endParaRPr lang="en-US" altLang="zh-CN">
              <a:ea typeface="宋体" charset="-122"/>
              <a:cs typeface="Arial" charset="0"/>
            </a:endParaRPr>
          </a:p>
          <a:p>
            <a:endParaRPr lang="en-US" altLang="zh-CN">
              <a:ea typeface="宋体" charset="-122"/>
              <a:cs typeface="Arial" charset="0"/>
            </a:endParaRPr>
          </a:p>
          <a:p>
            <a:r>
              <a:rPr lang="en-US" altLang="zh-CN" sz="2000">
                <a:solidFill>
                  <a:schemeClr val="bg1"/>
                </a:solidFill>
                <a:ea typeface="宋体" charset="-122"/>
                <a:cs typeface="Arial" charset="0"/>
              </a:rPr>
              <a:t>Buffer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charset="-122"/>
              </a:rPr>
              <a:t>CPU-GPU/MIC Interaction: Offload Model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749300" y="2406650"/>
            <a:ext cx="1901825" cy="3622675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CN" sz="2000">
              <a:ea typeface="宋体" charset="-122"/>
              <a:cs typeface="Arial" charset="0"/>
            </a:endParaRPr>
          </a:p>
          <a:p>
            <a:endParaRPr lang="en-US" altLang="zh-CN" sz="2000">
              <a:ea typeface="宋体" charset="-122"/>
              <a:cs typeface="Arial" charset="0"/>
            </a:endParaRPr>
          </a:p>
          <a:p>
            <a:endParaRPr lang="en-US" altLang="zh-CN" sz="2000">
              <a:ea typeface="宋体" charset="-122"/>
              <a:cs typeface="Arial" charset="0"/>
            </a:endParaRPr>
          </a:p>
          <a:p>
            <a:endParaRPr lang="en-US" altLang="zh-CN" sz="2000">
              <a:ea typeface="宋体" charset="-122"/>
              <a:cs typeface="Arial" charset="0"/>
            </a:endParaRPr>
          </a:p>
          <a:p>
            <a:endParaRPr lang="en-US" altLang="zh-CN" sz="2000">
              <a:ea typeface="宋体" charset="-122"/>
              <a:cs typeface="Arial" charset="0"/>
            </a:endParaRPr>
          </a:p>
          <a:p>
            <a:endParaRPr lang="en-US" altLang="zh-CN" sz="2000">
              <a:ea typeface="宋体" charset="-122"/>
              <a:cs typeface="Arial" charset="0"/>
            </a:endParaRPr>
          </a:p>
          <a:p>
            <a:endParaRPr lang="en-US" altLang="zh-CN" sz="2000">
              <a:ea typeface="宋体" charset="-122"/>
              <a:cs typeface="Arial" charset="0"/>
            </a:endParaRPr>
          </a:p>
          <a:p>
            <a:endParaRPr lang="en-US" altLang="zh-CN" sz="2000">
              <a:ea typeface="宋体" charset="-122"/>
              <a:cs typeface="Arial" charset="0"/>
            </a:endParaRPr>
          </a:p>
          <a:p>
            <a:endParaRPr lang="en-US" altLang="zh-CN" sz="2000">
              <a:ea typeface="宋体" charset="-122"/>
              <a:cs typeface="Arial" charset="0"/>
            </a:endParaRPr>
          </a:p>
          <a:p>
            <a:endParaRPr lang="en-US" altLang="zh-CN" sz="2000">
              <a:ea typeface="宋体" charset="-122"/>
              <a:cs typeface="Arial" charset="0"/>
            </a:endParaRPr>
          </a:p>
          <a:p>
            <a:r>
              <a:rPr lang="en-US" altLang="zh-CN" sz="2000">
                <a:solidFill>
                  <a:schemeClr val="bg1"/>
                </a:solidFill>
                <a:ea typeface="宋体" charset="-122"/>
                <a:cs typeface="Arial" charset="0"/>
              </a:rPr>
              <a:t>CPU </a:t>
            </a: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6804025" y="2363788"/>
            <a:ext cx="1781175" cy="3660775"/>
          </a:xfrm>
          <a:prstGeom prst="rect">
            <a:avLst/>
          </a:prstGeom>
          <a:solidFill>
            <a:srgbClr val="00CCFF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CN" sz="2000" dirty="0">
              <a:ea typeface="宋体" charset="-122"/>
              <a:cs typeface="Arial" charset="0"/>
            </a:endParaRPr>
          </a:p>
          <a:p>
            <a:endParaRPr lang="en-US" altLang="zh-CN" sz="2000" dirty="0">
              <a:ea typeface="宋体" charset="-122"/>
              <a:cs typeface="Arial" charset="0"/>
            </a:endParaRPr>
          </a:p>
          <a:p>
            <a:endParaRPr lang="en-US" altLang="zh-CN" sz="2000" dirty="0">
              <a:ea typeface="宋体" charset="-122"/>
              <a:cs typeface="Arial" charset="0"/>
            </a:endParaRPr>
          </a:p>
          <a:p>
            <a:endParaRPr lang="en-US" altLang="zh-CN" sz="2000" dirty="0">
              <a:ea typeface="宋体" charset="-122"/>
              <a:cs typeface="Arial" charset="0"/>
            </a:endParaRPr>
          </a:p>
          <a:p>
            <a:endParaRPr lang="en-US" altLang="zh-CN" sz="2000" dirty="0">
              <a:ea typeface="宋体" charset="-122"/>
              <a:cs typeface="Arial" charset="0"/>
            </a:endParaRPr>
          </a:p>
          <a:p>
            <a:endParaRPr lang="en-US" altLang="zh-CN" sz="2000" dirty="0">
              <a:ea typeface="宋体" charset="-122"/>
              <a:cs typeface="Arial" charset="0"/>
            </a:endParaRPr>
          </a:p>
          <a:p>
            <a:endParaRPr lang="en-US" altLang="zh-CN" sz="2000" dirty="0">
              <a:ea typeface="宋体" charset="-122"/>
              <a:cs typeface="Arial" charset="0"/>
            </a:endParaRPr>
          </a:p>
          <a:p>
            <a:endParaRPr lang="en-US" altLang="zh-CN" sz="2000" dirty="0">
              <a:ea typeface="宋体" charset="-122"/>
              <a:cs typeface="Arial" charset="0"/>
            </a:endParaRPr>
          </a:p>
          <a:p>
            <a:endParaRPr lang="en-US" altLang="zh-CN" sz="2000" dirty="0">
              <a:ea typeface="宋体" charset="-122"/>
              <a:cs typeface="Arial" charset="0"/>
            </a:endParaRPr>
          </a:p>
          <a:p>
            <a:endParaRPr lang="en-US" altLang="zh-CN" sz="2000" dirty="0">
              <a:ea typeface="宋体" charset="-122"/>
              <a:cs typeface="Arial" charset="0"/>
            </a:endParaRPr>
          </a:p>
          <a:p>
            <a:r>
              <a:rPr lang="en-US" altLang="zh-CN" sz="2000" dirty="0" smtClean="0">
                <a:solidFill>
                  <a:schemeClr val="bg1"/>
                </a:solidFill>
                <a:ea typeface="宋体" charset="-122"/>
                <a:cs typeface="Arial" charset="0"/>
              </a:rPr>
              <a:t>GPU/MIC </a:t>
            </a:r>
            <a:endParaRPr lang="en-US" altLang="zh-CN" sz="2000" dirty="0">
              <a:solidFill>
                <a:schemeClr val="bg1"/>
              </a:solidFill>
              <a:ea typeface="宋体" charset="-122"/>
              <a:cs typeface="Arial" charset="0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962025" y="2778125"/>
            <a:ext cx="1193800" cy="1363663"/>
            <a:chOff x="606" y="1750"/>
            <a:chExt cx="752" cy="859"/>
          </a:xfrm>
        </p:grpSpPr>
        <p:sp>
          <p:nvSpPr>
            <p:cNvPr id="24620" name="Oval 7"/>
            <p:cNvSpPr>
              <a:spLocks noChangeArrowheads="1"/>
            </p:cNvSpPr>
            <p:nvPr/>
          </p:nvSpPr>
          <p:spPr bwMode="auto">
            <a:xfrm>
              <a:off x="950" y="1750"/>
              <a:ext cx="204" cy="160"/>
            </a:xfrm>
            <a:prstGeom prst="ellipse">
              <a:avLst/>
            </a:prstGeom>
            <a:solidFill>
              <a:schemeClr val="tx2"/>
            </a:solidFill>
            <a:ln w="50800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宋体" charset="-122"/>
                <a:cs typeface="Arial" charset="0"/>
              </a:endParaRPr>
            </a:p>
          </p:txBody>
        </p:sp>
        <p:sp>
          <p:nvSpPr>
            <p:cNvPr id="24621" name="Oval 8"/>
            <p:cNvSpPr>
              <a:spLocks noChangeArrowheads="1"/>
            </p:cNvSpPr>
            <p:nvPr/>
          </p:nvSpPr>
          <p:spPr bwMode="auto">
            <a:xfrm>
              <a:off x="782" y="2038"/>
              <a:ext cx="204" cy="160"/>
            </a:xfrm>
            <a:prstGeom prst="ellipse">
              <a:avLst/>
            </a:prstGeom>
            <a:solidFill>
              <a:schemeClr val="tx2"/>
            </a:solidFill>
            <a:ln w="50800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宋体" charset="-122"/>
                <a:cs typeface="Arial" charset="0"/>
              </a:endParaRPr>
            </a:p>
          </p:txBody>
        </p:sp>
        <p:sp>
          <p:nvSpPr>
            <p:cNvPr id="24622" name="Oval 9"/>
            <p:cNvSpPr>
              <a:spLocks noChangeArrowheads="1"/>
            </p:cNvSpPr>
            <p:nvPr/>
          </p:nvSpPr>
          <p:spPr bwMode="auto">
            <a:xfrm>
              <a:off x="1134" y="2038"/>
              <a:ext cx="204" cy="160"/>
            </a:xfrm>
            <a:prstGeom prst="ellipse">
              <a:avLst/>
            </a:prstGeom>
            <a:solidFill>
              <a:schemeClr val="tx2"/>
            </a:solidFill>
            <a:ln w="50800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宋体" charset="-122"/>
                <a:cs typeface="Arial" charset="0"/>
              </a:endParaRPr>
            </a:p>
          </p:txBody>
        </p:sp>
        <p:sp>
          <p:nvSpPr>
            <p:cNvPr id="24623" name="Oval 10"/>
            <p:cNvSpPr>
              <a:spLocks noChangeArrowheads="1"/>
            </p:cNvSpPr>
            <p:nvPr/>
          </p:nvSpPr>
          <p:spPr bwMode="auto">
            <a:xfrm>
              <a:off x="1022" y="2310"/>
              <a:ext cx="204" cy="160"/>
            </a:xfrm>
            <a:prstGeom prst="ellipse">
              <a:avLst/>
            </a:prstGeom>
            <a:solidFill>
              <a:schemeClr val="tx2"/>
            </a:solidFill>
            <a:ln w="50800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宋体" charset="-122"/>
                <a:cs typeface="Arial" charset="0"/>
              </a:endParaRPr>
            </a:p>
          </p:txBody>
        </p:sp>
        <p:sp>
          <p:nvSpPr>
            <p:cNvPr id="24624" name="Oval 11"/>
            <p:cNvSpPr>
              <a:spLocks noChangeArrowheads="1"/>
            </p:cNvSpPr>
            <p:nvPr/>
          </p:nvSpPr>
          <p:spPr bwMode="auto">
            <a:xfrm>
              <a:off x="606" y="2326"/>
              <a:ext cx="204" cy="160"/>
            </a:xfrm>
            <a:prstGeom prst="ellipse">
              <a:avLst/>
            </a:prstGeom>
            <a:solidFill>
              <a:schemeClr val="tx2"/>
            </a:solidFill>
            <a:ln w="50800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宋体" charset="-122"/>
                <a:cs typeface="Arial" charset="0"/>
              </a:endParaRPr>
            </a:p>
          </p:txBody>
        </p:sp>
        <p:sp>
          <p:nvSpPr>
            <p:cNvPr id="24625" name="Line 12"/>
            <p:cNvSpPr>
              <a:spLocks noChangeShapeType="1"/>
            </p:cNvSpPr>
            <p:nvPr/>
          </p:nvSpPr>
          <p:spPr bwMode="auto">
            <a:xfrm flipH="1">
              <a:off x="927" y="1910"/>
              <a:ext cx="91" cy="1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6" name="Line 13"/>
            <p:cNvSpPr>
              <a:spLocks noChangeShapeType="1"/>
            </p:cNvSpPr>
            <p:nvPr/>
          </p:nvSpPr>
          <p:spPr bwMode="auto">
            <a:xfrm flipH="1">
              <a:off x="711" y="2206"/>
              <a:ext cx="91" cy="1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7" name="Line 14"/>
            <p:cNvSpPr>
              <a:spLocks noChangeShapeType="1"/>
            </p:cNvSpPr>
            <p:nvPr/>
          </p:nvSpPr>
          <p:spPr bwMode="auto">
            <a:xfrm flipH="1">
              <a:off x="1125" y="2203"/>
              <a:ext cx="91" cy="1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8" name="Line 15"/>
            <p:cNvSpPr>
              <a:spLocks noChangeShapeType="1"/>
            </p:cNvSpPr>
            <p:nvPr/>
          </p:nvSpPr>
          <p:spPr bwMode="auto">
            <a:xfrm>
              <a:off x="1290" y="2208"/>
              <a:ext cx="68" cy="1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9" name="Line 16"/>
            <p:cNvSpPr>
              <a:spLocks noChangeShapeType="1"/>
            </p:cNvSpPr>
            <p:nvPr/>
          </p:nvSpPr>
          <p:spPr bwMode="auto">
            <a:xfrm>
              <a:off x="1106" y="1917"/>
              <a:ext cx="68" cy="1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0" name="Line 17"/>
            <p:cNvSpPr>
              <a:spLocks noChangeShapeType="1"/>
            </p:cNvSpPr>
            <p:nvPr/>
          </p:nvSpPr>
          <p:spPr bwMode="auto">
            <a:xfrm>
              <a:off x="793" y="2490"/>
              <a:ext cx="68" cy="1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1" name="Line 18"/>
            <p:cNvSpPr>
              <a:spLocks noChangeShapeType="1"/>
            </p:cNvSpPr>
            <p:nvPr/>
          </p:nvSpPr>
          <p:spPr bwMode="auto">
            <a:xfrm flipH="1">
              <a:off x="1017" y="2496"/>
              <a:ext cx="91" cy="1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583" name="Text Box 19"/>
          <p:cNvSpPr txBox="1">
            <a:spLocks noChangeArrowheads="1"/>
          </p:cNvSpPr>
          <p:nvPr/>
        </p:nvSpPr>
        <p:spPr bwMode="auto">
          <a:xfrm>
            <a:off x="909638" y="4264025"/>
            <a:ext cx="1500187" cy="701675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  <a:ea typeface="宋体" charset="-122"/>
                <a:cs typeface="Arial" charset="0"/>
              </a:rPr>
              <a:t>Data </a:t>
            </a:r>
          </a:p>
          <a:p>
            <a:r>
              <a:rPr lang="en-US" altLang="zh-CN" sz="2000">
                <a:solidFill>
                  <a:schemeClr val="bg1"/>
                </a:solidFill>
                <a:ea typeface="宋体" charset="-122"/>
                <a:cs typeface="Arial" charset="0"/>
              </a:rPr>
              <a:t>structure</a:t>
            </a:r>
          </a:p>
        </p:txBody>
      </p:sp>
      <p:sp>
        <p:nvSpPr>
          <p:cNvPr id="552980" name="Rectangle 20"/>
          <p:cNvSpPr>
            <a:spLocks noChangeArrowheads="1"/>
          </p:cNvSpPr>
          <p:nvPr/>
        </p:nvSpPr>
        <p:spPr bwMode="auto">
          <a:xfrm>
            <a:off x="752475" y="950913"/>
            <a:ext cx="1900238" cy="1468437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zh-CN">
              <a:ea typeface="宋体" charset="-122"/>
              <a:cs typeface="Arial" charset="0"/>
            </a:endParaRPr>
          </a:p>
          <a:p>
            <a:endParaRPr lang="en-US" altLang="zh-CN">
              <a:ea typeface="宋体" charset="-122"/>
              <a:cs typeface="Arial" charset="0"/>
            </a:endParaRPr>
          </a:p>
          <a:p>
            <a:endParaRPr lang="en-US" altLang="zh-CN">
              <a:ea typeface="宋体" charset="-122"/>
              <a:cs typeface="Arial" charset="0"/>
            </a:endParaRPr>
          </a:p>
          <a:p>
            <a:r>
              <a:rPr lang="en-US" altLang="zh-CN" sz="2000">
                <a:solidFill>
                  <a:schemeClr val="bg1"/>
                </a:solidFill>
                <a:ea typeface="宋体" charset="-122"/>
                <a:cs typeface="Arial" charset="0"/>
              </a:rPr>
              <a:t>Buffer</a:t>
            </a:r>
          </a:p>
        </p:txBody>
      </p: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835025" y="1381125"/>
            <a:ext cx="1790700" cy="273050"/>
            <a:chOff x="526" y="870"/>
            <a:chExt cx="1128" cy="172"/>
          </a:xfrm>
        </p:grpSpPr>
        <p:sp>
          <p:nvSpPr>
            <p:cNvPr id="24615" name="Oval 22"/>
            <p:cNvSpPr>
              <a:spLocks noChangeArrowheads="1"/>
            </p:cNvSpPr>
            <p:nvPr/>
          </p:nvSpPr>
          <p:spPr bwMode="auto">
            <a:xfrm>
              <a:off x="526" y="876"/>
              <a:ext cx="204" cy="160"/>
            </a:xfrm>
            <a:prstGeom prst="ellipse">
              <a:avLst/>
            </a:prstGeom>
            <a:solidFill>
              <a:schemeClr val="bg2"/>
            </a:solidFill>
            <a:ln w="50800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宋体" charset="-122"/>
                <a:cs typeface="Arial" charset="0"/>
              </a:endParaRPr>
            </a:p>
          </p:txBody>
        </p:sp>
        <p:sp>
          <p:nvSpPr>
            <p:cNvPr id="24616" name="Oval 23"/>
            <p:cNvSpPr>
              <a:spLocks noChangeArrowheads="1"/>
            </p:cNvSpPr>
            <p:nvPr/>
          </p:nvSpPr>
          <p:spPr bwMode="auto">
            <a:xfrm>
              <a:off x="772" y="882"/>
              <a:ext cx="204" cy="160"/>
            </a:xfrm>
            <a:prstGeom prst="ellipse">
              <a:avLst/>
            </a:prstGeom>
            <a:solidFill>
              <a:schemeClr val="bg2"/>
            </a:solidFill>
            <a:ln w="50800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宋体" charset="-122"/>
                <a:cs typeface="Arial" charset="0"/>
              </a:endParaRPr>
            </a:p>
          </p:txBody>
        </p:sp>
        <p:sp>
          <p:nvSpPr>
            <p:cNvPr id="24617" name="Oval 24"/>
            <p:cNvSpPr>
              <a:spLocks noChangeArrowheads="1"/>
            </p:cNvSpPr>
            <p:nvPr/>
          </p:nvSpPr>
          <p:spPr bwMode="auto">
            <a:xfrm>
              <a:off x="1018" y="878"/>
              <a:ext cx="204" cy="160"/>
            </a:xfrm>
            <a:prstGeom prst="ellipse">
              <a:avLst/>
            </a:prstGeom>
            <a:solidFill>
              <a:schemeClr val="bg2"/>
            </a:solidFill>
            <a:ln w="50800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宋体" charset="-122"/>
                <a:cs typeface="Arial" charset="0"/>
              </a:endParaRPr>
            </a:p>
          </p:txBody>
        </p:sp>
        <p:sp>
          <p:nvSpPr>
            <p:cNvPr id="24618" name="Oval 25"/>
            <p:cNvSpPr>
              <a:spLocks noChangeArrowheads="1"/>
            </p:cNvSpPr>
            <p:nvPr/>
          </p:nvSpPr>
          <p:spPr bwMode="auto">
            <a:xfrm>
              <a:off x="1244" y="874"/>
              <a:ext cx="204" cy="160"/>
            </a:xfrm>
            <a:prstGeom prst="ellipse">
              <a:avLst/>
            </a:prstGeom>
            <a:solidFill>
              <a:schemeClr val="bg2"/>
            </a:solidFill>
            <a:ln w="50800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宋体" charset="-122"/>
                <a:cs typeface="Arial" charset="0"/>
              </a:endParaRPr>
            </a:p>
          </p:txBody>
        </p:sp>
        <p:sp>
          <p:nvSpPr>
            <p:cNvPr id="24619" name="Oval 26"/>
            <p:cNvSpPr>
              <a:spLocks noChangeArrowheads="1"/>
            </p:cNvSpPr>
            <p:nvPr/>
          </p:nvSpPr>
          <p:spPr bwMode="auto">
            <a:xfrm>
              <a:off x="1450" y="870"/>
              <a:ext cx="204" cy="160"/>
            </a:xfrm>
            <a:prstGeom prst="ellipse">
              <a:avLst/>
            </a:prstGeom>
            <a:solidFill>
              <a:schemeClr val="bg2"/>
            </a:solidFill>
            <a:ln w="50800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宋体" charset="-122"/>
                <a:cs typeface="Arial" charset="0"/>
              </a:endParaRPr>
            </a:p>
          </p:txBody>
        </p:sp>
      </p:grpSp>
      <p:sp>
        <p:nvSpPr>
          <p:cNvPr id="552987" name="AutoShape 27"/>
          <p:cNvSpPr>
            <a:spLocks noChangeArrowheads="1"/>
          </p:cNvSpPr>
          <p:nvPr/>
        </p:nvSpPr>
        <p:spPr bwMode="auto">
          <a:xfrm rot="-5400000">
            <a:off x="2482850" y="2301876"/>
            <a:ext cx="1366837" cy="823912"/>
          </a:xfrm>
          <a:prstGeom prst="curvedUpArrow">
            <a:avLst>
              <a:gd name="adj1" fmla="val 32949"/>
              <a:gd name="adj2" fmla="val 66358"/>
              <a:gd name="adj3" fmla="val 33333"/>
            </a:avLst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  <a:cs typeface="Arial" charset="0"/>
            </a:endParaRPr>
          </a:p>
        </p:txBody>
      </p:sp>
      <p:sp>
        <p:nvSpPr>
          <p:cNvPr id="552988" name="Text Box 28"/>
          <p:cNvSpPr txBox="1">
            <a:spLocks noChangeArrowheads="1"/>
          </p:cNvSpPr>
          <p:nvPr/>
        </p:nvSpPr>
        <p:spPr bwMode="auto">
          <a:xfrm>
            <a:off x="4035425" y="2047875"/>
            <a:ext cx="2092325" cy="1552575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0">
                <a:ea typeface="宋体" charset="-122"/>
                <a:cs typeface="Arial" charset="0"/>
              </a:rPr>
              <a:t>Programmer</a:t>
            </a:r>
          </a:p>
          <a:p>
            <a:r>
              <a:rPr lang="en-US" altLang="zh-CN" b="0">
                <a:ea typeface="宋体" charset="-122"/>
                <a:cs typeface="Arial" charset="0"/>
              </a:rPr>
              <a:t>serializes</a:t>
            </a:r>
          </a:p>
          <a:p>
            <a:r>
              <a:rPr lang="en-US" altLang="zh-CN" b="0">
                <a:ea typeface="宋体" charset="-122"/>
                <a:cs typeface="Arial" charset="0"/>
              </a:rPr>
              <a:t>into </a:t>
            </a:r>
          </a:p>
          <a:p>
            <a:r>
              <a:rPr lang="en-US" altLang="zh-CN" b="0">
                <a:ea typeface="宋体" charset="-122"/>
                <a:cs typeface="Arial" charset="0"/>
              </a:rPr>
              <a:t>push buffer</a:t>
            </a:r>
          </a:p>
        </p:txBody>
      </p: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6805613" y="1457325"/>
            <a:ext cx="1790700" cy="273050"/>
            <a:chOff x="4277" y="860"/>
            <a:chExt cx="1128" cy="172"/>
          </a:xfrm>
        </p:grpSpPr>
        <p:sp>
          <p:nvSpPr>
            <p:cNvPr id="24610" name="Oval 30"/>
            <p:cNvSpPr>
              <a:spLocks noChangeArrowheads="1"/>
            </p:cNvSpPr>
            <p:nvPr/>
          </p:nvSpPr>
          <p:spPr bwMode="auto">
            <a:xfrm>
              <a:off x="4277" y="866"/>
              <a:ext cx="204" cy="160"/>
            </a:xfrm>
            <a:prstGeom prst="ellipse">
              <a:avLst/>
            </a:prstGeom>
            <a:solidFill>
              <a:schemeClr val="bg2"/>
            </a:solidFill>
            <a:ln w="50800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宋体" charset="-122"/>
                <a:cs typeface="Arial" charset="0"/>
              </a:endParaRPr>
            </a:p>
          </p:txBody>
        </p:sp>
        <p:sp>
          <p:nvSpPr>
            <p:cNvPr id="24611" name="Oval 31"/>
            <p:cNvSpPr>
              <a:spLocks noChangeArrowheads="1"/>
            </p:cNvSpPr>
            <p:nvPr/>
          </p:nvSpPr>
          <p:spPr bwMode="auto">
            <a:xfrm>
              <a:off x="4523" y="872"/>
              <a:ext cx="204" cy="160"/>
            </a:xfrm>
            <a:prstGeom prst="ellipse">
              <a:avLst/>
            </a:prstGeom>
            <a:solidFill>
              <a:schemeClr val="bg2"/>
            </a:solidFill>
            <a:ln w="50800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宋体" charset="-122"/>
                <a:cs typeface="Arial" charset="0"/>
              </a:endParaRPr>
            </a:p>
          </p:txBody>
        </p:sp>
        <p:sp>
          <p:nvSpPr>
            <p:cNvPr id="24612" name="Oval 32"/>
            <p:cNvSpPr>
              <a:spLocks noChangeArrowheads="1"/>
            </p:cNvSpPr>
            <p:nvPr/>
          </p:nvSpPr>
          <p:spPr bwMode="auto">
            <a:xfrm>
              <a:off x="4769" y="868"/>
              <a:ext cx="204" cy="160"/>
            </a:xfrm>
            <a:prstGeom prst="ellipse">
              <a:avLst/>
            </a:prstGeom>
            <a:solidFill>
              <a:schemeClr val="bg2"/>
            </a:solidFill>
            <a:ln w="50800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宋体" charset="-122"/>
                <a:cs typeface="Arial" charset="0"/>
              </a:endParaRPr>
            </a:p>
          </p:txBody>
        </p:sp>
        <p:sp>
          <p:nvSpPr>
            <p:cNvPr id="24613" name="Oval 33"/>
            <p:cNvSpPr>
              <a:spLocks noChangeArrowheads="1"/>
            </p:cNvSpPr>
            <p:nvPr/>
          </p:nvSpPr>
          <p:spPr bwMode="auto">
            <a:xfrm>
              <a:off x="4995" y="864"/>
              <a:ext cx="204" cy="160"/>
            </a:xfrm>
            <a:prstGeom prst="ellipse">
              <a:avLst/>
            </a:prstGeom>
            <a:solidFill>
              <a:schemeClr val="bg2"/>
            </a:solidFill>
            <a:ln w="50800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宋体" charset="-122"/>
                <a:cs typeface="Arial" charset="0"/>
              </a:endParaRPr>
            </a:p>
          </p:txBody>
        </p:sp>
        <p:sp>
          <p:nvSpPr>
            <p:cNvPr id="24614" name="Oval 34"/>
            <p:cNvSpPr>
              <a:spLocks noChangeArrowheads="1"/>
            </p:cNvSpPr>
            <p:nvPr/>
          </p:nvSpPr>
          <p:spPr bwMode="auto">
            <a:xfrm>
              <a:off x="5201" y="860"/>
              <a:ext cx="204" cy="160"/>
            </a:xfrm>
            <a:prstGeom prst="ellipse">
              <a:avLst/>
            </a:prstGeom>
            <a:solidFill>
              <a:schemeClr val="bg2"/>
            </a:solidFill>
            <a:ln w="50800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宋体" charset="-122"/>
                <a:cs typeface="Arial" charset="0"/>
              </a:endParaRPr>
            </a:p>
          </p:txBody>
        </p:sp>
      </p:grpSp>
      <p:sp>
        <p:nvSpPr>
          <p:cNvPr id="552995" name="Text Box 35"/>
          <p:cNvSpPr txBox="1">
            <a:spLocks noChangeArrowheads="1"/>
          </p:cNvSpPr>
          <p:nvPr/>
        </p:nvSpPr>
        <p:spPr bwMode="auto">
          <a:xfrm>
            <a:off x="2957894" y="1087438"/>
            <a:ext cx="3355214" cy="461665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0" dirty="0">
                <a:ea typeface="宋体" charset="-122"/>
                <a:cs typeface="Arial" charset="0"/>
              </a:rPr>
              <a:t>Transfer to </a:t>
            </a:r>
            <a:r>
              <a:rPr lang="en-US" altLang="zh-CN" b="0" dirty="0" smtClean="0">
                <a:ea typeface="宋体" charset="-122"/>
                <a:cs typeface="Arial" charset="0"/>
              </a:rPr>
              <a:t>GPU/MIC</a:t>
            </a:r>
            <a:endParaRPr lang="en-US" altLang="zh-CN" b="0" dirty="0">
              <a:ea typeface="宋体" charset="-122"/>
              <a:cs typeface="Arial" charset="0"/>
            </a:endParaRPr>
          </a:p>
        </p:txBody>
      </p:sp>
      <p:sp>
        <p:nvSpPr>
          <p:cNvPr id="552996" name="Line 36"/>
          <p:cNvSpPr>
            <a:spLocks noChangeShapeType="1"/>
          </p:cNvSpPr>
          <p:nvPr/>
        </p:nvSpPr>
        <p:spPr bwMode="auto">
          <a:xfrm flipV="1">
            <a:off x="3152775" y="1562100"/>
            <a:ext cx="3203575" cy="142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7035800" y="2597150"/>
            <a:ext cx="1193800" cy="1363663"/>
            <a:chOff x="4432" y="1636"/>
            <a:chExt cx="752" cy="859"/>
          </a:xfrm>
        </p:grpSpPr>
        <p:sp>
          <p:nvSpPr>
            <p:cNvPr id="24598" name="Oval 38"/>
            <p:cNvSpPr>
              <a:spLocks noChangeArrowheads="1"/>
            </p:cNvSpPr>
            <p:nvPr/>
          </p:nvSpPr>
          <p:spPr bwMode="auto">
            <a:xfrm>
              <a:off x="4776" y="1636"/>
              <a:ext cx="204" cy="160"/>
            </a:xfrm>
            <a:prstGeom prst="ellipse">
              <a:avLst/>
            </a:prstGeom>
            <a:solidFill>
              <a:schemeClr val="tx2"/>
            </a:solidFill>
            <a:ln w="50800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宋体" charset="-122"/>
                <a:cs typeface="Arial" charset="0"/>
              </a:endParaRPr>
            </a:p>
          </p:txBody>
        </p:sp>
        <p:sp>
          <p:nvSpPr>
            <p:cNvPr id="24599" name="Oval 39"/>
            <p:cNvSpPr>
              <a:spLocks noChangeArrowheads="1"/>
            </p:cNvSpPr>
            <p:nvPr/>
          </p:nvSpPr>
          <p:spPr bwMode="auto">
            <a:xfrm>
              <a:off x="4608" y="1924"/>
              <a:ext cx="204" cy="160"/>
            </a:xfrm>
            <a:prstGeom prst="ellipse">
              <a:avLst/>
            </a:prstGeom>
            <a:solidFill>
              <a:schemeClr val="tx2"/>
            </a:solidFill>
            <a:ln w="50800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宋体" charset="-122"/>
                <a:cs typeface="Arial" charset="0"/>
              </a:endParaRPr>
            </a:p>
          </p:txBody>
        </p:sp>
        <p:sp>
          <p:nvSpPr>
            <p:cNvPr id="24600" name="Oval 40"/>
            <p:cNvSpPr>
              <a:spLocks noChangeArrowheads="1"/>
            </p:cNvSpPr>
            <p:nvPr/>
          </p:nvSpPr>
          <p:spPr bwMode="auto">
            <a:xfrm>
              <a:off x="4960" y="1924"/>
              <a:ext cx="204" cy="160"/>
            </a:xfrm>
            <a:prstGeom prst="ellipse">
              <a:avLst/>
            </a:prstGeom>
            <a:solidFill>
              <a:schemeClr val="tx2"/>
            </a:solidFill>
            <a:ln w="50800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宋体" charset="-122"/>
                <a:cs typeface="Arial" charset="0"/>
              </a:endParaRPr>
            </a:p>
          </p:txBody>
        </p:sp>
        <p:sp>
          <p:nvSpPr>
            <p:cNvPr id="24601" name="Oval 41"/>
            <p:cNvSpPr>
              <a:spLocks noChangeArrowheads="1"/>
            </p:cNvSpPr>
            <p:nvPr/>
          </p:nvSpPr>
          <p:spPr bwMode="auto">
            <a:xfrm>
              <a:off x="4848" y="2196"/>
              <a:ext cx="204" cy="160"/>
            </a:xfrm>
            <a:prstGeom prst="ellipse">
              <a:avLst/>
            </a:prstGeom>
            <a:solidFill>
              <a:schemeClr val="tx2"/>
            </a:solidFill>
            <a:ln w="50800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宋体" charset="-122"/>
                <a:cs typeface="Arial" charset="0"/>
              </a:endParaRPr>
            </a:p>
          </p:txBody>
        </p:sp>
        <p:sp>
          <p:nvSpPr>
            <p:cNvPr id="24602" name="Oval 42"/>
            <p:cNvSpPr>
              <a:spLocks noChangeArrowheads="1"/>
            </p:cNvSpPr>
            <p:nvPr/>
          </p:nvSpPr>
          <p:spPr bwMode="auto">
            <a:xfrm>
              <a:off x="4432" y="2212"/>
              <a:ext cx="204" cy="160"/>
            </a:xfrm>
            <a:prstGeom prst="ellipse">
              <a:avLst/>
            </a:prstGeom>
            <a:solidFill>
              <a:schemeClr val="tx2"/>
            </a:solidFill>
            <a:ln w="50800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ea typeface="宋体" charset="-122"/>
                <a:cs typeface="Arial" charset="0"/>
              </a:endParaRPr>
            </a:p>
          </p:txBody>
        </p:sp>
        <p:sp>
          <p:nvSpPr>
            <p:cNvPr id="24603" name="Line 43"/>
            <p:cNvSpPr>
              <a:spLocks noChangeShapeType="1"/>
            </p:cNvSpPr>
            <p:nvPr/>
          </p:nvSpPr>
          <p:spPr bwMode="auto">
            <a:xfrm flipH="1">
              <a:off x="4753" y="1796"/>
              <a:ext cx="91" cy="1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4" name="Line 44"/>
            <p:cNvSpPr>
              <a:spLocks noChangeShapeType="1"/>
            </p:cNvSpPr>
            <p:nvPr/>
          </p:nvSpPr>
          <p:spPr bwMode="auto">
            <a:xfrm flipH="1">
              <a:off x="4537" y="2092"/>
              <a:ext cx="91" cy="1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5" name="Line 45"/>
            <p:cNvSpPr>
              <a:spLocks noChangeShapeType="1"/>
            </p:cNvSpPr>
            <p:nvPr/>
          </p:nvSpPr>
          <p:spPr bwMode="auto">
            <a:xfrm flipH="1">
              <a:off x="4951" y="2089"/>
              <a:ext cx="91" cy="1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6" name="Line 46"/>
            <p:cNvSpPr>
              <a:spLocks noChangeShapeType="1"/>
            </p:cNvSpPr>
            <p:nvPr/>
          </p:nvSpPr>
          <p:spPr bwMode="auto">
            <a:xfrm>
              <a:off x="5116" y="2094"/>
              <a:ext cx="68" cy="1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7" name="Line 47"/>
            <p:cNvSpPr>
              <a:spLocks noChangeShapeType="1"/>
            </p:cNvSpPr>
            <p:nvPr/>
          </p:nvSpPr>
          <p:spPr bwMode="auto">
            <a:xfrm>
              <a:off x="4932" y="1803"/>
              <a:ext cx="68" cy="1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8" name="Line 48"/>
            <p:cNvSpPr>
              <a:spLocks noChangeShapeType="1"/>
            </p:cNvSpPr>
            <p:nvPr/>
          </p:nvSpPr>
          <p:spPr bwMode="auto">
            <a:xfrm>
              <a:off x="4619" y="2376"/>
              <a:ext cx="68" cy="1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9" name="Line 49"/>
            <p:cNvSpPr>
              <a:spLocks noChangeShapeType="1"/>
            </p:cNvSpPr>
            <p:nvPr/>
          </p:nvSpPr>
          <p:spPr bwMode="auto">
            <a:xfrm flipH="1">
              <a:off x="4843" y="2382"/>
              <a:ext cx="91" cy="1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53010" name="AutoShape 50"/>
          <p:cNvSpPr>
            <a:spLocks noChangeArrowheads="1"/>
          </p:cNvSpPr>
          <p:nvPr/>
        </p:nvSpPr>
        <p:spPr bwMode="auto">
          <a:xfrm rot="5400000">
            <a:off x="5476875" y="2347913"/>
            <a:ext cx="1366838" cy="823912"/>
          </a:xfrm>
          <a:prstGeom prst="curvedUpArrow">
            <a:avLst>
              <a:gd name="adj1" fmla="val 32949"/>
              <a:gd name="adj2" fmla="val 66358"/>
              <a:gd name="adj3" fmla="val 33333"/>
            </a:avLst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  <a:cs typeface="Arial" charset="0"/>
            </a:endParaRPr>
          </a:p>
        </p:txBody>
      </p:sp>
      <p:sp>
        <p:nvSpPr>
          <p:cNvPr id="553011" name="Text Box 51"/>
          <p:cNvSpPr txBox="1">
            <a:spLocks noChangeArrowheads="1"/>
          </p:cNvSpPr>
          <p:nvPr/>
        </p:nvSpPr>
        <p:spPr bwMode="auto">
          <a:xfrm>
            <a:off x="3232150" y="2116138"/>
            <a:ext cx="2092325" cy="1552575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0" dirty="0">
                <a:ea typeface="宋体" charset="-122"/>
                <a:cs typeface="Arial" charset="0"/>
              </a:rPr>
              <a:t>Programmer</a:t>
            </a:r>
          </a:p>
          <a:p>
            <a:r>
              <a:rPr lang="en-US" altLang="zh-CN" b="0" dirty="0">
                <a:ea typeface="宋体" charset="-122"/>
                <a:cs typeface="Arial" charset="0"/>
              </a:rPr>
              <a:t>recreates</a:t>
            </a:r>
          </a:p>
          <a:p>
            <a:r>
              <a:rPr lang="en-US" altLang="zh-CN" b="0" dirty="0">
                <a:ea typeface="宋体" charset="-122"/>
                <a:cs typeface="Arial" charset="0"/>
              </a:rPr>
              <a:t>the </a:t>
            </a:r>
          </a:p>
          <a:p>
            <a:r>
              <a:rPr lang="en-US" altLang="zh-CN" b="0" dirty="0">
                <a:ea typeface="宋体" charset="-122"/>
                <a:cs typeface="Arial" charset="0"/>
              </a:rPr>
              <a:t>structure</a:t>
            </a:r>
          </a:p>
        </p:txBody>
      </p:sp>
      <p:sp>
        <p:nvSpPr>
          <p:cNvPr id="553012" name="Text Box 52"/>
          <p:cNvSpPr txBox="1">
            <a:spLocks noChangeArrowheads="1"/>
          </p:cNvSpPr>
          <p:nvPr/>
        </p:nvSpPr>
        <p:spPr bwMode="auto">
          <a:xfrm>
            <a:off x="3792538" y="4086225"/>
            <a:ext cx="1714500" cy="1187450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FF00"/>
                </a:solidFill>
                <a:ea typeface="宋体" charset="-122"/>
                <a:cs typeface="Arial" charset="0"/>
              </a:rPr>
              <a:t>Separate</a:t>
            </a:r>
          </a:p>
          <a:p>
            <a:r>
              <a:rPr lang="en-US" altLang="zh-CN">
                <a:solidFill>
                  <a:srgbClr val="FFFF00"/>
                </a:solidFill>
                <a:ea typeface="宋体" charset="-122"/>
                <a:cs typeface="Arial" charset="0"/>
              </a:rPr>
              <a:t>Memory</a:t>
            </a:r>
          </a:p>
          <a:p>
            <a:r>
              <a:rPr lang="en-US" altLang="zh-CN">
                <a:solidFill>
                  <a:srgbClr val="FFFF00"/>
                </a:solidFill>
                <a:ea typeface="宋体" charset="-122"/>
                <a:cs typeface="Arial" charset="0"/>
              </a:rPr>
              <a:t>Spaces</a:t>
            </a:r>
          </a:p>
        </p:txBody>
      </p:sp>
      <p:sp>
        <p:nvSpPr>
          <p:cNvPr id="553013" name="Text Box 53"/>
          <p:cNvSpPr txBox="1">
            <a:spLocks noChangeArrowheads="1"/>
          </p:cNvSpPr>
          <p:nvPr/>
        </p:nvSpPr>
        <p:spPr bwMode="auto">
          <a:xfrm>
            <a:off x="3257550" y="3648075"/>
            <a:ext cx="3241675" cy="1187450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0">
                <a:ea typeface="宋体" charset="-122"/>
                <a:cs typeface="Arial" charset="0"/>
              </a:rPr>
              <a:t>True of </a:t>
            </a:r>
          </a:p>
          <a:p>
            <a:r>
              <a:rPr lang="en-US" altLang="zh-CN" b="0">
                <a:ea typeface="宋体" charset="-122"/>
                <a:cs typeface="Arial" charset="0"/>
              </a:rPr>
              <a:t>CUDA, OpenCL, DX </a:t>
            </a:r>
          </a:p>
          <a:p>
            <a:r>
              <a:rPr lang="en-US" altLang="zh-CN" b="0">
                <a:ea typeface="宋体" charset="-122"/>
                <a:cs typeface="Arial" charset="0"/>
              </a:rPr>
              <a:t>etc.</a:t>
            </a:r>
          </a:p>
        </p:txBody>
      </p:sp>
      <p:sp>
        <p:nvSpPr>
          <p:cNvPr id="534582" name="Text Box 54"/>
          <p:cNvSpPr txBox="1">
            <a:spLocks noChangeArrowheads="1"/>
          </p:cNvSpPr>
          <p:nvPr/>
        </p:nvSpPr>
        <p:spPr bwMode="auto">
          <a:xfrm>
            <a:off x="2898823" y="4772025"/>
            <a:ext cx="3903569" cy="1200329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0" dirty="0">
                <a:solidFill>
                  <a:srgbClr val="FFFF00"/>
                </a:solidFill>
                <a:ea typeface="宋体" charset="-122"/>
                <a:cs typeface="Arial" charset="0"/>
              </a:rPr>
              <a:t>Several person-months </a:t>
            </a:r>
          </a:p>
          <a:p>
            <a:r>
              <a:rPr lang="en-US" altLang="zh-CN" b="0" dirty="0">
                <a:solidFill>
                  <a:srgbClr val="FFFF00"/>
                </a:solidFill>
                <a:ea typeface="宋体" charset="-122"/>
                <a:cs typeface="Arial" charset="0"/>
              </a:rPr>
              <a:t>coding for new </a:t>
            </a:r>
            <a:r>
              <a:rPr lang="en-US" altLang="zh-CN" b="0" dirty="0" smtClean="0">
                <a:solidFill>
                  <a:srgbClr val="FFFF00"/>
                </a:solidFill>
                <a:ea typeface="宋体" charset="-122"/>
                <a:cs typeface="Arial" charset="0"/>
              </a:rPr>
              <a:t>features</a:t>
            </a:r>
            <a:endParaRPr lang="en-US" altLang="zh-CN" b="0" dirty="0">
              <a:solidFill>
                <a:srgbClr val="FFFF00"/>
              </a:solidFill>
              <a:ea typeface="宋体" charset="-122"/>
              <a:cs typeface="Arial" charset="0"/>
            </a:endParaRPr>
          </a:p>
          <a:p>
            <a:r>
              <a:rPr lang="en-US" altLang="zh-CN" b="0" dirty="0">
                <a:ea typeface="宋体" charset="-122"/>
                <a:cs typeface="Arial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62" grpId="0" animBg="1"/>
      <p:bldP spid="552980" grpId="0" animBg="1"/>
      <p:bldP spid="552987" grpId="0" animBg="1"/>
      <p:bldP spid="552987" grpId="1" animBg="1"/>
      <p:bldP spid="552988" grpId="0"/>
      <p:bldP spid="552988" grpId="1"/>
      <p:bldP spid="552995" grpId="0"/>
      <p:bldP spid="552996" grpId="0" animBg="1"/>
      <p:bldP spid="553010" grpId="0" animBg="1"/>
      <p:bldP spid="553010" grpId="1" animBg="1"/>
      <p:bldP spid="553011" grpId="0"/>
      <p:bldP spid="553011" grpId="1"/>
      <p:bldP spid="553012" grpId="0"/>
      <p:bldP spid="5530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lvl="0" algn="ctr"/>
            <a:r>
              <a:rPr lang="en-US" dirty="0" smtClean="0"/>
              <a:t>Why MYO?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Focus on the problem, not on implementation</a:t>
            </a:r>
          </a:p>
          <a:p>
            <a:r>
              <a:rPr lang="en-US" dirty="0" smtClean="0"/>
              <a:t>MYO hides programming complexity from users</a:t>
            </a:r>
          </a:p>
          <a:p>
            <a:r>
              <a:rPr lang="en-US" altLang="zh-CN" dirty="0" smtClean="0">
                <a:ea typeface="宋体" charset="-122"/>
              </a:rPr>
              <a:t>Seamless sharing of complex pointer-containing data structures </a:t>
            </a:r>
          </a:p>
          <a:p>
            <a:r>
              <a:rPr lang="en-US" dirty="0" smtClean="0"/>
              <a:t>Implicit pipelining, overlap of communication and computation.</a:t>
            </a:r>
          </a:p>
          <a:p>
            <a:r>
              <a:rPr lang="en-US" dirty="0" smtClean="0"/>
              <a:t>Shared memory programming for CPU and MIC.</a:t>
            </a:r>
          </a:p>
          <a:p>
            <a:pPr lvl="2"/>
            <a:r>
              <a:rPr lang="en-US" sz="2000" dirty="0" smtClean="0"/>
              <a:t>Adjacent bytes can be modified in parallel by diff nodes.</a:t>
            </a:r>
          </a:p>
          <a:p>
            <a:pPr lvl="2"/>
            <a:r>
              <a:rPr lang="en-US" sz="2000" dirty="0" smtClean="0"/>
              <a:t>Support for global shared memory sync primitives.</a:t>
            </a:r>
            <a:endParaRPr lang="en-US" dirty="0" smtClean="0"/>
          </a:p>
          <a:p>
            <a:pPr lvl="2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608013" y="425450"/>
            <a:ext cx="8237537" cy="889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Why MYO?</a:t>
            </a:r>
            <a:endParaRPr kumimoji="0" 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8013" y="1524000"/>
            <a:ext cx="8237537" cy="43434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Applications are not</a:t>
            </a:r>
            <a:r>
              <a:rPr kumimoji="0" lang="en-US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just compute kernels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b="0" kern="0" noProof="0" dirty="0" smtClean="0">
                <a:latin typeface="+mn-lt"/>
              </a:rPr>
              <a:t>Real apps consists of serial and parallel sections</a:t>
            </a:r>
          </a:p>
          <a:p>
            <a:pPr marL="800100" lvl="1" indent="-342900" algn="l">
              <a:spcBef>
                <a:spcPct val="60000"/>
              </a:spcBef>
              <a:buFont typeface="Arial" pitchFamily="34" charset="0"/>
              <a:buChar char="•"/>
            </a:pPr>
            <a:r>
              <a:rPr lang="en-US" sz="2000" b="0" kern="0" dirty="0" smtClean="0">
                <a:latin typeface="+mn-lt"/>
              </a:rPr>
              <a:t>Execute the sequential code on Host</a:t>
            </a:r>
          </a:p>
          <a:p>
            <a:pPr marL="800100" lvl="1" indent="-342900" algn="l">
              <a:spcBef>
                <a:spcPct val="60000"/>
              </a:spcBef>
              <a:buFont typeface="Arial" pitchFamily="34" charset="0"/>
              <a:buChar char="•"/>
            </a:pPr>
            <a:r>
              <a:rPr lang="en-US" sz="2000" b="0" kern="0" noProof="0" dirty="0" smtClean="0">
                <a:latin typeface="+mn-lt"/>
              </a:rPr>
              <a:t>Run parallel sections on MIC</a:t>
            </a:r>
          </a:p>
          <a:p>
            <a:pPr marL="800100" lvl="1" indent="-342900" algn="l">
              <a:spcBef>
                <a:spcPct val="60000"/>
              </a:spcBef>
              <a:buFont typeface="Arial" pitchFamily="34" charset="0"/>
              <a:buChar char="•"/>
            </a:pPr>
            <a:r>
              <a:rPr lang="en-US" sz="2000" b="0" kern="0" dirty="0" smtClean="0">
                <a:latin typeface="+mn-lt"/>
              </a:rPr>
              <a:t>Seamlessly switch execution between host and MIC</a:t>
            </a:r>
          </a:p>
          <a:p>
            <a:pPr marL="342900" indent="-342900" algn="l">
              <a:spcBef>
                <a:spcPct val="60000"/>
              </a:spcBef>
              <a:buFont typeface="Arial" pitchFamily="34" charset="0"/>
              <a:buChar char="•"/>
            </a:pPr>
            <a:r>
              <a:rPr lang="en-US" b="0" kern="0" dirty="0" smtClean="0">
                <a:latin typeface="+mn-lt"/>
              </a:rPr>
              <a:t>Implicit data transfers between compute domains</a:t>
            </a:r>
          </a:p>
          <a:p>
            <a:pPr marL="800100" lvl="1" indent="-342900" algn="l">
              <a:spcBef>
                <a:spcPct val="60000"/>
              </a:spcBef>
              <a:buFont typeface="Arial" pitchFamily="34" charset="0"/>
              <a:buChar char="•"/>
            </a:pPr>
            <a:r>
              <a:rPr lang="en-US" sz="2000" b="0" kern="0" dirty="0" smtClean="0">
                <a:latin typeface="+mn-lt"/>
              </a:rPr>
              <a:t>Default is transfer data on demand</a:t>
            </a:r>
          </a:p>
          <a:p>
            <a:pPr marL="800100" lvl="1" indent="-342900" algn="l">
              <a:spcBef>
                <a:spcPct val="60000"/>
              </a:spcBef>
              <a:buFont typeface="Arial" pitchFamily="34" charset="0"/>
              <a:buChar char="•"/>
            </a:pPr>
            <a:r>
              <a:rPr lang="en-US" sz="2000" b="0" kern="0" dirty="0" smtClean="0">
                <a:latin typeface="+mn-lt"/>
              </a:rPr>
              <a:t>Some overlap of communication and computation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 bwMode="auto">
          <a:xfrm>
            <a:off x="608013" y="6510338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7839C3-4C75-4980-81B5-0F633030F8FC}" type="slidenum">
              <a:rPr kumimoji="0" lang="en-US" altLang="zh-CN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宋体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宋体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63" y="2890857"/>
            <a:ext cx="8237537" cy="889000"/>
          </a:xfrm>
        </p:spPr>
        <p:txBody>
          <a:bodyPr/>
          <a:lstStyle/>
          <a:p>
            <a:pPr algn="ctr"/>
            <a:r>
              <a:rPr lang="en-US" sz="3200" dirty="0" smtClean="0"/>
              <a:t>MYO Program Visualization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273050"/>
            <a:ext cx="8688387" cy="889000"/>
          </a:xfrm>
        </p:spPr>
        <p:txBody>
          <a:bodyPr anchor="ctr"/>
          <a:lstStyle/>
          <a:p>
            <a:pPr algn="ctr"/>
            <a:r>
              <a:rPr lang="en-US" altLang="zh-CN" dirty="0" smtClean="0">
                <a:ea typeface="宋体" charset="-122"/>
              </a:rPr>
              <a:t>How MYO works?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71599"/>
            <a:ext cx="8237537" cy="4635661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dirty="0" smtClean="0">
                <a:ea typeface="宋体" charset="-122"/>
              </a:rPr>
              <a:t>MYO uses standard Release Consistency model for data transfer</a:t>
            </a:r>
          </a:p>
          <a:p>
            <a:pPr>
              <a:lnSpc>
                <a:spcPct val="80000"/>
              </a:lnSpc>
            </a:pPr>
            <a:r>
              <a:rPr lang="en-US" altLang="zh-CN" sz="1600" dirty="0" smtClean="0">
                <a:ea typeface="宋体" charset="-122"/>
              </a:rPr>
              <a:t> Release point: All prior stores are guaranteed to be globally visible</a:t>
            </a:r>
          </a:p>
          <a:p>
            <a:pPr marL="342900" lvl="2" indent="-342900">
              <a:lnSpc>
                <a:spcPct val="80000"/>
              </a:lnSpc>
              <a:spcBef>
                <a:spcPct val="60000"/>
              </a:spcBef>
              <a:buFontTx/>
              <a:buNone/>
            </a:pPr>
            <a:r>
              <a:rPr lang="en-US" altLang="zh-CN" sz="1600" dirty="0" smtClean="0">
                <a:ea typeface="宋体" charset="-122"/>
              </a:rPr>
              <a:t>	Think of it as local stores are guaranteed to be flushed out</a:t>
            </a:r>
          </a:p>
          <a:p>
            <a:pPr>
              <a:lnSpc>
                <a:spcPct val="80000"/>
              </a:lnSpc>
            </a:pPr>
            <a:r>
              <a:rPr lang="en-US" altLang="zh-CN" sz="1600" dirty="0" smtClean="0">
                <a:ea typeface="宋体" charset="-122"/>
              </a:rPr>
              <a:t> Acquire point: All stores that are globally visible are seen locally.</a:t>
            </a:r>
          </a:p>
          <a:p>
            <a:pPr marL="342900" lvl="2" indent="-342900">
              <a:lnSpc>
                <a:spcPct val="80000"/>
              </a:lnSpc>
              <a:spcBef>
                <a:spcPct val="60000"/>
              </a:spcBef>
              <a:buFontTx/>
              <a:buNone/>
            </a:pPr>
            <a:r>
              <a:rPr lang="en-US" altLang="zh-CN" sz="1600" dirty="0" smtClean="0">
                <a:ea typeface="宋体" charset="-122"/>
              </a:rPr>
              <a:t>	Think of it as syncing up local memory with global store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zh-CN" sz="1600" dirty="0" smtClean="0">
              <a:ea typeface="宋体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600" dirty="0" smtClean="0">
                <a:ea typeface="宋体" charset="-122"/>
              </a:rPr>
              <a:t>Release Consistency Model consists of two modes, MYO has a third </a:t>
            </a:r>
            <a:r>
              <a:rPr lang="en-US" altLang="zh-CN" sz="1600" dirty="0" smtClean="0">
                <a:ea typeface="宋体" charset="-122"/>
              </a:rPr>
              <a:t>(or 3?) mode(s?)</a:t>
            </a:r>
            <a:endParaRPr lang="en-US" altLang="zh-CN" sz="1600" dirty="0" smtClean="0">
              <a:ea typeface="宋体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600" dirty="0" smtClean="0">
                <a:ea typeface="宋体" charset="-122"/>
              </a:rPr>
              <a:t>Lazy Update – Update memory on demand.</a:t>
            </a:r>
          </a:p>
          <a:p>
            <a:pPr>
              <a:lnSpc>
                <a:spcPct val="80000"/>
              </a:lnSpc>
            </a:pPr>
            <a:r>
              <a:rPr lang="en-US" altLang="zh-CN" sz="1600" dirty="0" smtClean="0">
                <a:ea typeface="宋体" charset="-122"/>
              </a:rPr>
              <a:t>Eager Update- Update on acquire. Transfer entire data.</a:t>
            </a:r>
          </a:p>
          <a:p>
            <a:pPr>
              <a:lnSpc>
                <a:spcPct val="80000"/>
              </a:lnSpc>
            </a:pPr>
            <a:r>
              <a:rPr lang="en-US" altLang="zh-CN" sz="1600" dirty="0" smtClean="0">
                <a:ea typeface="宋体" charset="-122"/>
              </a:rPr>
              <a:t>Hybrid update – MYO specific protocol for optimal performance.</a:t>
            </a:r>
          </a:p>
          <a:p>
            <a:pPr>
              <a:lnSpc>
                <a:spcPct val="80000"/>
              </a:lnSpc>
            </a:pPr>
            <a:endParaRPr lang="en-US" altLang="zh-CN" sz="1600" dirty="0" smtClean="0">
              <a:ea typeface="宋体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600" dirty="0" smtClean="0">
                <a:ea typeface="宋体" charset="-122"/>
              </a:rPr>
              <a:t>Hybrid update is the default mode in MYO, appears to be similar to Lazy.</a:t>
            </a:r>
          </a:p>
          <a:p>
            <a:pPr>
              <a:lnSpc>
                <a:spcPct val="80000"/>
              </a:lnSpc>
            </a:pPr>
            <a:r>
              <a:rPr lang="en-US" altLang="zh-CN" sz="1600" dirty="0" smtClean="0">
                <a:ea typeface="宋体" charset="-122"/>
              </a:rPr>
              <a:t>On an average, hybrid update is seen to give optimal performance on most workloads.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zh-CN" sz="1600" dirty="0" smtClean="0">
              <a:ea typeface="宋体" charset="-122"/>
            </a:endParaRP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EC7945C-0F09-4401-AA33-8E94C286449E}" type="slidenum">
              <a:rPr lang="en-US" altLang="zh-CN"/>
              <a:pPr/>
              <a:t>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1"/>
          <p:cNvSpPr>
            <a:spLocks noChangeArrowheads="1"/>
          </p:cNvSpPr>
          <p:nvPr/>
        </p:nvSpPr>
        <p:spPr bwMode="auto">
          <a:xfrm>
            <a:off x="3706813" y="3470275"/>
            <a:ext cx="1612900" cy="1800225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ea typeface="宋体" charset="-122"/>
              </a:rPr>
              <a:t>PCI </a:t>
            </a:r>
          </a:p>
          <a:p>
            <a:r>
              <a:rPr lang="en-US" altLang="zh-CN" sz="1800">
                <a:ea typeface="宋体" charset="-122"/>
              </a:rPr>
              <a:t>Aperture</a:t>
            </a:r>
          </a:p>
          <a:p>
            <a:endParaRPr lang="en-US" altLang="zh-CN" sz="1800">
              <a:ea typeface="宋体" charset="-122"/>
            </a:endParaRPr>
          </a:p>
          <a:p>
            <a:endParaRPr lang="en-US" altLang="zh-CN" sz="1800">
              <a:ea typeface="宋体" charset="-122"/>
            </a:endParaRPr>
          </a:p>
          <a:p>
            <a:endParaRPr lang="en-US" altLang="zh-CN" sz="1800">
              <a:ea typeface="宋体" charset="-122"/>
            </a:endParaRPr>
          </a:p>
        </p:txBody>
      </p:sp>
      <p:sp>
        <p:nvSpPr>
          <p:cNvPr id="16387" name="Rectangle 11"/>
          <p:cNvSpPr>
            <a:spLocks noChangeArrowheads="1"/>
          </p:cNvSpPr>
          <p:nvPr/>
        </p:nvSpPr>
        <p:spPr bwMode="auto">
          <a:xfrm>
            <a:off x="7499350" y="4070350"/>
            <a:ext cx="1371600" cy="684213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6388" name="Rectangle 11"/>
          <p:cNvSpPr>
            <a:spLocks noChangeArrowheads="1"/>
          </p:cNvSpPr>
          <p:nvPr/>
        </p:nvSpPr>
        <p:spPr bwMode="auto">
          <a:xfrm>
            <a:off x="2038350" y="3452813"/>
            <a:ext cx="1504950" cy="715962"/>
          </a:xfrm>
          <a:prstGeom prst="rect">
            <a:avLst/>
          </a:prstGeom>
          <a:solidFill>
            <a:srgbClr val="92D05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grpSp>
        <p:nvGrpSpPr>
          <p:cNvPr id="2" name="Group 111"/>
          <p:cNvGrpSpPr/>
          <p:nvPr/>
        </p:nvGrpSpPr>
        <p:grpSpPr>
          <a:xfrm>
            <a:off x="2021200" y="3418460"/>
            <a:ext cx="1504950" cy="715962"/>
            <a:chOff x="1833568" y="3428271"/>
            <a:chExt cx="1504950" cy="715962"/>
          </a:xfrm>
          <a:solidFill>
            <a:srgbClr val="F4727B"/>
          </a:solidFill>
        </p:grpSpPr>
        <p:sp>
          <p:nvSpPr>
            <p:cNvPr id="113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solidFill>
              <a:srgbClr val="92D05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3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115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solidFill>
                <a:srgbClr val="92D05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a:0</a:t>
                </a:r>
              </a:p>
            </p:txBody>
          </p:sp>
          <p:sp>
            <p:nvSpPr>
              <p:cNvPr id="116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solidFill>
                <a:srgbClr val="92D05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b:0</a:t>
                </a:r>
              </a:p>
            </p:txBody>
          </p:sp>
        </p:grpSp>
      </p:grpSp>
      <p:grpSp>
        <p:nvGrpSpPr>
          <p:cNvPr id="4" name="Group 93"/>
          <p:cNvGrpSpPr/>
          <p:nvPr/>
        </p:nvGrpSpPr>
        <p:grpSpPr>
          <a:xfrm>
            <a:off x="2043257" y="3440936"/>
            <a:ext cx="1504950" cy="715962"/>
            <a:chOff x="1833568" y="3428271"/>
            <a:chExt cx="1504950" cy="715962"/>
          </a:xfrm>
          <a:solidFill>
            <a:srgbClr val="096DBF"/>
          </a:solidFill>
        </p:grpSpPr>
        <p:sp>
          <p:nvSpPr>
            <p:cNvPr id="95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grpFill/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5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97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a:0</a:t>
                </a:r>
              </a:p>
            </p:txBody>
          </p:sp>
          <p:sp>
            <p:nvSpPr>
              <p:cNvPr id="98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b:0</a:t>
                </a:r>
              </a:p>
            </p:txBody>
          </p:sp>
        </p:grpSp>
      </p:grpSp>
      <p:sp>
        <p:nvSpPr>
          <p:cNvPr id="16391" name="Rectangle 11"/>
          <p:cNvSpPr>
            <a:spLocks noChangeArrowheads="1"/>
          </p:cNvSpPr>
          <p:nvPr/>
        </p:nvSpPr>
        <p:spPr bwMode="auto">
          <a:xfrm>
            <a:off x="341313" y="3954463"/>
            <a:ext cx="1371600" cy="684212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grpSp>
        <p:nvGrpSpPr>
          <p:cNvPr id="6" name="Group 121"/>
          <p:cNvGrpSpPr/>
          <p:nvPr/>
        </p:nvGrpSpPr>
        <p:grpSpPr>
          <a:xfrm>
            <a:off x="5852337" y="3487744"/>
            <a:ext cx="1504950" cy="715962"/>
            <a:chOff x="1833568" y="3428271"/>
            <a:chExt cx="1504950" cy="715962"/>
          </a:xfrm>
          <a:solidFill>
            <a:srgbClr val="F4727B"/>
          </a:solidFill>
        </p:grpSpPr>
        <p:sp>
          <p:nvSpPr>
            <p:cNvPr id="123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solidFill>
              <a:srgbClr val="92D05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7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125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solidFill>
                <a:srgbClr val="92D05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a:0</a:t>
                </a:r>
              </a:p>
            </p:txBody>
          </p:sp>
          <p:sp>
            <p:nvSpPr>
              <p:cNvPr id="126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solidFill>
                <a:srgbClr val="92D05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b:0</a:t>
                </a:r>
              </a:p>
            </p:txBody>
          </p:sp>
        </p:grpSp>
      </p:grpSp>
      <p:sp>
        <p:nvSpPr>
          <p:cNvPr id="163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charset="-122"/>
              </a:rPr>
              <a:t>Our mode example (Lazy Update)</a:t>
            </a:r>
            <a:endParaRPr lang="zh-CN" altLang="en-US" smtClean="0">
              <a:ea typeface="宋体" charset="-122"/>
            </a:endParaRPr>
          </a:p>
        </p:txBody>
      </p:sp>
      <p:sp>
        <p:nvSpPr>
          <p:cNvPr id="10" name="Round Single Corner Rectangle 9"/>
          <p:cNvSpPr/>
          <p:nvPr/>
        </p:nvSpPr>
        <p:spPr bwMode="auto">
          <a:xfrm>
            <a:off x="5608638" y="747713"/>
            <a:ext cx="2265362" cy="1884362"/>
          </a:xfrm>
          <a:prstGeom prst="round1Rect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l">
              <a:defRPr/>
            </a:pPr>
            <a:r>
              <a:rPr lang="en-US" altLang="zh-CN" sz="1200" dirty="0" err="1" smtClean="0">
                <a:ea typeface="宋体" charset="-122"/>
              </a:rPr>
              <a:t>mic_foo</a:t>
            </a:r>
            <a:r>
              <a:rPr lang="en-US" altLang="zh-CN" sz="1200" dirty="0">
                <a:ea typeface="宋体" charset="-122"/>
              </a:rPr>
              <a:t>(){</a:t>
            </a:r>
          </a:p>
          <a:p>
            <a:pPr algn="l">
              <a:defRPr/>
            </a:pPr>
            <a:r>
              <a:rPr lang="en-US" altLang="zh-CN" sz="1200" dirty="0">
                <a:ea typeface="宋体" charset="-122"/>
              </a:rPr>
              <a:t>…</a:t>
            </a:r>
          </a:p>
          <a:p>
            <a:pPr algn="l">
              <a:defRPr/>
            </a:pPr>
            <a:r>
              <a:rPr lang="en-US" altLang="zh-CN" sz="1200" dirty="0" err="1">
                <a:ea typeface="宋体" charset="-122"/>
              </a:rPr>
              <a:t>tmp</a:t>
            </a:r>
            <a:r>
              <a:rPr lang="en-US" altLang="zh-CN" sz="1200" dirty="0">
                <a:ea typeface="宋体" charset="-122"/>
              </a:rPr>
              <a:t>= b + 20;</a:t>
            </a:r>
          </a:p>
          <a:p>
            <a:pPr algn="l">
              <a:defRPr/>
            </a:pPr>
            <a:r>
              <a:rPr lang="en-US" altLang="zh-CN" sz="1200" dirty="0">
                <a:ea typeface="宋体" charset="-122"/>
              </a:rPr>
              <a:t>a=</a:t>
            </a:r>
            <a:r>
              <a:rPr lang="en-US" altLang="zh-CN" sz="1200" dirty="0" err="1">
                <a:ea typeface="宋体" charset="-122"/>
              </a:rPr>
              <a:t>tmp</a:t>
            </a:r>
            <a:r>
              <a:rPr lang="en-US" altLang="zh-CN" sz="1200" dirty="0">
                <a:ea typeface="宋体" charset="-122"/>
              </a:rPr>
              <a:t>;</a:t>
            </a:r>
          </a:p>
          <a:p>
            <a:pPr algn="l">
              <a:defRPr/>
            </a:pPr>
            <a:r>
              <a:rPr lang="en-US" altLang="zh-CN" sz="1200" dirty="0">
                <a:ea typeface="宋体" charset="-122"/>
              </a:rPr>
              <a:t>}</a:t>
            </a:r>
            <a:endParaRPr lang="zh-CN" altLang="en-US" sz="1200" dirty="0">
              <a:ea typeface="宋体" charset="-122"/>
            </a:endParaRPr>
          </a:p>
          <a:p>
            <a:pPr algn="l">
              <a:defRPr/>
            </a:pPr>
            <a:endParaRPr lang="zh-CN" altLang="en-US" sz="1200" dirty="0">
              <a:ea typeface="宋体" charset="-122"/>
            </a:endParaRPr>
          </a:p>
        </p:txBody>
      </p:sp>
      <p:sp>
        <p:nvSpPr>
          <p:cNvPr id="11" name="Round Single Corner Rectangle 10"/>
          <p:cNvSpPr/>
          <p:nvPr/>
        </p:nvSpPr>
        <p:spPr bwMode="auto">
          <a:xfrm>
            <a:off x="1635125" y="811213"/>
            <a:ext cx="2509838" cy="1876425"/>
          </a:xfrm>
          <a:prstGeom prst="round1Rect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l">
              <a:defRPr/>
            </a:pPr>
            <a:r>
              <a:rPr lang="en-US" altLang="zh-CN" sz="1200" dirty="0">
                <a:ea typeface="宋体" charset="-122"/>
              </a:rPr>
              <a:t>//a, b are in page P</a:t>
            </a:r>
            <a:r>
              <a:rPr lang="en-US" altLang="zh-CN" sz="1200" baseline="-25000" dirty="0">
                <a:ea typeface="宋体" charset="-122"/>
              </a:rPr>
              <a:t>i</a:t>
            </a:r>
          </a:p>
          <a:p>
            <a:pPr algn="l">
              <a:defRPr/>
            </a:pPr>
            <a:r>
              <a:rPr lang="en-US" altLang="zh-CN" sz="1200" dirty="0">
                <a:ea typeface="宋体" charset="-122"/>
              </a:rPr>
              <a:t>// c is in page </a:t>
            </a:r>
            <a:r>
              <a:rPr lang="en-US" altLang="zh-CN" sz="1200" dirty="0" err="1">
                <a:ea typeface="宋体" charset="-122"/>
              </a:rPr>
              <a:t>P</a:t>
            </a:r>
            <a:r>
              <a:rPr lang="en-US" altLang="zh-CN" sz="1200" baseline="-25000" dirty="0" err="1">
                <a:ea typeface="宋体" charset="-122"/>
              </a:rPr>
              <a:t>k</a:t>
            </a:r>
            <a:endParaRPr lang="en-US" altLang="zh-CN" sz="1200" baseline="-25000" dirty="0">
              <a:ea typeface="宋体" charset="-122"/>
            </a:endParaRPr>
          </a:p>
          <a:p>
            <a:pPr algn="l">
              <a:defRPr/>
            </a:pPr>
            <a:r>
              <a:rPr lang="en-US" altLang="zh-CN" sz="1200" dirty="0">
                <a:ea typeface="宋体" charset="-122"/>
              </a:rPr>
              <a:t>…</a:t>
            </a:r>
            <a:endParaRPr lang="en-US" altLang="zh-CN" sz="1200" dirty="0">
              <a:solidFill>
                <a:schemeClr val="tx2"/>
              </a:solidFill>
              <a:ea typeface="宋体" charset="-122"/>
            </a:endParaRPr>
          </a:p>
          <a:p>
            <a:pPr algn="l">
              <a:defRPr/>
            </a:pPr>
            <a:r>
              <a:rPr lang="en-US" altLang="zh-CN" sz="1200" dirty="0">
                <a:ea typeface="宋体" charset="-122"/>
              </a:rPr>
              <a:t>a=10;</a:t>
            </a:r>
          </a:p>
          <a:p>
            <a:pPr algn="l">
              <a:defRPr/>
            </a:pPr>
            <a:r>
              <a:rPr lang="en-US" altLang="zh-CN" sz="1200" dirty="0">
                <a:ea typeface="宋体" charset="-122"/>
              </a:rPr>
              <a:t>b=1;</a:t>
            </a:r>
          </a:p>
          <a:p>
            <a:pPr algn="l">
              <a:defRPr/>
            </a:pPr>
            <a:r>
              <a:rPr lang="en-US" altLang="zh-CN" sz="1200" dirty="0">
                <a:ea typeface="宋体" charset="-122"/>
              </a:rPr>
              <a:t>c=b;</a:t>
            </a:r>
          </a:p>
          <a:p>
            <a:pPr algn="l">
              <a:defRPr/>
            </a:pPr>
            <a:r>
              <a:rPr lang="en-US" altLang="zh-CN" sz="1200" dirty="0" err="1" smtClean="0">
                <a:ea typeface="宋体" charset="-122"/>
              </a:rPr>
              <a:t>mic_foo</a:t>
            </a:r>
            <a:r>
              <a:rPr lang="en-US" altLang="zh-CN" sz="1200" dirty="0">
                <a:ea typeface="宋体" charset="-122"/>
              </a:rPr>
              <a:t>(); // remote call</a:t>
            </a:r>
          </a:p>
          <a:p>
            <a:pPr algn="l">
              <a:defRPr/>
            </a:pPr>
            <a:r>
              <a:rPr lang="en-US" altLang="zh-CN" sz="1200" dirty="0" err="1">
                <a:ea typeface="宋体" charset="-122"/>
              </a:rPr>
              <a:t>tmp</a:t>
            </a:r>
            <a:r>
              <a:rPr lang="en-US" altLang="zh-CN" sz="1200" dirty="0">
                <a:ea typeface="宋体" charset="-122"/>
              </a:rPr>
              <a:t>=a;</a:t>
            </a:r>
          </a:p>
          <a:p>
            <a:pPr algn="l">
              <a:defRPr/>
            </a:pPr>
            <a:endParaRPr lang="zh-CN" altLang="en-US" sz="1200" dirty="0">
              <a:ea typeface="宋体" charset="-122"/>
            </a:endParaRPr>
          </a:p>
        </p:txBody>
      </p:sp>
      <p:sp>
        <p:nvSpPr>
          <p:cNvPr id="16396" name="Rectangle 11"/>
          <p:cNvSpPr>
            <a:spLocks noChangeArrowheads="1"/>
          </p:cNvSpPr>
          <p:nvPr/>
        </p:nvSpPr>
        <p:spPr bwMode="auto">
          <a:xfrm>
            <a:off x="2030413" y="4164013"/>
            <a:ext cx="1504950" cy="715962"/>
          </a:xfrm>
          <a:prstGeom prst="rect">
            <a:avLst/>
          </a:prstGeom>
          <a:solidFill>
            <a:srgbClr val="92D05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cxnSp>
        <p:nvCxnSpPr>
          <p:cNvPr id="12297" name="Straight Arrow Connector 13"/>
          <p:cNvCxnSpPr>
            <a:cxnSpLocks noChangeShapeType="1"/>
          </p:cNvCxnSpPr>
          <p:nvPr/>
        </p:nvCxnSpPr>
        <p:spPr bwMode="auto">
          <a:xfrm>
            <a:off x="1114425" y="936625"/>
            <a:ext cx="503238" cy="1588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6398" name="Rectangle 11"/>
          <p:cNvSpPr>
            <a:spLocks noChangeArrowheads="1"/>
          </p:cNvSpPr>
          <p:nvPr/>
        </p:nvSpPr>
        <p:spPr bwMode="auto">
          <a:xfrm>
            <a:off x="2025650" y="5530850"/>
            <a:ext cx="1504950" cy="715963"/>
          </a:xfrm>
          <a:prstGeom prst="rect">
            <a:avLst/>
          </a:prstGeom>
          <a:solidFill>
            <a:srgbClr val="92D05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6399" name="Rectangle 11"/>
          <p:cNvSpPr>
            <a:spLocks noChangeArrowheads="1"/>
          </p:cNvSpPr>
          <p:nvPr/>
        </p:nvSpPr>
        <p:spPr bwMode="auto">
          <a:xfrm>
            <a:off x="2032000" y="3055938"/>
            <a:ext cx="1504950" cy="365125"/>
          </a:xfrm>
          <a:prstGeom prst="rect">
            <a:avLst/>
          </a:prstGeom>
          <a:solidFill>
            <a:srgbClr val="92D05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>
                <a:ea typeface="宋体" charset="-122"/>
              </a:rPr>
              <a:t>…</a:t>
            </a:r>
            <a:endParaRPr lang="zh-CN" altLang="en-US">
              <a:ea typeface="宋体" charset="-122"/>
            </a:endParaRPr>
          </a:p>
        </p:txBody>
      </p:sp>
      <p:sp>
        <p:nvSpPr>
          <p:cNvPr id="16400" name="Rectangle 11"/>
          <p:cNvSpPr>
            <a:spLocks noChangeArrowheads="1"/>
          </p:cNvSpPr>
          <p:nvPr/>
        </p:nvSpPr>
        <p:spPr bwMode="auto">
          <a:xfrm>
            <a:off x="5849938" y="4216400"/>
            <a:ext cx="1504950" cy="715963"/>
          </a:xfrm>
          <a:prstGeom prst="rect">
            <a:avLst/>
          </a:prstGeom>
          <a:solidFill>
            <a:srgbClr val="92D05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6401" name="Rectangle 11"/>
          <p:cNvSpPr>
            <a:spLocks noChangeArrowheads="1"/>
          </p:cNvSpPr>
          <p:nvPr/>
        </p:nvSpPr>
        <p:spPr bwMode="auto">
          <a:xfrm>
            <a:off x="5845175" y="5583238"/>
            <a:ext cx="1504950" cy="715962"/>
          </a:xfrm>
          <a:prstGeom prst="rect">
            <a:avLst/>
          </a:prstGeom>
          <a:solidFill>
            <a:srgbClr val="92D05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6402" name="Rectangle 11"/>
          <p:cNvSpPr>
            <a:spLocks noChangeArrowheads="1"/>
          </p:cNvSpPr>
          <p:nvPr/>
        </p:nvSpPr>
        <p:spPr bwMode="auto">
          <a:xfrm>
            <a:off x="5851525" y="3106738"/>
            <a:ext cx="1504950" cy="366712"/>
          </a:xfrm>
          <a:prstGeom prst="rect">
            <a:avLst/>
          </a:prstGeom>
          <a:solidFill>
            <a:srgbClr val="92D05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>
                <a:ea typeface="宋体" charset="-122"/>
              </a:rPr>
              <a:t>…</a:t>
            </a:r>
            <a:endParaRPr lang="zh-CN" altLang="en-US">
              <a:ea typeface="宋体" charset="-122"/>
            </a:endParaRPr>
          </a:p>
        </p:txBody>
      </p:sp>
      <p:sp>
        <p:nvSpPr>
          <p:cNvPr id="16403" name="Rectangle 11"/>
          <p:cNvSpPr>
            <a:spLocks noChangeArrowheads="1"/>
          </p:cNvSpPr>
          <p:nvPr/>
        </p:nvSpPr>
        <p:spPr bwMode="auto">
          <a:xfrm>
            <a:off x="7748588" y="4211638"/>
            <a:ext cx="903287" cy="420687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200">
                <a:ea typeface="宋体" charset="-122"/>
              </a:rPr>
              <a:t>clean</a:t>
            </a:r>
          </a:p>
        </p:txBody>
      </p:sp>
      <p:sp>
        <p:nvSpPr>
          <p:cNvPr id="16404" name="Text Box 26"/>
          <p:cNvSpPr txBox="1">
            <a:spLocks noChangeArrowheads="1"/>
          </p:cNvSpPr>
          <p:nvPr/>
        </p:nvSpPr>
        <p:spPr bwMode="auto">
          <a:xfrm>
            <a:off x="1430338" y="2863850"/>
            <a:ext cx="900112" cy="336550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ea typeface="宋体" charset="-122"/>
              </a:rPr>
              <a:t>P</a:t>
            </a:r>
            <a:r>
              <a:rPr lang="en-US" altLang="zh-CN" sz="1600" baseline="-25000">
                <a:ea typeface="宋体" charset="-122"/>
              </a:rPr>
              <a:t>0</a:t>
            </a:r>
          </a:p>
        </p:txBody>
      </p:sp>
      <p:sp>
        <p:nvSpPr>
          <p:cNvPr id="16405" name="Text Box 27"/>
          <p:cNvSpPr txBox="1">
            <a:spLocks noChangeArrowheads="1"/>
          </p:cNvSpPr>
          <p:nvPr/>
        </p:nvSpPr>
        <p:spPr bwMode="auto">
          <a:xfrm>
            <a:off x="1689100" y="3284538"/>
            <a:ext cx="431800" cy="339725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ea typeface="宋体" charset="-122"/>
              </a:rPr>
              <a:t>P</a:t>
            </a:r>
            <a:r>
              <a:rPr lang="en-US" altLang="zh-CN" sz="1600" baseline="-25000">
                <a:ea typeface="宋体" charset="-122"/>
              </a:rPr>
              <a:t>i</a:t>
            </a:r>
          </a:p>
        </p:txBody>
      </p:sp>
      <p:sp>
        <p:nvSpPr>
          <p:cNvPr id="16406" name="Text Box 26"/>
          <p:cNvSpPr txBox="1">
            <a:spLocks noChangeArrowheads="1"/>
          </p:cNvSpPr>
          <p:nvPr/>
        </p:nvSpPr>
        <p:spPr bwMode="auto">
          <a:xfrm>
            <a:off x="5268913" y="2921000"/>
            <a:ext cx="900112" cy="336550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ea typeface="宋体" charset="-122"/>
              </a:rPr>
              <a:t>P</a:t>
            </a:r>
            <a:r>
              <a:rPr lang="en-US" altLang="zh-CN" sz="1600" baseline="-25000">
                <a:ea typeface="宋体" charset="-122"/>
              </a:rPr>
              <a:t>0</a:t>
            </a:r>
          </a:p>
        </p:txBody>
      </p:sp>
      <p:sp>
        <p:nvSpPr>
          <p:cNvPr id="16407" name="Text Box 27"/>
          <p:cNvSpPr txBox="1">
            <a:spLocks noChangeArrowheads="1"/>
          </p:cNvSpPr>
          <p:nvPr/>
        </p:nvSpPr>
        <p:spPr bwMode="auto">
          <a:xfrm>
            <a:off x="5475288" y="3414713"/>
            <a:ext cx="431800" cy="338137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ea typeface="宋体" charset="-122"/>
              </a:rPr>
              <a:t>P</a:t>
            </a:r>
            <a:r>
              <a:rPr lang="en-US" altLang="zh-CN" sz="1600" baseline="-25000">
                <a:ea typeface="宋体" charset="-122"/>
              </a:rPr>
              <a:t>i</a:t>
            </a:r>
          </a:p>
        </p:txBody>
      </p:sp>
      <p:sp>
        <p:nvSpPr>
          <p:cNvPr id="16408" name="Text Box 27"/>
          <p:cNvSpPr txBox="1">
            <a:spLocks noChangeArrowheads="1"/>
          </p:cNvSpPr>
          <p:nvPr/>
        </p:nvSpPr>
        <p:spPr bwMode="auto">
          <a:xfrm>
            <a:off x="-82550" y="3771900"/>
            <a:ext cx="431800" cy="338138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ea typeface="宋体" charset="-122"/>
              </a:rPr>
              <a:t>P</a:t>
            </a:r>
            <a:r>
              <a:rPr lang="en-US" altLang="zh-CN" sz="1600" baseline="-25000">
                <a:ea typeface="宋体" charset="-122"/>
              </a:rPr>
              <a:t>i</a:t>
            </a:r>
          </a:p>
        </p:txBody>
      </p:sp>
      <p:sp>
        <p:nvSpPr>
          <p:cNvPr id="16409" name="Text Box 27"/>
          <p:cNvSpPr txBox="1">
            <a:spLocks noChangeArrowheads="1"/>
          </p:cNvSpPr>
          <p:nvPr/>
        </p:nvSpPr>
        <p:spPr bwMode="auto">
          <a:xfrm>
            <a:off x="8804275" y="4233863"/>
            <a:ext cx="431800" cy="339725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ea typeface="宋体" charset="-122"/>
              </a:rPr>
              <a:t>P</a:t>
            </a:r>
            <a:r>
              <a:rPr lang="en-US" altLang="zh-CN" sz="1600" baseline="-25000">
                <a:ea typeface="宋体" charset="-122"/>
              </a:rPr>
              <a:t>i</a:t>
            </a:r>
          </a:p>
        </p:txBody>
      </p:sp>
      <p:sp>
        <p:nvSpPr>
          <p:cNvPr id="16410" name="Rectangle 11"/>
          <p:cNvSpPr>
            <a:spLocks noChangeArrowheads="1"/>
          </p:cNvSpPr>
          <p:nvPr/>
        </p:nvSpPr>
        <p:spPr bwMode="auto">
          <a:xfrm>
            <a:off x="554038" y="5153025"/>
            <a:ext cx="904875" cy="420688"/>
          </a:xfrm>
          <a:prstGeom prst="rect">
            <a:avLst/>
          </a:prstGeom>
          <a:solidFill>
            <a:srgbClr val="096DBF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200">
                <a:ea typeface="宋体" charset="-122"/>
              </a:rPr>
              <a:t>dirty</a:t>
            </a:r>
          </a:p>
        </p:txBody>
      </p:sp>
      <p:sp>
        <p:nvSpPr>
          <p:cNvPr id="16411" name="TextBox 42"/>
          <p:cNvSpPr txBox="1">
            <a:spLocks noChangeArrowheads="1"/>
          </p:cNvSpPr>
          <p:nvPr/>
        </p:nvSpPr>
        <p:spPr bwMode="auto">
          <a:xfrm>
            <a:off x="369888" y="3157538"/>
            <a:ext cx="11652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>
                <a:ea typeface="宋体" charset="-122"/>
              </a:rPr>
              <a:t>Directory</a:t>
            </a:r>
          </a:p>
        </p:txBody>
      </p:sp>
      <p:sp>
        <p:nvSpPr>
          <p:cNvPr id="16412" name="Rectangle 11"/>
          <p:cNvSpPr>
            <a:spLocks noChangeArrowheads="1"/>
          </p:cNvSpPr>
          <p:nvPr/>
        </p:nvSpPr>
        <p:spPr bwMode="auto">
          <a:xfrm>
            <a:off x="347663" y="5662613"/>
            <a:ext cx="1371600" cy="363537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>
                <a:ea typeface="宋体" charset="-122"/>
              </a:rPr>
              <a:t>…</a:t>
            </a:r>
            <a:endParaRPr lang="zh-CN" altLang="en-US">
              <a:ea typeface="宋体" charset="-122"/>
            </a:endParaRPr>
          </a:p>
        </p:txBody>
      </p:sp>
      <p:sp>
        <p:nvSpPr>
          <p:cNvPr id="16413" name="Rectangle 11"/>
          <p:cNvSpPr>
            <a:spLocks noChangeArrowheads="1"/>
          </p:cNvSpPr>
          <p:nvPr/>
        </p:nvSpPr>
        <p:spPr bwMode="auto">
          <a:xfrm>
            <a:off x="344488" y="3570288"/>
            <a:ext cx="1371600" cy="365125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>
                <a:ea typeface="宋体" charset="-122"/>
              </a:rPr>
              <a:t>…</a:t>
            </a:r>
            <a:endParaRPr lang="zh-CN" altLang="en-US">
              <a:ea typeface="宋体" charset="-122"/>
            </a:endParaRPr>
          </a:p>
        </p:txBody>
      </p:sp>
      <p:sp>
        <p:nvSpPr>
          <p:cNvPr id="16414" name="Rectangle 11"/>
          <p:cNvSpPr>
            <a:spLocks noChangeArrowheads="1"/>
          </p:cNvSpPr>
          <p:nvPr/>
        </p:nvSpPr>
        <p:spPr bwMode="auto">
          <a:xfrm>
            <a:off x="347663" y="4637088"/>
            <a:ext cx="1371600" cy="363537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>
                <a:ea typeface="宋体" charset="-122"/>
              </a:rPr>
              <a:t>…</a:t>
            </a:r>
            <a:endParaRPr lang="zh-CN" altLang="en-US">
              <a:ea typeface="宋体" charset="-122"/>
            </a:endParaRPr>
          </a:p>
        </p:txBody>
      </p:sp>
      <p:sp>
        <p:nvSpPr>
          <p:cNvPr id="16415" name="Rectangle 11"/>
          <p:cNvSpPr>
            <a:spLocks noChangeArrowheads="1"/>
          </p:cNvSpPr>
          <p:nvPr/>
        </p:nvSpPr>
        <p:spPr bwMode="auto">
          <a:xfrm>
            <a:off x="7508875" y="3692525"/>
            <a:ext cx="1371600" cy="363538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>
                <a:ea typeface="宋体" charset="-122"/>
              </a:rPr>
              <a:t>…</a:t>
            </a:r>
            <a:endParaRPr lang="zh-CN" altLang="en-US">
              <a:ea typeface="宋体" charset="-122"/>
            </a:endParaRPr>
          </a:p>
        </p:txBody>
      </p:sp>
      <p:sp>
        <p:nvSpPr>
          <p:cNvPr id="16416" name="TextBox 42"/>
          <p:cNvSpPr txBox="1">
            <a:spLocks noChangeArrowheads="1"/>
          </p:cNvSpPr>
          <p:nvPr/>
        </p:nvSpPr>
        <p:spPr bwMode="auto">
          <a:xfrm>
            <a:off x="7524750" y="3355975"/>
            <a:ext cx="1165225" cy="30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>
                <a:ea typeface="宋体" charset="-122"/>
              </a:rPr>
              <a:t>Directory</a:t>
            </a:r>
            <a:endParaRPr lang="zh-CN" altLang="en-US" sz="1400">
              <a:ea typeface="宋体" charset="-122"/>
            </a:endParaRPr>
          </a:p>
        </p:txBody>
      </p:sp>
      <p:cxnSp>
        <p:nvCxnSpPr>
          <p:cNvPr id="16417" name="Straight Connector 120"/>
          <p:cNvCxnSpPr>
            <a:cxnSpLocks noChangeShapeType="1"/>
          </p:cNvCxnSpPr>
          <p:nvPr/>
        </p:nvCxnSpPr>
        <p:spPr bwMode="auto">
          <a:xfrm rot="5400000">
            <a:off x="1631951" y="3522662"/>
            <a:ext cx="508000" cy="384175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418" name="Straight Connector 123"/>
          <p:cNvCxnSpPr>
            <a:cxnSpLocks noChangeShapeType="1"/>
          </p:cNvCxnSpPr>
          <p:nvPr/>
        </p:nvCxnSpPr>
        <p:spPr bwMode="auto">
          <a:xfrm rot="5400000">
            <a:off x="1630363" y="4238625"/>
            <a:ext cx="498475" cy="333375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419" name="Straight Connector 130"/>
          <p:cNvCxnSpPr>
            <a:cxnSpLocks noChangeShapeType="1"/>
          </p:cNvCxnSpPr>
          <p:nvPr/>
        </p:nvCxnSpPr>
        <p:spPr bwMode="auto">
          <a:xfrm rot="16200000" flipH="1">
            <a:off x="7108031" y="3666332"/>
            <a:ext cx="652463" cy="260350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420" name="Straight Connector 133"/>
          <p:cNvCxnSpPr>
            <a:cxnSpLocks noChangeShapeType="1"/>
          </p:cNvCxnSpPr>
          <p:nvPr/>
        </p:nvCxnSpPr>
        <p:spPr bwMode="auto">
          <a:xfrm rot="16200000" flipH="1">
            <a:off x="7170738" y="4394200"/>
            <a:ext cx="503237" cy="150813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6421" name="Rectangle 11"/>
          <p:cNvSpPr>
            <a:spLocks noChangeArrowheads="1"/>
          </p:cNvSpPr>
          <p:nvPr/>
        </p:nvSpPr>
        <p:spPr bwMode="auto">
          <a:xfrm>
            <a:off x="344488" y="5005388"/>
            <a:ext cx="1371600" cy="682625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grpSp>
        <p:nvGrpSpPr>
          <p:cNvPr id="8" name="Group 174"/>
          <p:cNvGrpSpPr>
            <a:grpSpLocks/>
          </p:cNvGrpSpPr>
          <p:nvPr/>
        </p:nvGrpSpPr>
        <p:grpSpPr bwMode="auto">
          <a:xfrm>
            <a:off x="2025650" y="4779963"/>
            <a:ext cx="1504950" cy="715962"/>
            <a:chOff x="2042275" y="4779386"/>
            <a:chExt cx="1504950" cy="715962"/>
          </a:xfrm>
        </p:grpSpPr>
        <p:sp>
          <p:nvSpPr>
            <p:cNvPr id="16491" name="Rectangle 11"/>
            <p:cNvSpPr>
              <a:spLocks noChangeArrowheads="1"/>
            </p:cNvSpPr>
            <p:nvPr/>
          </p:nvSpPr>
          <p:spPr bwMode="auto">
            <a:xfrm>
              <a:off x="2042275" y="4779386"/>
              <a:ext cx="1504950" cy="715962"/>
            </a:xfrm>
            <a:prstGeom prst="rect">
              <a:avLst/>
            </a:prstGeom>
            <a:solidFill>
              <a:srgbClr val="92D05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6492" name="Rectangle 11"/>
            <p:cNvSpPr>
              <a:spLocks noChangeArrowheads="1"/>
            </p:cNvSpPr>
            <p:nvPr/>
          </p:nvSpPr>
          <p:spPr bwMode="auto">
            <a:xfrm>
              <a:off x="2470064" y="4912648"/>
              <a:ext cx="546100" cy="434975"/>
            </a:xfrm>
            <a:prstGeom prst="rect">
              <a:avLst/>
            </a:prstGeom>
            <a:solidFill>
              <a:srgbClr val="92D05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CN" sz="1600">
                  <a:ea typeface="宋体" charset="-122"/>
                </a:rPr>
                <a:t>c:0</a:t>
              </a:r>
            </a:p>
          </p:txBody>
        </p:sp>
      </p:grpSp>
      <p:sp>
        <p:nvSpPr>
          <p:cNvPr id="16423" name="Rectangle 11"/>
          <p:cNvSpPr>
            <a:spLocks noChangeArrowheads="1"/>
          </p:cNvSpPr>
          <p:nvPr/>
        </p:nvSpPr>
        <p:spPr bwMode="auto">
          <a:xfrm>
            <a:off x="7505700" y="5795963"/>
            <a:ext cx="1371600" cy="363537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>
                <a:ea typeface="宋体" charset="-122"/>
              </a:rPr>
              <a:t>…</a:t>
            </a:r>
            <a:endParaRPr lang="zh-CN" altLang="en-US">
              <a:ea typeface="宋体" charset="-122"/>
            </a:endParaRPr>
          </a:p>
        </p:txBody>
      </p:sp>
      <p:sp>
        <p:nvSpPr>
          <p:cNvPr id="16424" name="Rectangle 11"/>
          <p:cNvSpPr>
            <a:spLocks noChangeArrowheads="1"/>
          </p:cNvSpPr>
          <p:nvPr/>
        </p:nvSpPr>
        <p:spPr bwMode="auto">
          <a:xfrm>
            <a:off x="7505700" y="4752975"/>
            <a:ext cx="1371600" cy="363538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>
                <a:ea typeface="宋体" charset="-122"/>
              </a:rPr>
              <a:t>…</a:t>
            </a:r>
            <a:endParaRPr lang="zh-CN" altLang="en-US">
              <a:ea typeface="宋体" charset="-122"/>
            </a:endParaRPr>
          </a:p>
        </p:txBody>
      </p:sp>
      <p:sp>
        <p:nvSpPr>
          <p:cNvPr id="16425" name="Rectangle 11"/>
          <p:cNvSpPr>
            <a:spLocks noChangeArrowheads="1"/>
          </p:cNvSpPr>
          <p:nvPr/>
        </p:nvSpPr>
        <p:spPr bwMode="auto">
          <a:xfrm>
            <a:off x="7502525" y="5121275"/>
            <a:ext cx="1371600" cy="684213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grpSp>
        <p:nvGrpSpPr>
          <p:cNvPr id="9" name="Group 174"/>
          <p:cNvGrpSpPr>
            <a:grpSpLocks/>
          </p:cNvGrpSpPr>
          <p:nvPr/>
        </p:nvGrpSpPr>
        <p:grpSpPr bwMode="auto">
          <a:xfrm>
            <a:off x="5843588" y="4914900"/>
            <a:ext cx="1504950" cy="715963"/>
            <a:chOff x="5843588" y="4914900"/>
            <a:chExt cx="1504950" cy="715963"/>
          </a:xfrm>
        </p:grpSpPr>
        <p:sp>
          <p:nvSpPr>
            <p:cNvPr id="16489" name="Rectangle 11"/>
            <p:cNvSpPr>
              <a:spLocks noChangeArrowheads="1"/>
            </p:cNvSpPr>
            <p:nvPr/>
          </p:nvSpPr>
          <p:spPr bwMode="auto">
            <a:xfrm>
              <a:off x="5843588" y="4914900"/>
              <a:ext cx="1504950" cy="715963"/>
            </a:xfrm>
            <a:prstGeom prst="rect">
              <a:avLst/>
            </a:prstGeom>
            <a:solidFill>
              <a:srgbClr val="92D05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6490" name="Rectangle 11"/>
            <p:cNvSpPr>
              <a:spLocks noChangeArrowheads="1"/>
            </p:cNvSpPr>
            <p:nvPr/>
          </p:nvSpPr>
          <p:spPr bwMode="auto">
            <a:xfrm>
              <a:off x="6346825" y="5065713"/>
              <a:ext cx="546100" cy="434975"/>
            </a:xfrm>
            <a:prstGeom prst="rect">
              <a:avLst/>
            </a:prstGeom>
            <a:solidFill>
              <a:srgbClr val="92D05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CN" sz="1600">
                  <a:ea typeface="宋体" charset="-122"/>
                </a:rPr>
                <a:t>c:0</a:t>
              </a:r>
            </a:p>
          </p:txBody>
        </p:sp>
      </p:grpSp>
      <p:sp>
        <p:nvSpPr>
          <p:cNvPr id="16427" name="Rectangle 11"/>
          <p:cNvSpPr>
            <a:spLocks noChangeArrowheads="1"/>
          </p:cNvSpPr>
          <p:nvPr/>
        </p:nvSpPr>
        <p:spPr bwMode="auto">
          <a:xfrm>
            <a:off x="7677150" y="5267325"/>
            <a:ext cx="904875" cy="420688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200">
                <a:ea typeface="宋体" charset="-122"/>
              </a:rPr>
              <a:t>clean</a:t>
            </a:r>
          </a:p>
        </p:txBody>
      </p:sp>
      <p:cxnSp>
        <p:nvCxnSpPr>
          <p:cNvPr id="16428" name="Straight Connector 133"/>
          <p:cNvCxnSpPr>
            <a:cxnSpLocks noChangeShapeType="1"/>
          </p:cNvCxnSpPr>
          <p:nvPr/>
        </p:nvCxnSpPr>
        <p:spPr bwMode="auto">
          <a:xfrm rot="16200000" flipH="1">
            <a:off x="7289800" y="4929188"/>
            <a:ext cx="268288" cy="182562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429" name="Straight Connector 133"/>
          <p:cNvCxnSpPr>
            <a:cxnSpLocks noChangeShapeType="1"/>
          </p:cNvCxnSpPr>
          <p:nvPr/>
        </p:nvCxnSpPr>
        <p:spPr bwMode="auto">
          <a:xfrm>
            <a:off x="7265988" y="5616575"/>
            <a:ext cx="249237" cy="152400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430" name="Straight Connector 123"/>
          <p:cNvCxnSpPr>
            <a:cxnSpLocks noChangeShapeType="1"/>
          </p:cNvCxnSpPr>
          <p:nvPr/>
        </p:nvCxnSpPr>
        <p:spPr bwMode="auto">
          <a:xfrm rot="10800000" flipV="1">
            <a:off x="1695450" y="4891088"/>
            <a:ext cx="336550" cy="196850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431" name="Straight Connector 123"/>
          <p:cNvCxnSpPr>
            <a:cxnSpLocks noChangeShapeType="1"/>
          </p:cNvCxnSpPr>
          <p:nvPr/>
        </p:nvCxnSpPr>
        <p:spPr bwMode="auto">
          <a:xfrm rot="10800000" flipV="1">
            <a:off x="1728788" y="5557838"/>
            <a:ext cx="290512" cy="128587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6432" name="Text Box 27"/>
          <p:cNvSpPr txBox="1">
            <a:spLocks noChangeArrowheads="1"/>
          </p:cNvSpPr>
          <p:nvPr/>
        </p:nvSpPr>
        <p:spPr bwMode="auto">
          <a:xfrm>
            <a:off x="1674813" y="5149850"/>
            <a:ext cx="431800" cy="339725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ea typeface="宋体" charset="-122"/>
              </a:rPr>
              <a:t>P</a:t>
            </a:r>
            <a:r>
              <a:rPr lang="en-US" altLang="zh-CN" sz="1600" baseline="-25000">
                <a:ea typeface="宋体" charset="-122"/>
              </a:rPr>
              <a:t>k</a:t>
            </a:r>
          </a:p>
        </p:txBody>
      </p:sp>
      <p:sp>
        <p:nvSpPr>
          <p:cNvPr id="16433" name="Text Box 27"/>
          <p:cNvSpPr txBox="1">
            <a:spLocks noChangeArrowheads="1"/>
          </p:cNvSpPr>
          <p:nvPr/>
        </p:nvSpPr>
        <p:spPr bwMode="auto">
          <a:xfrm>
            <a:off x="5484813" y="5184775"/>
            <a:ext cx="431800" cy="339725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ea typeface="宋体" charset="-122"/>
              </a:rPr>
              <a:t>P</a:t>
            </a:r>
            <a:r>
              <a:rPr lang="en-US" altLang="zh-CN" sz="1600" baseline="-25000">
                <a:ea typeface="宋体" charset="-122"/>
              </a:rPr>
              <a:t>k</a:t>
            </a:r>
          </a:p>
        </p:txBody>
      </p:sp>
      <p:sp>
        <p:nvSpPr>
          <p:cNvPr id="16434" name="Text Box 27"/>
          <p:cNvSpPr txBox="1">
            <a:spLocks noChangeArrowheads="1"/>
          </p:cNvSpPr>
          <p:nvPr/>
        </p:nvSpPr>
        <p:spPr bwMode="auto">
          <a:xfrm>
            <a:off x="-17463" y="5318125"/>
            <a:ext cx="431801" cy="339725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ea typeface="宋体" charset="-122"/>
              </a:rPr>
              <a:t>P</a:t>
            </a:r>
            <a:r>
              <a:rPr lang="en-US" altLang="zh-CN" sz="1600" baseline="-25000">
                <a:ea typeface="宋体" charset="-122"/>
              </a:rPr>
              <a:t>k</a:t>
            </a:r>
          </a:p>
        </p:txBody>
      </p:sp>
      <p:sp>
        <p:nvSpPr>
          <p:cNvPr id="16435" name="Text Box 27"/>
          <p:cNvSpPr txBox="1">
            <a:spLocks noChangeArrowheads="1"/>
          </p:cNvSpPr>
          <p:nvPr/>
        </p:nvSpPr>
        <p:spPr bwMode="auto">
          <a:xfrm>
            <a:off x="8843963" y="5235575"/>
            <a:ext cx="431800" cy="339725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ea typeface="宋体" charset="-122"/>
              </a:rPr>
              <a:t>P</a:t>
            </a:r>
            <a:r>
              <a:rPr lang="en-US" altLang="zh-CN" sz="1600" baseline="-25000">
                <a:ea typeface="宋体" charset="-122"/>
              </a:rPr>
              <a:t>k</a:t>
            </a:r>
          </a:p>
        </p:txBody>
      </p:sp>
      <p:sp>
        <p:nvSpPr>
          <p:cNvPr id="16436" name="Rectangle 11"/>
          <p:cNvSpPr>
            <a:spLocks noChangeArrowheads="1"/>
          </p:cNvSpPr>
          <p:nvPr/>
        </p:nvSpPr>
        <p:spPr bwMode="auto">
          <a:xfrm>
            <a:off x="566738" y="4081463"/>
            <a:ext cx="904875" cy="420687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200">
                <a:ea typeface="宋体" charset="-122"/>
              </a:rPr>
              <a:t>clean</a:t>
            </a:r>
          </a:p>
        </p:txBody>
      </p:sp>
      <p:sp>
        <p:nvSpPr>
          <p:cNvPr id="16437" name="Rectangle 11"/>
          <p:cNvSpPr>
            <a:spLocks noChangeArrowheads="1"/>
          </p:cNvSpPr>
          <p:nvPr/>
        </p:nvSpPr>
        <p:spPr bwMode="auto">
          <a:xfrm>
            <a:off x="608013" y="5143500"/>
            <a:ext cx="904875" cy="420688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200">
                <a:ea typeface="宋体" charset="-122"/>
              </a:rPr>
              <a:t>clean</a:t>
            </a:r>
          </a:p>
        </p:txBody>
      </p:sp>
      <p:sp>
        <p:nvSpPr>
          <p:cNvPr id="16438" name="Rectangle 11"/>
          <p:cNvSpPr>
            <a:spLocks noChangeArrowheads="1"/>
          </p:cNvSpPr>
          <p:nvPr/>
        </p:nvSpPr>
        <p:spPr bwMode="auto">
          <a:xfrm>
            <a:off x="1679575" y="6467475"/>
            <a:ext cx="1363663" cy="390525"/>
          </a:xfrm>
          <a:prstGeom prst="rect">
            <a:avLst/>
          </a:prstGeom>
          <a:solidFill>
            <a:srgbClr val="92D05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600">
                <a:ea typeface="宋体" charset="-122"/>
              </a:rPr>
              <a:t>ReadOnly</a:t>
            </a:r>
            <a:endParaRPr lang="zh-CN" altLang="en-US" sz="1600">
              <a:ea typeface="宋体" charset="-122"/>
            </a:endParaRPr>
          </a:p>
        </p:txBody>
      </p:sp>
      <p:sp>
        <p:nvSpPr>
          <p:cNvPr id="16439" name="Rectangle 11"/>
          <p:cNvSpPr>
            <a:spLocks noChangeArrowheads="1"/>
          </p:cNvSpPr>
          <p:nvPr/>
        </p:nvSpPr>
        <p:spPr bwMode="auto">
          <a:xfrm>
            <a:off x="263525" y="6467475"/>
            <a:ext cx="1363663" cy="390525"/>
          </a:xfrm>
          <a:prstGeom prst="rect">
            <a:avLst/>
          </a:prstGeom>
          <a:solidFill>
            <a:schemeClr val="bg2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600">
                <a:ea typeface="宋体" charset="-122"/>
              </a:rPr>
              <a:t>NonAccess</a:t>
            </a:r>
            <a:endParaRPr lang="zh-CN" altLang="en-US" sz="1600">
              <a:ea typeface="宋体" charset="-122"/>
            </a:endParaRPr>
          </a:p>
        </p:txBody>
      </p:sp>
      <p:sp>
        <p:nvSpPr>
          <p:cNvPr id="16440" name="Rectangle 11"/>
          <p:cNvSpPr>
            <a:spLocks noChangeArrowheads="1"/>
          </p:cNvSpPr>
          <p:nvPr/>
        </p:nvSpPr>
        <p:spPr bwMode="auto">
          <a:xfrm>
            <a:off x="3060700" y="6467475"/>
            <a:ext cx="1363663" cy="390525"/>
          </a:xfrm>
          <a:prstGeom prst="rect">
            <a:avLst/>
          </a:prstGeom>
          <a:solidFill>
            <a:srgbClr val="0070C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600">
                <a:ea typeface="宋体" charset="-122"/>
              </a:rPr>
              <a:t>Writeable</a:t>
            </a:r>
            <a:endParaRPr lang="zh-CN" altLang="en-US" sz="1600">
              <a:ea typeface="宋体" charset="-122"/>
            </a:endParaRPr>
          </a:p>
        </p:txBody>
      </p:sp>
      <p:sp>
        <p:nvSpPr>
          <p:cNvPr id="164" name="Rounded Rectangular Callout 163"/>
          <p:cNvSpPr>
            <a:spLocks noChangeArrowheads="1"/>
          </p:cNvSpPr>
          <p:nvPr/>
        </p:nvSpPr>
        <p:spPr bwMode="auto">
          <a:xfrm>
            <a:off x="3513138" y="936625"/>
            <a:ext cx="1036637" cy="509588"/>
          </a:xfrm>
          <a:prstGeom prst="wedgeRoundRectCallout">
            <a:avLst>
              <a:gd name="adj1" fmla="val -174264"/>
              <a:gd name="adj2" fmla="val 55833"/>
              <a:gd name="adj3" fmla="val 16667"/>
            </a:avLst>
          </a:prstGeom>
          <a:solidFill>
            <a:srgbClr val="0070C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400">
                <a:ea typeface="宋体" charset="-122"/>
              </a:rPr>
              <a:t>PageFault</a:t>
            </a:r>
            <a:endParaRPr lang="zh-CN" altLang="en-US" sz="1400">
              <a:ea typeface="宋体" charset="-122"/>
            </a:endParaRPr>
          </a:p>
        </p:txBody>
      </p:sp>
      <p:grpSp>
        <p:nvGrpSpPr>
          <p:cNvPr id="12" name="Group 93"/>
          <p:cNvGrpSpPr/>
          <p:nvPr/>
        </p:nvGrpSpPr>
        <p:grpSpPr>
          <a:xfrm>
            <a:off x="2028308" y="3423776"/>
            <a:ext cx="1504950" cy="715962"/>
            <a:chOff x="1833568" y="3428271"/>
            <a:chExt cx="1504950" cy="715962"/>
          </a:xfrm>
          <a:solidFill>
            <a:srgbClr val="096DBF"/>
          </a:solidFill>
        </p:grpSpPr>
        <p:sp>
          <p:nvSpPr>
            <p:cNvPr id="166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grpFill/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13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168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a:10</a:t>
                </a:r>
              </a:p>
            </p:txBody>
          </p:sp>
          <p:sp>
            <p:nvSpPr>
              <p:cNvPr id="169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b:0</a:t>
                </a:r>
              </a:p>
            </p:txBody>
          </p:sp>
        </p:grpSp>
      </p:grpSp>
      <p:grpSp>
        <p:nvGrpSpPr>
          <p:cNvPr id="14" name="Group 93"/>
          <p:cNvGrpSpPr/>
          <p:nvPr/>
        </p:nvGrpSpPr>
        <p:grpSpPr>
          <a:xfrm>
            <a:off x="2028306" y="3423776"/>
            <a:ext cx="1504950" cy="715962"/>
            <a:chOff x="1833568" y="3428271"/>
            <a:chExt cx="1504950" cy="715962"/>
          </a:xfrm>
          <a:solidFill>
            <a:srgbClr val="096DBF"/>
          </a:solidFill>
        </p:grpSpPr>
        <p:sp>
          <p:nvSpPr>
            <p:cNvPr id="171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grpFill/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15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173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a:10</a:t>
                </a:r>
              </a:p>
            </p:txBody>
          </p:sp>
          <p:sp>
            <p:nvSpPr>
              <p:cNvPr id="174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b:1</a:t>
                </a:r>
              </a:p>
            </p:txBody>
          </p:sp>
        </p:grpSp>
      </p:grpSp>
      <p:cxnSp>
        <p:nvCxnSpPr>
          <p:cNvPr id="176" name="Straight Arrow Connector 13"/>
          <p:cNvCxnSpPr>
            <a:cxnSpLocks noChangeShapeType="1"/>
          </p:cNvCxnSpPr>
          <p:nvPr/>
        </p:nvCxnSpPr>
        <p:spPr bwMode="auto">
          <a:xfrm>
            <a:off x="1100138" y="1538288"/>
            <a:ext cx="503237" cy="1587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77" name="Rounded Rectangular Callout 176"/>
          <p:cNvSpPr>
            <a:spLocks noChangeArrowheads="1"/>
          </p:cNvSpPr>
          <p:nvPr/>
        </p:nvSpPr>
        <p:spPr bwMode="auto">
          <a:xfrm>
            <a:off x="3516313" y="1238250"/>
            <a:ext cx="1036637" cy="509588"/>
          </a:xfrm>
          <a:prstGeom prst="wedgeRoundRectCallout">
            <a:avLst>
              <a:gd name="adj1" fmla="val -174264"/>
              <a:gd name="adj2" fmla="val 55833"/>
              <a:gd name="adj3" fmla="val 16667"/>
            </a:avLst>
          </a:prstGeom>
          <a:solidFill>
            <a:srgbClr val="0070C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400">
                <a:ea typeface="宋体" charset="-122"/>
              </a:rPr>
              <a:t>writable</a:t>
            </a:r>
            <a:endParaRPr lang="zh-CN" altLang="en-US" sz="1400">
              <a:ea typeface="宋体" charset="-122"/>
            </a:endParaRPr>
          </a:p>
        </p:txBody>
      </p:sp>
      <p:cxnSp>
        <p:nvCxnSpPr>
          <p:cNvPr id="178" name="Straight Arrow Connector 13"/>
          <p:cNvCxnSpPr>
            <a:cxnSpLocks noChangeShapeType="1"/>
          </p:cNvCxnSpPr>
          <p:nvPr/>
        </p:nvCxnSpPr>
        <p:spPr bwMode="auto">
          <a:xfrm>
            <a:off x="1103313" y="1757363"/>
            <a:ext cx="503237" cy="1587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79" name="Rounded Rectangular Callout 178"/>
          <p:cNvSpPr>
            <a:spLocks noChangeArrowheads="1"/>
          </p:cNvSpPr>
          <p:nvPr/>
        </p:nvSpPr>
        <p:spPr bwMode="auto">
          <a:xfrm>
            <a:off x="3532188" y="1454150"/>
            <a:ext cx="1036637" cy="509588"/>
          </a:xfrm>
          <a:prstGeom prst="wedgeRoundRectCallout">
            <a:avLst>
              <a:gd name="adj1" fmla="val -174264"/>
              <a:gd name="adj2" fmla="val 55833"/>
              <a:gd name="adj3" fmla="val 16667"/>
            </a:avLst>
          </a:prstGeom>
          <a:solidFill>
            <a:srgbClr val="0070C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400">
                <a:ea typeface="宋体" charset="-122"/>
              </a:rPr>
              <a:t>PageFault</a:t>
            </a:r>
            <a:endParaRPr lang="zh-CN" altLang="en-US" sz="1400">
              <a:ea typeface="宋体" charset="-122"/>
            </a:endParaRPr>
          </a:p>
        </p:txBody>
      </p:sp>
      <p:grpSp>
        <p:nvGrpSpPr>
          <p:cNvPr id="16" name="Group 179"/>
          <p:cNvGrpSpPr>
            <a:grpSpLocks/>
          </p:cNvGrpSpPr>
          <p:nvPr/>
        </p:nvGrpSpPr>
        <p:grpSpPr bwMode="auto">
          <a:xfrm>
            <a:off x="2043113" y="4797425"/>
            <a:ext cx="1504950" cy="715963"/>
            <a:chOff x="2042275" y="4779386"/>
            <a:chExt cx="1504950" cy="715962"/>
          </a:xfrm>
        </p:grpSpPr>
        <p:sp>
          <p:nvSpPr>
            <p:cNvPr id="16487" name="Rectangle 11"/>
            <p:cNvSpPr>
              <a:spLocks noChangeArrowheads="1"/>
            </p:cNvSpPr>
            <p:nvPr/>
          </p:nvSpPr>
          <p:spPr bwMode="auto">
            <a:xfrm>
              <a:off x="2042275" y="4779386"/>
              <a:ext cx="1504950" cy="715962"/>
            </a:xfrm>
            <a:prstGeom prst="rect">
              <a:avLst/>
            </a:prstGeom>
            <a:solidFill>
              <a:srgbClr val="0070C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6488" name="Rectangle 11"/>
            <p:cNvSpPr>
              <a:spLocks noChangeArrowheads="1"/>
            </p:cNvSpPr>
            <p:nvPr/>
          </p:nvSpPr>
          <p:spPr bwMode="auto">
            <a:xfrm>
              <a:off x="2470064" y="4912648"/>
              <a:ext cx="546100" cy="434975"/>
            </a:xfrm>
            <a:prstGeom prst="rect">
              <a:avLst/>
            </a:prstGeom>
            <a:solidFill>
              <a:srgbClr val="0070C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CN" sz="1600">
                  <a:ea typeface="宋体" charset="-122"/>
                </a:rPr>
                <a:t>c:0</a:t>
              </a:r>
            </a:p>
          </p:txBody>
        </p:sp>
      </p:grpSp>
      <p:grpSp>
        <p:nvGrpSpPr>
          <p:cNvPr id="17" name="Group 183"/>
          <p:cNvGrpSpPr>
            <a:grpSpLocks/>
          </p:cNvGrpSpPr>
          <p:nvPr/>
        </p:nvGrpSpPr>
        <p:grpSpPr bwMode="auto">
          <a:xfrm>
            <a:off x="2030413" y="4799013"/>
            <a:ext cx="1504950" cy="715962"/>
            <a:chOff x="363377" y="5738757"/>
            <a:chExt cx="1504950" cy="715962"/>
          </a:xfrm>
        </p:grpSpPr>
        <p:sp>
          <p:nvSpPr>
            <p:cNvPr id="16485" name="Rectangle 11"/>
            <p:cNvSpPr>
              <a:spLocks noChangeArrowheads="1"/>
            </p:cNvSpPr>
            <p:nvPr/>
          </p:nvSpPr>
          <p:spPr bwMode="auto">
            <a:xfrm>
              <a:off x="363377" y="5738757"/>
              <a:ext cx="1504950" cy="715962"/>
            </a:xfrm>
            <a:prstGeom prst="rect">
              <a:avLst/>
            </a:prstGeom>
            <a:solidFill>
              <a:srgbClr val="0070C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6486" name="Rectangle 11"/>
            <p:cNvSpPr>
              <a:spLocks noChangeArrowheads="1"/>
            </p:cNvSpPr>
            <p:nvPr/>
          </p:nvSpPr>
          <p:spPr bwMode="auto">
            <a:xfrm>
              <a:off x="791166" y="5872019"/>
              <a:ext cx="546100" cy="434975"/>
            </a:xfrm>
            <a:prstGeom prst="rect">
              <a:avLst/>
            </a:prstGeom>
            <a:solidFill>
              <a:srgbClr val="0070C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CN" sz="1600">
                  <a:ea typeface="宋体" charset="-122"/>
                </a:rPr>
                <a:t>c:1</a:t>
              </a:r>
            </a:p>
          </p:txBody>
        </p:sp>
      </p:grpSp>
      <p:cxnSp>
        <p:nvCxnSpPr>
          <p:cNvPr id="192" name="Straight Arrow Connector 13"/>
          <p:cNvCxnSpPr>
            <a:cxnSpLocks noChangeShapeType="1"/>
          </p:cNvCxnSpPr>
          <p:nvPr/>
        </p:nvCxnSpPr>
        <p:spPr bwMode="auto">
          <a:xfrm>
            <a:off x="1120775" y="1954213"/>
            <a:ext cx="503238" cy="1587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94" name="Rounded Rectangular Callout 193"/>
          <p:cNvSpPr>
            <a:spLocks noChangeArrowheads="1"/>
          </p:cNvSpPr>
          <p:nvPr/>
        </p:nvSpPr>
        <p:spPr bwMode="auto">
          <a:xfrm>
            <a:off x="4075113" y="1577975"/>
            <a:ext cx="1036637" cy="509588"/>
          </a:xfrm>
          <a:prstGeom prst="wedgeRoundRectCallout">
            <a:avLst>
              <a:gd name="adj1" fmla="val -174264"/>
              <a:gd name="adj2" fmla="val 55833"/>
              <a:gd name="adj3" fmla="val 16667"/>
            </a:avLst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400">
                <a:ea typeface="宋体" charset="-122"/>
              </a:rPr>
              <a:t>Release</a:t>
            </a:r>
            <a:endParaRPr lang="zh-CN" altLang="en-US" sz="1400">
              <a:ea typeface="宋体" charset="-122"/>
            </a:endParaRPr>
          </a:p>
        </p:txBody>
      </p:sp>
      <p:cxnSp>
        <p:nvCxnSpPr>
          <p:cNvPr id="199" name="Straight Arrow Connector 13"/>
          <p:cNvCxnSpPr>
            <a:cxnSpLocks noChangeShapeType="1"/>
          </p:cNvCxnSpPr>
          <p:nvPr/>
        </p:nvCxnSpPr>
        <p:spPr bwMode="auto">
          <a:xfrm>
            <a:off x="1093788" y="2151063"/>
            <a:ext cx="503237" cy="1587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55" name="Rounded Rectangular Callout 154"/>
          <p:cNvSpPr>
            <a:spLocks noChangeArrowheads="1"/>
          </p:cNvSpPr>
          <p:nvPr/>
        </p:nvSpPr>
        <p:spPr bwMode="auto">
          <a:xfrm>
            <a:off x="7899400" y="695325"/>
            <a:ext cx="1036638" cy="509588"/>
          </a:xfrm>
          <a:prstGeom prst="wedgeRoundRectCallout">
            <a:avLst>
              <a:gd name="adj1" fmla="val -174264"/>
              <a:gd name="adj2" fmla="val 55833"/>
              <a:gd name="adj3" fmla="val 16667"/>
            </a:avLst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400">
                <a:ea typeface="宋体" charset="-122"/>
              </a:rPr>
              <a:t>Acquire</a:t>
            </a:r>
            <a:endParaRPr lang="zh-CN" altLang="en-US" sz="1400">
              <a:ea typeface="宋体" charset="-122"/>
            </a:endParaRPr>
          </a:p>
        </p:txBody>
      </p:sp>
      <p:grpSp>
        <p:nvGrpSpPr>
          <p:cNvPr id="18" name="Group 196"/>
          <p:cNvGrpSpPr>
            <a:grpSpLocks/>
          </p:cNvGrpSpPr>
          <p:nvPr/>
        </p:nvGrpSpPr>
        <p:grpSpPr bwMode="auto">
          <a:xfrm>
            <a:off x="5846763" y="3094038"/>
            <a:ext cx="1512887" cy="3236912"/>
            <a:chOff x="5846086" y="3094246"/>
            <a:chExt cx="1513699" cy="3237432"/>
          </a:xfrm>
        </p:grpSpPr>
        <p:sp>
          <p:nvSpPr>
            <p:cNvPr id="16480" name="Rectangle 11"/>
            <p:cNvSpPr>
              <a:spLocks noChangeArrowheads="1"/>
            </p:cNvSpPr>
            <p:nvPr/>
          </p:nvSpPr>
          <p:spPr bwMode="auto">
            <a:xfrm>
              <a:off x="5854023" y="3094246"/>
              <a:ext cx="1504950" cy="366712"/>
            </a:xfrm>
            <a:prstGeom prst="rect">
              <a:avLst/>
            </a:prstGeom>
            <a:solidFill>
              <a:schemeClr val="bg2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CN">
                  <a:ea typeface="宋体" charset="-122"/>
                </a:rPr>
                <a:t>…</a:t>
              </a:r>
              <a:endParaRPr lang="zh-CN" altLang="en-US">
                <a:ea typeface="宋体" charset="-122"/>
              </a:endParaRPr>
            </a:p>
          </p:txBody>
        </p:sp>
        <p:grpSp>
          <p:nvGrpSpPr>
            <p:cNvPr id="19" name="Group 121"/>
            <p:cNvGrpSpPr/>
            <p:nvPr/>
          </p:nvGrpSpPr>
          <p:grpSpPr>
            <a:xfrm>
              <a:off x="5854835" y="3490243"/>
              <a:ext cx="1504950" cy="715962"/>
              <a:chOff x="709305" y="3593163"/>
              <a:chExt cx="1504950" cy="715962"/>
            </a:xfrm>
            <a:solidFill>
              <a:schemeClr val="bg2"/>
            </a:solidFill>
          </p:grpSpPr>
          <p:sp>
            <p:nvSpPr>
              <p:cNvPr id="162" name="Rectangle 11"/>
              <p:cNvSpPr>
                <a:spLocks noChangeArrowheads="1"/>
              </p:cNvSpPr>
              <p:nvPr/>
            </p:nvSpPr>
            <p:spPr bwMode="auto">
              <a:xfrm>
                <a:off x="709305" y="3593163"/>
                <a:ext cx="1504950" cy="715962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grpSp>
            <p:nvGrpSpPr>
              <p:cNvPr id="20" name="Group 27"/>
              <p:cNvGrpSpPr/>
              <p:nvPr/>
            </p:nvGrpSpPr>
            <p:grpSpPr>
              <a:xfrm>
                <a:off x="845825" y="3701842"/>
                <a:ext cx="1277937" cy="447675"/>
                <a:chOff x="845825" y="3701842"/>
                <a:chExt cx="1277937" cy="447675"/>
              </a:xfrm>
              <a:grpFill/>
            </p:grpSpPr>
            <p:sp>
              <p:nvSpPr>
                <p:cNvPr id="165" name="Rectangle 11"/>
                <p:cNvSpPr>
                  <a:spLocks noChangeArrowheads="1"/>
                </p:cNvSpPr>
                <p:nvPr/>
              </p:nvSpPr>
              <p:spPr bwMode="auto">
                <a:xfrm>
                  <a:off x="845825" y="3714542"/>
                  <a:ext cx="546100" cy="434975"/>
                </a:xfrm>
                <a:prstGeom prst="rect">
                  <a:avLst/>
                </a:prstGeom>
                <a:grpFill/>
                <a:ln w="508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r>
                    <a:rPr lang="en-US" altLang="zh-CN" sz="1600" dirty="0">
                      <a:ea typeface="宋体" charset="-122"/>
                    </a:rPr>
                    <a:t>a:0</a:t>
                  </a:r>
                </a:p>
              </p:txBody>
            </p:sp>
            <p:sp>
              <p:nvSpPr>
                <p:cNvPr id="167" name="Rectangle 11"/>
                <p:cNvSpPr>
                  <a:spLocks noChangeArrowheads="1"/>
                </p:cNvSpPr>
                <p:nvPr/>
              </p:nvSpPr>
              <p:spPr bwMode="auto">
                <a:xfrm>
                  <a:off x="1577662" y="3701842"/>
                  <a:ext cx="546100" cy="434975"/>
                </a:xfrm>
                <a:prstGeom prst="rect">
                  <a:avLst/>
                </a:prstGeom>
                <a:grpFill/>
                <a:ln w="50800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r>
                    <a:rPr lang="en-US" altLang="zh-CN" sz="1600" dirty="0">
                      <a:ea typeface="宋体" charset="-122"/>
                    </a:rPr>
                    <a:t>b:0</a:t>
                  </a:r>
                </a:p>
              </p:txBody>
            </p:sp>
          </p:grpSp>
        </p:grpSp>
        <p:sp>
          <p:nvSpPr>
            <p:cNvPr id="16482" name="Rectangle 11"/>
            <p:cNvSpPr>
              <a:spLocks noChangeArrowheads="1"/>
            </p:cNvSpPr>
            <p:nvPr/>
          </p:nvSpPr>
          <p:spPr bwMode="auto">
            <a:xfrm>
              <a:off x="5852436" y="4218899"/>
              <a:ext cx="1504950" cy="715963"/>
            </a:xfrm>
            <a:prstGeom prst="rect">
              <a:avLst/>
            </a:prstGeom>
            <a:solidFill>
              <a:schemeClr val="bg2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grpSp>
          <p:nvGrpSpPr>
            <p:cNvPr id="21" name="Group 179"/>
            <p:cNvGrpSpPr/>
            <p:nvPr/>
          </p:nvGrpSpPr>
          <p:grpSpPr>
            <a:xfrm>
              <a:off x="5846086" y="4917399"/>
              <a:ext cx="1504950" cy="715963"/>
              <a:chOff x="4674355" y="4899910"/>
              <a:chExt cx="1504950" cy="715963"/>
            </a:xfrm>
            <a:solidFill>
              <a:schemeClr val="bg2"/>
            </a:solidFill>
          </p:grpSpPr>
          <p:sp>
            <p:nvSpPr>
              <p:cNvPr id="183" name="Rectangle 11"/>
              <p:cNvSpPr>
                <a:spLocks noChangeArrowheads="1"/>
              </p:cNvSpPr>
              <p:nvPr/>
            </p:nvSpPr>
            <p:spPr bwMode="auto">
              <a:xfrm>
                <a:off x="4674355" y="4899910"/>
                <a:ext cx="1504950" cy="715963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84" name="Rectangle 11"/>
              <p:cNvSpPr>
                <a:spLocks noChangeArrowheads="1"/>
              </p:cNvSpPr>
              <p:nvPr/>
            </p:nvSpPr>
            <p:spPr bwMode="auto">
              <a:xfrm>
                <a:off x="5177592" y="5050723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c:0</a:t>
                </a:r>
              </a:p>
            </p:txBody>
          </p:sp>
        </p:grpSp>
        <p:sp>
          <p:nvSpPr>
            <p:cNvPr id="16484" name="Rectangle 11"/>
            <p:cNvSpPr>
              <a:spLocks noChangeArrowheads="1"/>
            </p:cNvSpPr>
            <p:nvPr/>
          </p:nvSpPr>
          <p:spPr bwMode="auto">
            <a:xfrm>
              <a:off x="5847674" y="5615716"/>
              <a:ext cx="1504950" cy="715962"/>
            </a:xfrm>
            <a:prstGeom prst="rect">
              <a:avLst/>
            </a:prstGeom>
            <a:solidFill>
              <a:schemeClr val="bg2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</p:grpSp>
      <p:cxnSp>
        <p:nvCxnSpPr>
          <p:cNvPr id="200" name="Straight Arrow Connector 13"/>
          <p:cNvCxnSpPr>
            <a:cxnSpLocks noChangeShapeType="1"/>
          </p:cNvCxnSpPr>
          <p:nvPr/>
        </p:nvCxnSpPr>
        <p:spPr bwMode="auto">
          <a:xfrm>
            <a:off x="5103813" y="1209675"/>
            <a:ext cx="503237" cy="1588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01" name="Rounded Rectangular Callout 200"/>
          <p:cNvSpPr>
            <a:spLocks noChangeArrowheads="1"/>
          </p:cNvSpPr>
          <p:nvPr/>
        </p:nvSpPr>
        <p:spPr bwMode="auto">
          <a:xfrm>
            <a:off x="7877175" y="1089025"/>
            <a:ext cx="1036638" cy="509588"/>
          </a:xfrm>
          <a:prstGeom prst="wedgeRoundRectCallout">
            <a:avLst>
              <a:gd name="adj1" fmla="val -155468"/>
              <a:gd name="adj2" fmla="val 41125"/>
              <a:gd name="adj3" fmla="val 16667"/>
            </a:avLst>
          </a:prstGeom>
          <a:solidFill>
            <a:srgbClr val="92D05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400">
                <a:ea typeface="宋体" charset="-122"/>
              </a:rPr>
              <a:t>PageFault</a:t>
            </a:r>
            <a:endParaRPr lang="zh-CN" altLang="en-US" sz="1400">
              <a:ea typeface="宋体" charset="-122"/>
            </a:endParaRPr>
          </a:p>
        </p:txBody>
      </p:sp>
      <p:grpSp>
        <p:nvGrpSpPr>
          <p:cNvPr id="22" name="Group 93"/>
          <p:cNvGrpSpPr/>
          <p:nvPr/>
        </p:nvGrpSpPr>
        <p:grpSpPr>
          <a:xfrm>
            <a:off x="2030805" y="3426275"/>
            <a:ext cx="1504950" cy="715962"/>
            <a:chOff x="1833568" y="3428271"/>
            <a:chExt cx="1504950" cy="715962"/>
          </a:xfrm>
          <a:solidFill>
            <a:srgbClr val="92D050"/>
          </a:solidFill>
        </p:grpSpPr>
        <p:sp>
          <p:nvSpPr>
            <p:cNvPr id="206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grpFill/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23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208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a:10</a:t>
                </a:r>
              </a:p>
            </p:txBody>
          </p:sp>
          <p:sp>
            <p:nvSpPr>
              <p:cNvPr id="209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b:1</a:t>
                </a:r>
              </a:p>
            </p:txBody>
          </p:sp>
        </p:grpSp>
      </p:grpSp>
      <p:grpSp>
        <p:nvGrpSpPr>
          <p:cNvPr id="24" name="Group 93"/>
          <p:cNvGrpSpPr/>
          <p:nvPr/>
        </p:nvGrpSpPr>
        <p:grpSpPr>
          <a:xfrm>
            <a:off x="2018313" y="3443764"/>
            <a:ext cx="1504950" cy="715962"/>
            <a:chOff x="1833568" y="3428271"/>
            <a:chExt cx="1504950" cy="715962"/>
          </a:xfrm>
          <a:solidFill>
            <a:srgbClr val="92D050"/>
          </a:solidFill>
        </p:grpSpPr>
        <p:sp>
          <p:nvSpPr>
            <p:cNvPr id="211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grpFill/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25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213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a:10</a:t>
                </a:r>
              </a:p>
            </p:txBody>
          </p:sp>
          <p:sp>
            <p:nvSpPr>
              <p:cNvPr id="215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b:1</a:t>
                </a:r>
              </a:p>
            </p:txBody>
          </p:sp>
        </p:grpSp>
      </p:grpSp>
      <p:grpSp>
        <p:nvGrpSpPr>
          <p:cNvPr id="26" name="Group 93"/>
          <p:cNvGrpSpPr/>
          <p:nvPr/>
        </p:nvGrpSpPr>
        <p:grpSpPr>
          <a:xfrm>
            <a:off x="3759671" y="4585515"/>
            <a:ext cx="1504950" cy="715962"/>
            <a:chOff x="1833568" y="3428271"/>
            <a:chExt cx="1504950" cy="715962"/>
          </a:xfrm>
          <a:solidFill>
            <a:srgbClr val="92D050"/>
          </a:solidFill>
        </p:grpSpPr>
        <p:sp>
          <p:nvSpPr>
            <p:cNvPr id="217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grpFill/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219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a:10</a:t>
                </a:r>
              </a:p>
            </p:txBody>
          </p:sp>
          <p:sp>
            <p:nvSpPr>
              <p:cNvPr id="220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b:1</a:t>
                </a:r>
              </a:p>
            </p:txBody>
          </p:sp>
        </p:grpSp>
      </p:grpSp>
      <p:cxnSp>
        <p:nvCxnSpPr>
          <p:cNvPr id="221" name="Straight Arrow Connector 13"/>
          <p:cNvCxnSpPr>
            <a:cxnSpLocks noChangeShapeType="1"/>
          </p:cNvCxnSpPr>
          <p:nvPr/>
        </p:nvCxnSpPr>
        <p:spPr bwMode="auto">
          <a:xfrm>
            <a:off x="5062538" y="1585913"/>
            <a:ext cx="503237" cy="1587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22" name="Rounded Rectangular Callout 221"/>
          <p:cNvSpPr>
            <a:spLocks noChangeArrowheads="1"/>
          </p:cNvSpPr>
          <p:nvPr/>
        </p:nvSpPr>
        <p:spPr bwMode="auto">
          <a:xfrm>
            <a:off x="7610475" y="1390650"/>
            <a:ext cx="1068388" cy="509588"/>
          </a:xfrm>
          <a:prstGeom prst="wedgeRoundRectCallout">
            <a:avLst>
              <a:gd name="adj1" fmla="val -155468"/>
              <a:gd name="adj2" fmla="val 41125"/>
              <a:gd name="adj3" fmla="val 16667"/>
            </a:avLst>
          </a:prstGeom>
          <a:solidFill>
            <a:srgbClr val="0070C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400">
                <a:ea typeface="宋体" charset="-122"/>
              </a:rPr>
              <a:t>PageFault</a:t>
            </a:r>
            <a:endParaRPr lang="zh-CN" altLang="en-US" sz="1400">
              <a:ea typeface="宋体" charset="-122"/>
            </a:endParaRPr>
          </a:p>
        </p:txBody>
      </p:sp>
      <p:grpSp>
        <p:nvGrpSpPr>
          <p:cNvPr id="28" name="Group 93"/>
          <p:cNvGrpSpPr/>
          <p:nvPr/>
        </p:nvGrpSpPr>
        <p:grpSpPr>
          <a:xfrm>
            <a:off x="5860792" y="3478741"/>
            <a:ext cx="1504950" cy="715962"/>
            <a:chOff x="1833568" y="3428271"/>
            <a:chExt cx="1504950" cy="715962"/>
          </a:xfrm>
          <a:solidFill>
            <a:srgbClr val="92D050"/>
          </a:solidFill>
        </p:grpSpPr>
        <p:sp>
          <p:nvSpPr>
            <p:cNvPr id="224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solidFill>
              <a:srgbClr val="0070C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29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226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solidFill>
                <a:srgbClr val="0070C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a:10</a:t>
                </a:r>
              </a:p>
            </p:txBody>
          </p:sp>
          <p:sp>
            <p:nvSpPr>
              <p:cNvPr id="227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solidFill>
                <a:srgbClr val="0070C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b:1</a:t>
                </a:r>
              </a:p>
            </p:txBody>
          </p:sp>
        </p:grpSp>
      </p:grpSp>
      <p:sp>
        <p:nvSpPr>
          <p:cNvPr id="228" name="Rectangle 11"/>
          <p:cNvSpPr>
            <a:spLocks noChangeArrowheads="1"/>
          </p:cNvSpPr>
          <p:nvPr/>
        </p:nvSpPr>
        <p:spPr bwMode="auto">
          <a:xfrm>
            <a:off x="7759700" y="4208463"/>
            <a:ext cx="904875" cy="420687"/>
          </a:xfrm>
          <a:prstGeom prst="rect">
            <a:avLst/>
          </a:prstGeom>
          <a:solidFill>
            <a:srgbClr val="096DBF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200">
                <a:ea typeface="宋体" charset="-122"/>
              </a:rPr>
              <a:t>dirty</a:t>
            </a:r>
          </a:p>
        </p:txBody>
      </p:sp>
      <p:grpSp>
        <p:nvGrpSpPr>
          <p:cNvPr id="30" name="Group 93"/>
          <p:cNvGrpSpPr/>
          <p:nvPr/>
        </p:nvGrpSpPr>
        <p:grpSpPr>
          <a:xfrm>
            <a:off x="5848300" y="3481239"/>
            <a:ext cx="1504950" cy="715962"/>
            <a:chOff x="1833568" y="3428271"/>
            <a:chExt cx="1504950" cy="715962"/>
          </a:xfrm>
          <a:solidFill>
            <a:srgbClr val="92D050"/>
          </a:solidFill>
        </p:grpSpPr>
        <p:sp>
          <p:nvSpPr>
            <p:cNvPr id="230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solidFill>
              <a:srgbClr val="0070C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31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232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solidFill>
                <a:srgbClr val="0070C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a:21</a:t>
                </a:r>
              </a:p>
            </p:txBody>
          </p:sp>
          <p:sp>
            <p:nvSpPr>
              <p:cNvPr id="233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solidFill>
                <a:srgbClr val="0070C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b:1</a:t>
                </a:r>
              </a:p>
            </p:txBody>
          </p:sp>
        </p:grpSp>
      </p:grpSp>
      <p:cxnSp>
        <p:nvCxnSpPr>
          <p:cNvPr id="234" name="Straight Arrow Connector 13"/>
          <p:cNvCxnSpPr>
            <a:cxnSpLocks noChangeShapeType="1"/>
          </p:cNvCxnSpPr>
          <p:nvPr/>
        </p:nvCxnSpPr>
        <p:spPr bwMode="auto">
          <a:xfrm>
            <a:off x="5094288" y="1798638"/>
            <a:ext cx="503237" cy="1587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35" name="Rounded Rectangular Callout 234"/>
          <p:cNvSpPr>
            <a:spLocks noChangeArrowheads="1"/>
          </p:cNvSpPr>
          <p:nvPr/>
        </p:nvSpPr>
        <p:spPr bwMode="auto">
          <a:xfrm>
            <a:off x="7542213" y="1582738"/>
            <a:ext cx="1036637" cy="509587"/>
          </a:xfrm>
          <a:prstGeom prst="wedgeRoundRectCallout">
            <a:avLst>
              <a:gd name="adj1" fmla="val -174264"/>
              <a:gd name="adj2" fmla="val 55833"/>
              <a:gd name="adj3" fmla="val 16667"/>
            </a:avLst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400">
                <a:ea typeface="宋体" charset="-122"/>
              </a:rPr>
              <a:t>Release</a:t>
            </a:r>
            <a:endParaRPr lang="zh-CN" altLang="en-US" sz="1400">
              <a:ea typeface="宋体" charset="-122"/>
            </a:endParaRPr>
          </a:p>
        </p:txBody>
      </p:sp>
      <p:grpSp>
        <p:nvGrpSpPr>
          <p:cNvPr id="64" name="Group 235"/>
          <p:cNvGrpSpPr>
            <a:grpSpLocks/>
          </p:cNvGrpSpPr>
          <p:nvPr/>
        </p:nvGrpSpPr>
        <p:grpSpPr bwMode="auto">
          <a:xfrm>
            <a:off x="2952750" y="3846513"/>
            <a:ext cx="2949575" cy="2368550"/>
            <a:chOff x="2953062" y="3846513"/>
            <a:chExt cx="2949928" cy="2368185"/>
          </a:xfrm>
        </p:grpSpPr>
        <p:grpSp>
          <p:nvGrpSpPr>
            <p:cNvPr id="65" name="Group 244"/>
            <p:cNvGrpSpPr>
              <a:grpSpLocks/>
            </p:cNvGrpSpPr>
            <p:nvPr/>
          </p:nvGrpSpPr>
          <p:grpSpPr bwMode="auto">
            <a:xfrm>
              <a:off x="2953062" y="3846513"/>
              <a:ext cx="2949928" cy="1993900"/>
              <a:chOff x="2953062" y="3846513"/>
              <a:chExt cx="2949928" cy="1993900"/>
            </a:xfrm>
          </p:grpSpPr>
          <p:sp>
            <p:nvSpPr>
              <p:cNvPr id="16476" name="Flowchart: Or 238"/>
              <p:cNvSpPr>
                <a:spLocks noChangeArrowheads="1"/>
              </p:cNvSpPr>
              <p:nvPr/>
            </p:nvSpPr>
            <p:spPr bwMode="auto">
              <a:xfrm>
                <a:off x="4146550" y="5330825"/>
                <a:ext cx="560388" cy="509588"/>
              </a:xfrm>
              <a:prstGeom prst="flowChartOr">
                <a:avLst/>
              </a:prstGeom>
              <a:solidFill>
                <a:schemeClr val="accent1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0">
                  <a:ea typeface="宋体" charset="-122"/>
                </a:endParaRPr>
              </a:p>
            </p:txBody>
          </p:sp>
          <p:cxnSp>
            <p:nvCxnSpPr>
              <p:cNvPr id="16477" name="Straight Arrow Connector 239"/>
              <p:cNvCxnSpPr>
                <a:cxnSpLocks noChangeShapeType="1"/>
              </p:cNvCxnSpPr>
              <p:nvPr/>
            </p:nvCxnSpPr>
            <p:spPr bwMode="auto">
              <a:xfrm rot="10800000" flipV="1">
                <a:off x="4674265" y="3846513"/>
                <a:ext cx="1228725" cy="1558925"/>
              </a:xfrm>
              <a:prstGeom prst="straightConnector1">
                <a:avLst/>
              </a:prstGeom>
              <a:noFill/>
              <a:ln w="50800" algn="ctr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16478" name="Straight Arrow Connector 240"/>
              <p:cNvCxnSpPr>
                <a:cxnSpLocks noChangeShapeType="1"/>
              </p:cNvCxnSpPr>
              <p:nvPr/>
            </p:nvCxnSpPr>
            <p:spPr bwMode="auto">
              <a:xfrm rot="5400000">
                <a:off x="4631977" y="4334897"/>
                <a:ext cx="1365467" cy="1141403"/>
              </a:xfrm>
              <a:prstGeom prst="straightConnector1">
                <a:avLst/>
              </a:prstGeom>
              <a:noFill/>
              <a:ln w="50800" algn="ctr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16479" name="Straight Arrow Connector 241"/>
              <p:cNvCxnSpPr>
                <a:cxnSpLocks noChangeShapeType="1"/>
              </p:cNvCxnSpPr>
              <p:nvPr/>
            </p:nvCxnSpPr>
            <p:spPr bwMode="auto">
              <a:xfrm rot="16200000" flipV="1">
                <a:off x="2915587" y="4279691"/>
                <a:ext cx="1214204" cy="1139253"/>
              </a:xfrm>
              <a:prstGeom prst="straightConnector1">
                <a:avLst/>
              </a:prstGeom>
              <a:noFill/>
              <a:ln w="50800" algn="ctr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</p:grpSp>
        <p:sp>
          <p:nvSpPr>
            <p:cNvPr id="16475" name="TextBox 237"/>
            <p:cNvSpPr txBox="1">
              <a:spLocks noChangeArrowheads="1"/>
            </p:cNvSpPr>
            <p:nvPr/>
          </p:nvSpPr>
          <p:spPr bwMode="auto">
            <a:xfrm>
              <a:off x="4107305" y="5876144"/>
              <a:ext cx="64457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/>
                <a:t>Diff</a:t>
              </a:r>
            </a:p>
          </p:txBody>
        </p:sp>
      </p:grpSp>
      <p:grpSp>
        <p:nvGrpSpPr>
          <p:cNvPr id="66" name="Group 121"/>
          <p:cNvGrpSpPr/>
          <p:nvPr/>
        </p:nvGrpSpPr>
        <p:grpSpPr>
          <a:xfrm>
            <a:off x="5861154" y="3482895"/>
            <a:ext cx="1504950" cy="715962"/>
            <a:chOff x="1818328" y="3428271"/>
            <a:chExt cx="1504950" cy="715962"/>
          </a:xfrm>
          <a:solidFill>
            <a:srgbClr val="92D050"/>
          </a:solidFill>
        </p:grpSpPr>
        <p:sp>
          <p:nvSpPr>
            <p:cNvPr id="244" name="Rectangle 11"/>
            <p:cNvSpPr>
              <a:spLocks noChangeArrowheads="1"/>
            </p:cNvSpPr>
            <p:nvPr/>
          </p:nvSpPr>
          <p:spPr bwMode="auto">
            <a:xfrm>
              <a:off x="1818328" y="3428271"/>
              <a:ext cx="1504950" cy="715962"/>
            </a:xfrm>
            <a:prstGeom prst="rect">
              <a:avLst/>
            </a:prstGeom>
            <a:grpFill/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67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246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a:21</a:t>
                </a:r>
              </a:p>
            </p:txBody>
          </p:sp>
          <p:sp>
            <p:nvSpPr>
              <p:cNvPr id="247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b:1</a:t>
                </a:r>
              </a:p>
            </p:txBody>
          </p:sp>
        </p:grpSp>
      </p:grpSp>
      <p:grpSp>
        <p:nvGrpSpPr>
          <p:cNvPr id="68" name="Group 121"/>
          <p:cNvGrpSpPr/>
          <p:nvPr/>
        </p:nvGrpSpPr>
        <p:grpSpPr>
          <a:xfrm>
            <a:off x="2041161" y="3440422"/>
            <a:ext cx="1504950" cy="715962"/>
            <a:chOff x="1818328" y="3428271"/>
            <a:chExt cx="1504950" cy="715962"/>
          </a:xfrm>
          <a:solidFill>
            <a:srgbClr val="92D050"/>
          </a:solidFill>
        </p:grpSpPr>
        <p:sp>
          <p:nvSpPr>
            <p:cNvPr id="249" name="Rectangle 11"/>
            <p:cNvSpPr>
              <a:spLocks noChangeArrowheads="1"/>
            </p:cNvSpPr>
            <p:nvPr/>
          </p:nvSpPr>
          <p:spPr bwMode="auto">
            <a:xfrm>
              <a:off x="1818328" y="3428271"/>
              <a:ext cx="1504950" cy="715962"/>
            </a:xfrm>
            <a:prstGeom prst="rect">
              <a:avLst/>
            </a:prstGeom>
            <a:grpFill/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69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251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a:21</a:t>
                </a:r>
              </a:p>
            </p:txBody>
          </p:sp>
          <p:sp>
            <p:nvSpPr>
              <p:cNvPr id="252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b:1</a:t>
                </a:r>
              </a:p>
            </p:txBody>
          </p:sp>
        </p:grpSp>
      </p:grpSp>
      <p:cxnSp>
        <p:nvCxnSpPr>
          <p:cNvPr id="253" name="Straight Arrow Connector 13"/>
          <p:cNvCxnSpPr>
            <a:cxnSpLocks noChangeShapeType="1"/>
          </p:cNvCxnSpPr>
          <p:nvPr/>
        </p:nvCxnSpPr>
        <p:spPr bwMode="auto">
          <a:xfrm>
            <a:off x="5051425" y="2041525"/>
            <a:ext cx="503238" cy="1588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60" name="Rectangle 11"/>
          <p:cNvSpPr>
            <a:spLocks noChangeArrowheads="1"/>
          </p:cNvSpPr>
          <p:nvPr/>
        </p:nvSpPr>
        <p:spPr bwMode="auto">
          <a:xfrm>
            <a:off x="631825" y="5149850"/>
            <a:ext cx="904875" cy="420688"/>
          </a:xfrm>
          <a:prstGeom prst="rect">
            <a:avLst/>
          </a:prstGeom>
          <a:solidFill>
            <a:srgbClr val="096DBF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200">
                <a:ea typeface="宋体" charset="-122"/>
              </a:rPr>
              <a:t>dirty</a:t>
            </a:r>
          </a:p>
        </p:txBody>
      </p:sp>
      <p:sp>
        <p:nvSpPr>
          <p:cNvPr id="106" name="Rectangle 11"/>
          <p:cNvSpPr>
            <a:spLocks noChangeArrowheads="1"/>
          </p:cNvSpPr>
          <p:nvPr/>
        </p:nvSpPr>
        <p:spPr bwMode="auto">
          <a:xfrm>
            <a:off x="576263" y="4056063"/>
            <a:ext cx="904875" cy="420687"/>
          </a:xfrm>
          <a:prstGeom prst="rect">
            <a:avLst/>
          </a:prstGeom>
          <a:solidFill>
            <a:srgbClr val="096DBF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200">
                <a:ea typeface="宋体" charset="-122"/>
              </a:rPr>
              <a:t>dirty</a:t>
            </a:r>
          </a:p>
        </p:txBody>
      </p:sp>
      <p:sp>
        <p:nvSpPr>
          <p:cNvPr id="16473" name="Slide Number Placeholder 16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0EE0238-BEFD-4721-BA09-C764A514A1D7}" type="slidenum">
              <a:rPr lang="en-US" altLang="zh-CN"/>
              <a:pPr/>
              <a:t>10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1.32948E-6 L -2.77778E-7 0.08694 " pathEditMode="fixed" rAng="0" ptsTypes="AA">
                                      <p:cBhvr>
                                        <p:cTn id="6" dur="10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-0.00069 L 0.00347 0.02567 " pathEditMode="fixed" rAng="0" ptsTypes="AA">
                                      <p:cBhvr>
                                        <p:cTn id="37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" y="13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4 0.00463 L 0.00365 0.03099 " pathEditMode="fixed" rAng="0" ptsTypes="AA">
                                      <p:cBhvr>
                                        <p:cTn id="61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" y="13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9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 0.00648 L 0.00122 0.03284 " pathEditMode="fixed" rAng="0" ptsTypes="AA">
                                      <p:cBhvr>
                                        <p:cTn id="92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" y="13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4.85549E-6 L 0.43611 -0.13735 " pathEditMode="fixed" rAng="0" ptsTypes="AA">
                                      <p:cBhvr>
                                        <p:cTn id="107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8" y="-69"/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4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3.17919E-6 L 2.22222E-6 0.05641 " pathEditMode="fixed" rAng="0" ptsTypes="AA">
                                      <p:cBhvr>
                                        <p:cTn id="127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"/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3.98844E-6 L 0.18281 0.15722 " pathEditMode="relative" rAng="0" ptsTypes="AA">
                                      <p:cBhvr>
                                        <p:cTn id="13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7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07 -0.00925 L 0.22761 -0.16624 " pathEditMode="relative" rAng="0" ptsTypes="AA">
                                      <p:cBhvr>
                                        <p:cTn id="15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" y="-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1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3.69942E-6 L 0.0033 0.03237 " pathEditMode="fixed" rAng="0" ptsTypes="AA">
                                      <p:cBhvr>
                                        <p:cTn id="164" dur="10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" y="16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4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8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2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0.00416 L 1.38889E-6 0.03907 " pathEditMode="fixed" rAng="0" ptsTypes="AA">
                                      <p:cBhvr>
                                        <p:cTn id="194" dur="1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00"/>
                            </p:stCondLst>
                            <p:childTnLst>
                              <p:par>
                                <p:cTn id="20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9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1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4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2.60116E-6 L -0.4375 0.04116 " pathEditMode="fixed" rAng="0" ptsTypes="AA">
                                      <p:cBhvr>
                                        <p:cTn id="227" dur="1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9" y="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 animBg="1"/>
      <p:bldP spid="164" grpId="1" animBg="1"/>
      <p:bldP spid="177" grpId="0" animBg="1"/>
      <p:bldP spid="177" grpId="1" animBg="1"/>
      <p:bldP spid="179" grpId="0" animBg="1"/>
      <p:bldP spid="179" grpId="1" animBg="1"/>
      <p:bldP spid="194" grpId="0" animBg="1"/>
      <p:bldP spid="194" grpId="1" animBg="1"/>
      <p:bldP spid="155" grpId="0" animBg="1"/>
      <p:bldP spid="155" grpId="1" animBg="1"/>
      <p:bldP spid="201" grpId="0" animBg="1"/>
      <p:bldP spid="201" grpId="1" animBg="1"/>
      <p:bldP spid="222" grpId="0" animBg="1"/>
      <p:bldP spid="222" grpId="1" animBg="1"/>
      <p:bldP spid="228" grpId="0" animBg="1"/>
      <p:bldP spid="228" grpId="1" animBg="1"/>
      <p:bldP spid="235" grpId="0" animBg="1"/>
      <p:bldP spid="235" grpId="1" animBg="1"/>
      <p:bldP spid="160" grpId="0" animBg="1"/>
      <p:bldP spid="106" grpId="0" animBg="1"/>
      <p:bldP spid="106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1"/>
          <p:cNvSpPr>
            <a:spLocks noChangeArrowheads="1"/>
          </p:cNvSpPr>
          <p:nvPr/>
        </p:nvSpPr>
        <p:spPr bwMode="auto">
          <a:xfrm>
            <a:off x="3706813" y="3470275"/>
            <a:ext cx="1612900" cy="1800225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800">
                <a:ea typeface="宋体" charset="-122"/>
              </a:rPr>
              <a:t>PCI </a:t>
            </a:r>
          </a:p>
          <a:p>
            <a:r>
              <a:rPr lang="en-US" altLang="zh-CN" sz="1800">
                <a:ea typeface="宋体" charset="-122"/>
              </a:rPr>
              <a:t>Aperture</a:t>
            </a:r>
          </a:p>
          <a:p>
            <a:endParaRPr lang="en-US" altLang="zh-CN" sz="1800">
              <a:ea typeface="宋体" charset="-122"/>
            </a:endParaRPr>
          </a:p>
          <a:p>
            <a:endParaRPr lang="en-US" altLang="zh-CN" sz="1800">
              <a:ea typeface="宋体" charset="-122"/>
            </a:endParaRPr>
          </a:p>
          <a:p>
            <a:endParaRPr lang="en-US" altLang="zh-CN" sz="1800">
              <a:ea typeface="宋体" charset="-122"/>
            </a:endParaRPr>
          </a:p>
        </p:txBody>
      </p:sp>
      <p:sp>
        <p:nvSpPr>
          <p:cNvPr id="17411" name="Rectangle 11"/>
          <p:cNvSpPr>
            <a:spLocks noChangeArrowheads="1"/>
          </p:cNvSpPr>
          <p:nvPr/>
        </p:nvSpPr>
        <p:spPr bwMode="auto">
          <a:xfrm>
            <a:off x="7499350" y="4070350"/>
            <a:ext cx="1371600" cy="684213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7412" name="Rectangle 11"/>
          <p:cNvSpPr>
            <a:spLocks noChangeArrowheads="1"/>
          </p:cNvSpPr>
          <p:nvPr/>
        </p:nvSpPr>
        <p:spPr bwMode="auto">
          <a:xfrm>
            <a:off x="2038350" y="3452813"/>
            <a:ext cx="1504950" cy="715962"/>
          </a:xfrm>
          <a:prstGeom prst="rect">
            <a:avLst/>
          </a:prstGeom>
          <a:solidFill>
            <a:srgbClr val="92D05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grpSp>
        <p:nvGrpSpPr>
          <p:cNvPr id="2" name="Group 111"/>
          <p:cNvGrpSpPr/>
          <p:nvPr/>
        </p:nvGrpSpPr>
        <p:grpSpPr>
          <a:xfrm>
            <a:off x="2021200" y="3418460"/>
            <a:ext cx="1504950" cy="715962"/>
            <a:chOff x="1833568" y="3428271"/>
            <a:chExt cx="1504950" cy="715962"/>
          </a:xfrm>
          <a:solidFill>
            <a:srgbClr val="F4727B"/>
          </a:solidFill>
        </p:grpSpPr>
        <p:sp>
          <p:nvSpPr>
            <p:cNvPr id="113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solidFill>
              <a:srgbClr val="92D05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3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115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solidFill>
                <a:srgbClr val="92D05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a:0</a:t>
                </a:r>
              </a:p>
            </p:txBody>
          </p:sp>
          <p:sp>
            <p:nvSpPr>
              <p:cNvPr id="116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solidFill>
                <a:srgbClr val="92D05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b:0</a:t>
                </a:r>
              </a:p>
            </p:txBody>
          </p:sp>
        </p:grpSp>
      </p:grpSp>
      <p:grpSp>
        <p:nvGrpSpPr>
          <p:cNvPr id="4" name="Group 93"/>
          <p:cNvGrpSpPr/>
          <p:nvPr/>
        </p:nvGrpSpPr>
        <p:grpSpPr>
          <a:xfrm>
            <a:off x="2043257" y="3440936"/>
            <a:ext cx="1504950" cy="715962"/>
            <a:chOff x="1833568" y="3428271"/>
            <a:chExt cx="1504950" cy="715962"/>
          </a:xfrm>
          <a:solidFill>
            <a:srgbClr val="096DBF"/>
          </a:solidFill>
        </p:grpSpPr>
        <p:sp>
          <p:nvSpPr>
            <p:cNvPr id="95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grpFill/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5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97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a:0</a:t>
                </a:r>
              </a:p>
            </p:txBody>
          </p:sp>
          <p:sp>
            <p:nvSpPr>
              <p:cNvPr id="98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b:0</a:t>
                </a:r>
              </a:p>
            </p:txBody>
          </p:sp>
        </p:grpSp>
      </p:grpSp>
      <p:sp>
        <p:nvSpPr>
          <p:cNvPr id="17415" name="Rectangle 11"/>
          <p:cNvSpPr>
            <a:spLocks noChangeArrowheads="1"/>
          </p:cNvSpPr>
          <p:nvPr/>
        </p:nvSpPr>
        <p:spPr bwMode="auto">
          <a:xfrm>
            <a:off x="341313" y="3954463"/>
            <a:ext cx="1371600" cy="684212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grpSp>
        <p:nvGrpSpPr>
          <p:cNvPr id="6" name="Group 121"/>
          <p:cNvGrpSpPr/>
          <p:nvPr/>
        </p:nvGrpSpPr>
        <p:grpSpPr>
          <a:xfrm>
            <a:off x="5852337" y="3487744"/>
            <a:ext cx="1504950" cy="715962"/>
            <a:chOff x="1833568" y="3428271"/>
            <a:chExt cx="1504950" cy="715962"/>
          </a:xfrm>
          <a:solidFill>
            <a:srgbClr val="F4727B"/>
          </a:solidFill>
        </p:grpSpPr>
        <p:sp>
          <p:nvSpPr>
            <p:cNvPr id="123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solidFill>
              <a:srgbClr val="92D05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7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125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solidFill>
                <a:srgbClr val="92D05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a:0</a:t>
                </a:r>
              </a:p>
            </p:txBody>
          </p:sp>
          <p:sp>
            <p:nvSpPr>
              <p:cNvPr id="126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solidFill>
                <a:srgbClr val="92D05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b:0</a:t>
                </a:r>
              </a:p>
            </p:txBody>
          </p:sp>
        </p:grpSp>
      </p:grpSp>
      <p:sp>
        <p:nvSpPr>
          <p:cNvPr id="174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charset="-122"/>
              </a:rPr>
              <a:t>Our mode example (Eager Update)</a:t>
            </a:r>
            <a:endParaRPr lang="zh-CN" altLang="en-US" smtClean="0">
              <a:ea typeface="宋体" charset="-122"/>
            </a:endParaRPr>
          </a:p>
        </p:txBody>
      </p:sp>
      <p:sp>
        <p:nvSpPr>
          <p:cNvPr id="10" name="Round Single Corner Rectangle 9"/>
          <p:cNvSpPr/>
          <p:nvPr/>
        </p:nvSpPr>
        <p:spPr bwMode="auto">
          <a:xfrm>
            <a:off x="5608638" y="747713"/>
            <a:ext cx="2265362" cy="1884362"/>
          </a:xfrm>
          <a:prstGeom prst="round1Rect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l">
              <a:defRPr/>
            </a:pPr>
            <a:r>
              <a:rPr lang="en-US" altLang="zh-CN" sz="1200" dirty="0" err="1" smtClean="0">
                <a:ea typeface="宋体" charset="-122"/>
              </a:rPr>
              <a:t>mic_foo</a:t>
            </a:r>
            <a:r>
              <a:rPr lang="en-US" altLang="zh-CN" sz="1200" dirty="0">
                <a:ea typeface="宋体" charset="-122"/>
              </a:rPr>
              <a:t>(){</a:t>
            </a:r>
          </a:p>
          <a:p>
            <a:pPr algn="l">
              <a:defRPr/>
            </a:pPr>
            <a:r>
              <a:rPr lang="en-US" altLang="zh-CN" sz="1200" dirty="0">
                <a:ea typeface="宋体" charset="-122"/>
              </a:rPr>
              <a:t>…</a:t>
            </a:r>
          </a:p>
          <a:p>
            <a:pPr algn="l">
              <a:defRPr/>
            </a:pPr>
            <a:r>
              <a:rPr lang="en-US" altLang="zh-CN" sz="1200" dirty="0" err="1">
                <a:ea typeface="宋体" charset="-122"/>
              </a:rPr>
              <a:t>tmp</a:t>
            </a:r>
            <a:r>
              <a:rPr lang="en-US" altLang="zh-CN" sz="1200" dirty="0">
                <a:ea typeface="宋体" charset="-122"/>
              </a:rPr>
              <a:t>= b + 20;</a:t>
            </a:r>
          </a:p>
          <a:p>
            <a:pPr algn="l">
              <a:defRPr/>
            </a:pPr>
            <a:r>
              <a:rPr lang="en-US" altLang="zh-CN" sz="1200" dirty="0">
                <a:ea typeface="宋体" charset="-122"/>
              </a:rPr>
              <a:t>a=</a:t>
            </a:r>
            <a:r>
              <a:rPr lang="en-US" altLang="zh-CN" sz="1200" dirty="0" err="1">
                <a:ea typeface="宋体" charset="-122"/>
              </a:rPr>
              <a:t>tmp</a:t>
            </a:r>
            <a:r>
              <a:rPr lang="en-US" altLang="zh-CN" sz="1200" dirty="0">
                <a:ea typeface="宋体" charset="-122"/>
              </a:rPr>
              <a:t>;</a:t>
            </a:r>
          </a:p>
          <a:p>
            <a:pPr algn="l">
              <a:defRPr/>
            </a:pPr>
            <a:r>
              <a:rPr lang="en-US" altLang="zh-CN" sz="1200" dirty="0">
                <a:ea typeface="宋体" charset="-122"/>
              </a:rPr>
              <a:t>}</a:t>
            </a:r>
            <a:endParaRPr lang="zh-CN" altLang="en-US" sz="1200" dirty="0">
              <a:ea typeface="宋体" charset="-122"/>
            </a:endParaRPr>
          </a:p>
          <a:p>
            <a:pPr algn="l">
              <a:defRPr/>
            </a:pPr>
            <a:endParaRPr lang="zh-CN" altLang="en-US" sz="1200" dirty="0">
              <a:ea typeface="宋体" charset="-122"/>
            </a:endParaRPr>
          </a:p>
        </p:txBody>
      </p:sp>
      <p:sp>
        <p:nvSpPr>
          <p:cNvPr id="11" name="Round Single Corner Rectangle 10"/>
          <p:cNvSpPr/>
          <p:nvPr/>
        </p:nvSpPr>
        <p:spPr bwMode="auto">
          <a:xfrm>
            <a:off x="1635125" y="811213"/>
            <a:ext cx="2509838" cy="1876425"/>
          </a:xfrm>
          <a:prstGeom prst="round1Rect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l">
              <a:defRPr/>
            </a:pPr>
            <a:r>
              <a:rPr lang="en-US" altLang="zh-CN" sz="1200" dirty="0">
                <a:ea typeface="宋体" charset="-122"/>
              </a:rPr>
              <a:t>//a, b are in page P</a:t>
            </a:r>
            <a:r>
              <a:rPr lang="en-US" altLang="zh-CN" sz="1200" baseline="-25000" dirty="0">
                <a:ea typeface="宋体" charset="-122"/>
              </a:rPr>
              <a:t>i</a:t>
            </a:r>
          </a:p>
          <a:p>
            <a:pPr algn="l">
              <a:defRPr/>
            </a:pPr>
            <a:r>
              <a:rPr lang="en-US" altLang="zh-CN" sz="1200" dirty="0">
                <a:ea typeface="宋体" charset="-122"/>
              </a:rPr>
              <a:t>// c is in page </a:t>
            </a:r>
            <a:r>
              <a:rPr lang="en-US" altLang="zh-CN" sz="1200" dirty="0" err="1">
                <a:ea typeface="宋体" charset="-122"/>
              </a:rPr>
              <a:t>P</a:t>
            </a:r>
            <a:r>
              <a:rPr lang="en-US" altLang="zh-CN" sz="1200" baseline="-25000" dirty="0" err="1">
                <a:ea typeface="宋体" charset="-122"/>
              </a:rPr>
              <a:t>k</a:t>
            </a:r>
            <a:endParaRPr lang="en-US" altLang="zh-CN" sz="1200" baseline="-25000" dirty="0">
              <a:ea typeface="宋体" charset="-122"/>
            </a:endParaRPr>
          </a:p>
          <a:p>
            <a:pPr algn="l">
              <a:defRPr/>
            </a:pPr>
            <a:r>
              <a:rPr lang="en-US" altLang="zh-CN" sz="1200" dirty="0">
                <a:ea typeface="宋体" charset="-122"/>
              </a:rPr>
              <a:t>…</a:t>
            </a:r>
            <a:endParaRPr lang="en-US" altLang="zh-CN" sz="1200" dirty="0">
              <a:solidFill>
                <a:schemeClr val="tx2"/>
              </a:solidFill>
              <a:ea typeface="宋体" charset="-122"/>
            </a:endParaRPr>
          </a:p>
          <a:p>
            <a:pPr algn="l">
              <a:defRPr/>
            </a:pPr>
            <a:r>
              <a:rPr lang="en-US" altLang="zh-CN" sz="1200" dirty="0">
                <a:ea typeface="宋体" charset="-122"/>
              </a:rPr>
              <a:t>a=10;</a:t>
            </a:r>
          </a:p>
          <a:p>
            <a:pPr algn="l">
              <a:defRPr/>
            </a:pPr>
            <a:r>
              <a:rPr lang="en-US" altLang="zh-CN" sz="1200" dirty="0">
                <a:ea typeface="宋体" charset="-122"/>
              </a:rPr>
              <a:t>b=1;</a:t>
            </a:r>
          </a:p>
          <a:p>
            <a:pPr algn="l">
              <a:defRPr/>
            </a:pPr>
            <a:r>
              <a:rPr lang="en-US" altLang="zh-CN" sz="1200" dirty="0">
                <a:ea typeface="宋体" charset="-122"/>
              </a:rPr>
              <a:t>c=b;</a:t>
            </a:r>
          </a:p>
          <a:p>
            <a:pPr algn="l">
              <a:defRPr/>
            </a:pPr>
            <a:r>
              <a:rPr lang="en-US" altLang="zh-CN" sz="1200" dirty="0" err="1" smtClean="0">
                <a:ea typeface="宋体" charset="-122"/>
              </a:rPr>
              <a:t>mic_foo</a:t>
            </a:r>
            <a:r>
              <a:rPr lang="en-US" altLang="zh-CN" sz="1200" dirty="0">
                <a:ea typeface="宋体" charset="-122"/>
              </a:rPr>
              <a:t>(); // remote call</a:t>
            </a:r>
          </a:p>
          <a:p>
            <a:pPr algn="l">
              <a:defRPr/>
            </a:pPr>
            <a:r>
              <a:rPr lang="en-US" altLang="zh-CN" sz="1200" dirty="0" err="1">
                <a:ea typeface="宋体" charset="-122"/>
              </a:rPr>
              <a:t>tmp</a:t>
            </a:r>
            <a:r>
              <a:rPr lang="en-US" altLang="zh-CN" sz="1200" dirty="0">
                <a:ea typeface="宋体" charset="-122"/>
              </a:rPr>
              <a:t>=a;</a:t>
            </a:r>
          </a:p>
          <a:p>
            <a:pPr algn="l">
              <a:defRPr/>
            </a:pPr>
            <a:endParaRPr lang="zh-CN" altLang="en-US" sz="1200" dirty="0">
              <a:ea typeface="宋体" charset="-122"/>
            </a:endParaRPr>
          </a:p>
        </p:txBody>
      </p:sp>
      <p:sp>
        <p:nvSpPr>
          <p:cNvPr id="17420" name="Rectangle 11"/>
          <p:cNvSpPr>
            <a:spLocks noChangeArrowheads="1"/>
          </p:cNvSpPr>
          <p:nvPr/>
        </p:nvSpPr>
        <p:spPr bwMode="auto">
          <a:xfrm>
            <a:off x="2030413" y="4164013"/>
            <a:ext cx="1504950" cy="715962"/>
          </a:xfrm>
          <a:prstGeom prst="rect">
            <a:avLst/>
          </a:prstGeom>
          <a:solidFill>
            <a:srgbClr val="92D05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cxnSp>
        <p:nvCxnSpPr>
          <p:cNvPr id="12297" name="Straight Arrow Connector 13"/>
          <p:cNvCxnSpPr>
            <a:cxnSpLocks noChangeShapeType="1"/>
          </p:cNvCxnSpPr>
          <p:nvPr/>
        </p:nvCxnSpPr>
        <p:spPr bwMode="auto">
          <a:xfrm>
            <a:off x="1114425" y="936625"/>
            <a:ext cx="503238" cy="1588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7422" name="Rectangle 11"/>
          <p:cNvSpPr>
            <a:spLocks noChangeArrowheads="1"/>
          </p:cNvSpPr>
          <p:nvPr/>
        </p:nvSpPr>
        <p:spPr bwMode="auto">
          <a:xfrm>
            <a:off x="2025650" y="5530850"/>
            <a:ext cx="1504950" cy="715963"/>
          </a:xfrm>
          <a:prstGeom prst="rect">
            <a:avLst/>
          </a:prstGeom>
          <a:solidFill>
            <a:srgbClr val="92D05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7423" name="Rectangle 11"/>
          <p:cNvSpPr>
            <a:spLocks noChangeArrowheads="1"/>
          </p:cNvSpPr>
          <p:nvPr/>
        </p:nvSpPr>
        <p:spPr bwMode="auto">
          <a:xfrm>
            <a:off x="2032000" y="3055938"/>
            <a:ext cx="1504950" cy="365125"/>
          </a:xfrm>
          <a:prstGeom prst="rect">
            <a:avLst/>
          </a:prstGeom>
          <a:solidFill>
            <a:srgbClr val="92D05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>
                <a:ea typeface="宋体" charset="-122"/>
              </a:rPr>
              <a:t>…</a:t>
            </a:r>
            <a:endParaRPr lang="zh-CN" altLang="en-US">
              <a:ea typeface="宋体" charset="-122"/>
            </a:endParaRPr>
          </a:p>
        </p:txBody>
      </p:sp>
      <p:sp>
        <p:nvSpPr>
          <p:cNvPr id="17424" name="Rectangle 11"/>
          <p:cNvSpPr>
            <a:spLocks noChangeArrowheads="1"/>
          </p:cNvSpPr>
          <p:nvPr/>
        </p:nvSpPr>
        <p:spPr bwMode="auto">
          <a:xfrm>
            <a:off x="5849938" y="4216400"/>
            <a:ext cx="1504950" cy="715963"/>
          </a:xfrm>
          <a:prstGeom prst="rect">
            <a:avLst/>
          </a:prstGeom>
          <a:solidFill>
            <a:srgbClr val="92D05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7425" name="Rectangle 11"/>
          <p:cNvSpPr>
            <a:spLocks noChangeArrowheads="1"/>
          </p:cNvSpPr>
          <p:nvPr/>
        </p:nvSpPr>
        <p:spPr bwMode="auto">
          <a:xfrm>
            <a:off x="5845175" y="5583238"/>
            <a:ext cx="1504950" cy="715962"/>
          </a:xfrm>
          <a:prstGeom prst="rect">
            <a:avLst/>
          </a:prstGeom>
          <a:solidFill>
            <a:srgbClr val="92D05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7426" name="Rectangle 11"/>
          <p:cNvSpPr>
            <a:spLocks noChangeArrowheads="1"/>
          </p:cNvSpPr>
          <p:nvPr/>
        </p:nvSpPr>
        <p:spPr bwMode="auto">
          <a:xfrm>
            <a:off x="5851525" y="3106738"/>
            <a:ext cx="1504950" cy="366712"/>
          </a:xfrm>
          <a:prstGeom prst="rect">
            <a:avLst/>
          </a:prstGeom>
          <a:solidFill>
            <a:srgbClr val="92D05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>
                <a:ea typeface="宋体" charset="-122"/>
              </a:rPr>
              <a:t>…</a:t>
            </a:r>
            <a:endParaRPr lang="zh-CN" altLang="en-US">
              <a:ea typeface="宋体" charset="-122"/>
            </a:endParaRPr>
          </a:p>
        </p:txBody>
      </p:sp>
      <p:sp>
        <p:nvSpPr>
          <p:cNvPr id="17427" name="Rectangle 11"/>
          <p:cNvSpPr>
            <a:spLocks noChangeArrowheads="1"/>
          </p:cNvSpPr>
          <p:nvPr/>
        </p:nvSpPr>
        <p:spPr bwMode="auto">
          <a:xfrm>
            <a:off x="7748588" y="4211638"/>
            <a:ext cx="903287" cy="420687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200">
                <a:ea typeface="宋体" charset="-122"/>
              </a:rPr>
              <a:t>clean</a:t>
            </a:r>
          </a:p>
        </p:txBody>
      </p:sp>
      <p:sp>
        <p:nvSpPr>
          <p:cNvPr id="17428" name="Text Box 26"/>
          <p:cNvSpPr txBox="1">
            <a:spLocks noChangeArrowheads="1"/>
          </p:cNvSpPr>
          <p:nvPr/>
        </p:nvSpPr>
        <p:spPr bwMode="auto">
          <a:xfrm>
            <a:off x="1430338" y="2863850"/>
            <a:ext cx="900112" cy="336550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ea typeface="宋体" charset="-122"/>
              </a:rPr>
              <a:t>P</a:t>
            </a:r>
            <a:r>
              <a:rPr lang="en-US" altLang="zh-CN" sz="1600" baseline="-25000">
                <a:ea typeface="宋体" charset="-122"/>
              </a:rPr>
              <a:t>0</a:t>
            </a:r>
          </a:p>
        </p:txBody>
      </p:sp>
      <p:sp>
        <p:nvSpPr>
          <p:cNvPr id="17429" name="Text Box 27"/>
          <p:cNvSpPr txBox="1">
            <a:spLocks noChangeArrowheads="1"/>
          </p:cNvSpPr>
          <p:nvPr/>
        </p:nvSpPr>
        <p:spPr bwMode="auto">
          <a:xfrm>
            <a:off x="1689100" y="3284538"/>
            <a:ext cx="431800" cy="339725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ea typeface="宋体" charset="-122"/>
              </a:rPr>
              <a:t>P</a:t>
            </a:r>
            <a:r>
              <a:rPr lang="en-US" altLang="zh-CN" sz="1600" baseline="-25000">
                <a:ea typeface="宋体" charset="-122"/>
              </a:rPr>
              <a:t>i</a:t>
            </a:r>
          </a:p>
        </p:txBody>
      </p:sp>
      <p:sp>
        <p:nvSpPr>
          <p:cNvPr id="17430" name="Text Box 26"/>
          <p:cNvSpPr txBox="1">
            <a:spLocks noChangeArrowheads="1"/>
          </p:cNvSpPr>
          <p:nvPr/>
        </p:nvSpPr>
        <p:spPr bwMode="auto">
          <a:xfrm>
            <a:off x="5268913" y="2921000"/>
            <a:ext cx="900112" cy="336550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ea typeface="宋体" charset="-122"/>
              </a:rPr>
              <a:t>P</a:t>
            </a:r>
            <a:r>
              <a:rPr lang="en-US" altLang="zh-CN" sz="1600" baseline="-25000">
                <a:ea typeface="宋体" charset="-122"/>
              </a:rPr>
              <a:t>0</a:t>
            </a:r>
          </a:p>
        </p:txBody>
      </p:sp>
      <p:sp>
        <p:nvSpPr>
          <p:cNvPr id="17431" name="Text Box 27"/>
          <p:cNvSpPr txBox="1">
            <a:spLocks noChangeArrowheads="1"/>
          </p:cNvSpPr>
          <p:nvPr/>
        </p:nvSpPr>
        <p:spPr bwMode="auto">
          <a:xfrm>
            <a:off x="5475288" y="3414713"/>
            <a:ext cx="431800" cy="338137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ea typeface="宋体" charset="-122"/>
              </a:rPr>
              <a:t>P</a:t>
            </a:r>
            <a:r>
              <a:rPr lang="en-US" altLang="zh-CN" sz="1600" baseline="-25000">
                <a:ea typeface="宋体" charset="-122"/>
              </a:rPr>
              <a:t>i</a:t>
            </a:r>
          </a:p>
        </p:txBody>
      </p:sp>
      <p:sp>
        <p:nvSpPr>
          <p:cNvPr id="17432" name="Text Box 27"/>
          <p:cNvSpPr txBox="1">
            <a:spLocks noChangeArrowheads="1"/>
          </p:cNvSpPr>
          <p:nvPr/>
        </p:nvSpPr>
        <p:spPr bwMode="auto">
          <a:xfrm>
            <a:off x="-82550" y="3771900"/>
            <a:ext cx="431800" cy="338138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ea typeface="宋体" charset="-122"/>
              </a:rPr>
              <a:t>P</a:t>
            </a:r>
            <a:r>
              <a:rPr lang="en-US" altLang="zh-CN" sz="1600" baseline="-25000">
                <a:ea typeface="宋体" charset="-122"/>
              </a:rPr>
              <a:t>i</a:t>
            </a:r>
          </a:p>
        </p:txBody>
      </p:sp>
      <p:sp>
        <p:nvSpPr>
          <p:cNvPr id="17433" name="Text Box 27"/>
          <p:cNvSpPr txBox="1">
            <a:spLocks noChangeArrowheads="1"/>
          </p:cNvSpPr>
          <p:nvPr/>
        </p:nvSpPr>
        <p:spPr bwMode="auto">
          <a:xfrm>
            <a:off x="8804275" y="4233863"/>
            <a:ext cx="431800" cy="339725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ea typeface="宋体" charset="-122"/>
              </a:rPr>
              <a:t>P</a:t>
            </a:r>
            <a:r>
              <a:rPr lang="en-US" altLang="zh-CN" sz="1600" baseline="-25000">
                <a:ea typeface="宋体" charset="-122"/>
              </a:rPr>
              <a:t>i</a:t>
            </a:r>
          </a:p>
        </p:txBody>
      </p:sp>
      <p:sp>
        <p:nvSpPr>
          <p:cNvPr id="17434" name="Rectangle 11"/>
          <p:cNvSpPr>
            <a:spLocks noChangeArrowheads="1"/>
          </p:cNvSpPr>
          <p:nvPr/>
        </p:nvSpPr>
        <p:spPr bwMode="auto">
          <a:xfrm>
            <a:off x="554038" y="5153025"/>
            <a:ext cx="904875" cy="420688"/>
          </a:xfrm>
          <a:prstGeom prst="rect">
            <a:avLst/>
          </a:prstGeom>
          <a:solidFill>
            <a:srgbClr val="096DBF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200">
                <a:ea typeface="宋体" charset="-122"/>
              </a:rPr>
              <a:t>dirty</a:t>
            </a:r>
          </a:p>
        </p:txBody>
      </p:sp>
      <p:sp>
        <p:nvSpPr>
          <p:cNvPr id="17435" name="TextBox 42"/>
          <p:cNvSpPr txBox="1">
            <a:spLocks noChangeArrowheads="1"/>
          </p:cNvSpPr>
          <p:nvPr/>
        </p:nvSpPr>
        <p:spPr bwMode="auto">
          <a:xfrm>
            <a:off x="369888" y="3157538"/>
            <a:ext cx="11652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>
                <a:ea typeface="宋体" charset="-122"/>
              </a:rPr>
              <a:t>Directory</a:t>
            </a:r>
          </a:p>
        </p:txBody>
      </p:sp>
      <p:sp>
        <p:nvSpPr>
          <p:cNvPr id="17436" name="Rectangle 11"/>
          <p:cNvSpPr>
            <a:spLocks noChangeArrowheads="1"/>
          </p:cNvSpPr>
          <p:nvPr/>
        </p:nvSpPr>
        <p:spPr bwMode="auto">
          <a:xfrm>
            <a:off x="347663" y="5662613"/>
            <a:ext cx="1371600" cy="363537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>
                <a:ea typeface="宋体" charset="-122"/>
              </a:rPr>
              <a:t>…</a:t>
            </a:r>
            <a:endParaRPr lang="zh-CN" altLang="en-US">
              <a:ea typeface="宋体" charset="-122"/>
            </a:endParaRPr>
          </a:p>
        </p:txBody>
      </p:sp>
      <p:sp>
        <p:nvSpPr>
          <p:cNvPr id="17437" name="Rectangle 11"/>
          <p:cNvSpPr>
            <a:spLocks noChangeArrowheads="1"/>
          </p:cNvSpPr>
          <p:nvPr/>
        </p:nvSpPr>
        <p:spPr bwMode="auto">
          <a:xfrm>
            <a:off x="344488" y="3570288"/>
            <a:ext cx="1371600" cy="365125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>
                <a:ea typeface="宋体" charset="-122"/>
              </a:rPr>
              <a:t>…</a:t>
            </a:r>
            <a:endParaRPr lang="zh-CN" altLang="en-US">
              <a:ea typeface="宋体" charset="-122"/>
            </a:endParaRPr>
          </a:p>
        </p:txBody>
      </p:sp>
      <p:sp>
        <p:nvSpPr>
          <p:cNvPr id="17438" name="Rectangle 11"/>
          <p:cNvSpPr>
            <a:spLocks noChangeArrowheads="1"/>
          </p:cNvSpPr>
          <p:nvPr/>
        </p:nvSpPr>
        <p:spPr bwMode="auto">
          <a:xfrm>
            <a:off x="347663" y="4637088"/>
            <a:ext cx="1371600" cy="363537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>
                <a:ea typeface="宋体" charset="-122"/>
              </a:rPr>
              <a:t>…</a:t>
            </a:r>
            <a:endParaRPr lang="zh-CN" altLang="en-US">
              <a:ea typeface="宋体" charset="-122"/>
            </a:endParaRPr>
          </a:p>
        </p:txBody>
      </p:sp>
      <p:sp>
        <p:nvSpPr>
          <p:cNvPr id="17439" name="Rectangle 11"/>
          <p:cNvSpPr>
            <a:spLocks noChangeArrowheads="1"/>
          </p:cNvSpPr>
          <p:nvPr/>
        </p:nvSpPr>
        <p:spPr bwMode="auto">
          <a:xfrm>
            <a:off x="7508875" y="3692525"/>
            <a:ext cx="1371600" cy="363538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>
                <a:ea typeface="宋体" charset="-122"/>
              </a:rPr>
              <a:t>…</a:t>
            </a:r>
            <a:endParaRPr lang="zh-CN" altLang="en-US">
              <a:ea typeface="宋体" charset="-122"/>
            </a:endParaRPr>
          </a:p>
        </p:txBody>
      </p:sp>
      <p:sp>
        <p:nvSpPr>
          <p:cNvPr id="17440" name="TextBox 42"/>
          <p:cNvSpPr txBox="1">
            <a:spLocks noChangeArrowheads="1"/>
          </p:cNvSpPr>
          <p:nvPr/>
        </p:nvSpPr>
        <p:spPr bwMode="auto">
          <a:xfrm>
            <a:off x="7524750" y="3355975"/>
            <a:ext cx="1165225" cy="30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>
                <a:ea typeface="宋体" charset="-122"/>
              </a:rPr>
              <a:t>Directory</a:t>
            </a:r>
            <a:endParaRPr lang="zh-CN" altLang="en-US" sz="1400">
              <a:ea typeface="宋体" charset="-122"/>
            </a:endParaRPr>
          </a:p>
        </p:txBody>
      </p:sp>
      <p:cxnSp>
        <p:nvCxnSpPr>
          <p:cNvPr id="17441" name="Straight Connector 120"/>
          <p:cNvCxnSpPr>
            <a:cxnSpLocks noChangeShapeType="1"/>
          </p:cNvCxnSpPr>
          <p:nvPr/>
        </p:nvCxnSpPr>
        <p:spPr bwMode="auto">
          <a:xfrm rot="5400000">
            <a:off x="1631951" y="3522662"/>
            <a:ext cx="508000" cy="384175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42" name="Straight Connector 123"/>
          <p:cNvCxnSpPr>
            <a:cxnSpLocks noChangeShapeType="1"/>
          </p:cNvCxnSpPr>
          <p:nvPr/>
        </p:nvCxnSpPr>
        <p:spPr bwMode="auto">
          <a:xfrm rot="5400000">
            <a:off x="1630363" y="4238625"/>
            <a:ext cx="498475" cy="333375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43" name="Straight Connector 130"/>
          <p:cNvCxnSpPr>
            <a:cxnSpLocks noChangeShapeType="1"/>
          </p:cNvCxnSpPr>
          <p:nvPr/>
        </p:nvCxnSpPr>
        <p:spPr bwMode="auto">
          <a:xfrm rot="16200000" flipH="1">
            <a:off x="7108031" y="3666332"/>
            <a:ext cx="652463" cy="260350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44" name="Straight Connector 133"/>
          <p:cNvCxnSpPr>
            <a:cxnSpLocks noChangeShapeType="1"/>
          </p:cNvCxnSpPr>
          <p:nvPr/>
        </p:nvCxnSpPr>
        <p:spPr bwMode="auto">
          <a:xfrm rot="16200000" flipH="1">
            <a:off x="7170738" y="4394200"/>
            <a:ext cx="503237" cy="150813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7445" name="Rectangle 11"/>
          <p:cNvSpPr>
            <a:spLocks noChangeArrowheads="1"/>
          </p:cNvSpPr>
          <p:nvPr/>
        </p:nvSpPr>
        <p:spPr bwMode="auto">
          <a:xfrm>
            <a:off x="344488" y="5005388"/>
            <a:ext cx="1371600" cy="682625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grpSp>
        <p:nvGrpSpPr>
          <p:cNvPr id="8" name="Group 174"/>
          <p:cNvGrpSpPr>
            <a:grpSpLocks/>
          </p:cNvGrpSpPr>
          <p:nvPr/>
        </p:nvGrpSpPr>
        <p:grpSpPr bwMode="auto">
          <a:xfrm>
            <a:off x="2025650" y="4779963"/>
            <a:ext cx="1504950" cy="715962"/>
            <a:chOff x="2042275" y="4779386"/>
            <a:chExt cx="1504950" cy="715962"/>
          </a:xfrm>
        </p:grpSpPr>
        <p:sp>
          <p:nvSpPr>
            <p:cNvPr id="17516" name="Rectangle 11"/>
            <p:cNvSpPr>
              <a:spLocks noChangeArrowheads="1"/>
            </p:cNvSpPr>
            <p:nvPr/>
          </p:nvSpPr>
          <p:spPr bwMode="auto">
            <a:xfrm>
              <a:off x="2042275" y="4779386"/>
              <a:ext cx="1504950" cy="715962"/>
            </a:xfrm>
            <a:prstGeom prst="rect">
              <a:avLst/>
            </a:prstGeom>
            <a:solidFill>
              <a:srgbClr val="92D05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7517" name="Rectangle 11"/>
            <p:cNvSpPr>
              <a:spLocks noChangeArrowheads="1"/>
            </p:cNvSpPr>
            <p:nvPr/>
          </p:nvSpPr>
          <p:spPr bwMode="auto">
            <a:xfrm>
              <a:off x="2470064" y="4912648"/>
              <a:ext cx="546100" cy="434975"/>
            </a:xfrm>
            <a:prstGeom prst="rect">
              <a:avLst/>
            </a:prstGeom>
            <a:solidFill>
              <a:srgbClr val="92D05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CN" sz="1600">
                  <a:ea typeface="宋体" charset="-122"/>
                </a:rPr>
                <a:t>c:0</a:t>
              </a:r>
            </a:p>
          </p:txBody>
        </p:sp>
      </p:grpSp>
      <p:sp>
        <p:nvSpPr>
          <p:cNvPr id="17447" name="Rectangle 11"/>
          <p:cNvSpPr>
            <a:spLocks noChangeArrowheads="1"/>
          </p:cNvSpPr>
          <p:nvPr/>
        </p:nvSpPr>
        <p:spPr bwMode="auto">
          <a:xfrm>
            <a:off x="584200" y="5100638"/>
            <a:ext cx="904875" cy="420687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200">
                <a:ea typeface="宋体" charset="-122"/>
              </a:rPr>
              <a:t>clean</a:t>
            </a:r>
          </a:p>
        </p:txBody>
      </p:sp>
      <p:sp>
        <p:nvSpPr>
          <p:cNvPr id="17448" name="Rectangle 11"/>
          <p:cNvSpPr>
            <a:spLocks noChangeArrowheads="1"/>
          </p:cNvSpPr>
          <p:nvPr/>
        </p:nvSpPr>
        <p:spPr bwMode="auto">
          <a:xfrm>
            <a:off x="7505700" y="5795963"/>
            <a:ext cx="1371600" cy="363537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>
                <a:ea typeface="宋体" charset="-122"/>
              </a:rPr>
              <a:t>…</a:t>
            </a:r>
            <a:endParaRPr lang="zh-CN" altLang="en-US">
              <a:ea typeface="宋体" charset="-122"/>
            </a:endParaRPr>
          </a:p>
        </p:txBody>
      </p:sp>
      <p:sp>
        <p:nvSpPr>
          <p:cNvPr id="17449" name="Rectangle 11"/>
          <p:cNvSpPr>
            <a:spLocks noChangeArrowheads="1"/>
          </p:cNvSpPr>
          <p:nvPr/>
        </p:nvSpPr>
        <p:spPr bwMode="auto">
          <a:xfrm>
            <a:off x="7505700" y="4752975"/>
            <a:ext cx="1371600" cy="363538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>
                <a:ea typeface="宋体" charset="-122"/>
              </a:rPr>
              <a:t>…</a:t>
            </a:r>
            <a:endParaRPr lang="zh-CN" altLang="en-US">
              <a:ea typeface="宋体" charset="-122"/>
            </a:endParaRPr>
          </a:p>
        </p:txBody>
      </p:sp>
      <p:sp>
        <p:nvSpPr>
          <p:cNvPr id="17450" name="Rectangle 11"/>
          <p:cNvSpPr>
            <a:spLocks noChangeArrowheads="1"/>
          </p:cNvSpPr>
          <p:nvPr/>
        </p:nvSpPr>
        <p:spPr bwMode="auto">
          <a:xfrm>
            <a:off x="7502525" y="5121275"/>
            <a:ext cx="1371600" cy="684213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grpSp>
        <p:nvGrpSpPr>
          <p:cNvPr id="9" name="Group 221"/>
          <p:cNvGrpSpPr>
            <a:grpSpLocks/>
          </p:cNvGrpSpPr>
          <p:nvPr/>
        </p:nvGrpSpPr>
        <p:grpSpPr bwMode="auto">
          <a:xfrm>
            <a:off x="5843588" y="4914900"/>
            <a:ext cx="1504950" cy="715963"/>
            <a:chOff x="5843588" y="4914900"/>
            <a:chExt cx="1504950" cy="715963"/>
          </a:xfrm>
        </p:grpSpPr>
        <p:sp>
          <p:nvSpPr>
            <p:cNvPr id="17514" name="Rectangle 11"/>
            <p:cNvSpPr>
              <a:spLocks noChangeArrowheads="1"/>
            </p:cNvSpPr>
            <p:nvPr/>
          </p:nvSpPr>
          <p:spPr bwMode="auto">
            <a:xfrm>
              <a:off x="5843588" y="4914900"/>
              <a:ext cx="1504950" cy="715963"/>
            </a:xfrm>
            <a:prstGeom prst="rect">
              <a:avLst/>
            </a:prstGeom>
            <a:solidFill>
              <a:srgbClr val="92D05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7515" name="Rectangle 11"/>
            <p:cNvSpPr>
              <a:spLocks noChangeArrowheads="1"/>
            </p:cNvSpPr>
            <p:nvPr/>
          </p:nvSpPr>
          <p:spPr bwMode="auto">
            <a:xfrm>
              <a:off x="6346825" y="5065713"/>
              <a:ext cx="546100" cy="434975"/>
            </a:xfrm>
            <a:prstGeom prst="rect">
              <a:avLst/>
            </a:prstGeom>
            <a:solidFill>
              <a:srgbClr val="92D05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CN" sz="1600">
                  <a:ea typeface="宋体" charset="-122"/>
                </a:rPr>
                <a:t>c:0</a:t>
              </a:r>
            </a:p>
          </p:txBody>
        </p:sp>
      </p:grpSp>
      <p:sp>
        <p:nvSpPr>
          <p:cNvPr id="17452" name="Rectangle 11"/>
          <p:cNvSpPr>
            <a:spLocks noChangeArrowheads="1"/>
          </p:cNvSpPr>
          <p:nvPr/>
        </p:nvSpPr>
        <p:spPr bwMode="auto">
          <a:xfrm>
            <a:off x="7677150" y="5267325"/>
            <a:ext cx="904875" cy="420688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200">
                <a:ea typeface="宋体" charset="-122"/>
              </a:rPr>
              <a:t>clean</a:t>
            </a:r>
          </a:p>
        </p:txBody>
      </p:sp>
      <p:cxnSp>
        <p:nvCxnSpPr>
          <p:cNvPr id="17453" name="Straight Connector 133"/>
          <p:cNvCxnSpPr>
            <a:cxnSpLocks noChangeShapeType="1"/>
          </p:cNvCxnSpPr>
          <p:nvPr/>
        </p:nvCxnSpPr>
        <p:spPr bwMode="auto">
          <a:xfrm rot="16200000" flipH="1">
            <a:off x="7289800" y="4929188"/>
            <a:ext cx="268288" cy="182562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54" name="Straight Connector 133"/>
          <p:cNvCxnSpPr>
            <a:cxnSpLocks noChangeShapeType="1"/>
          </p:cNvCxnSpPr>
          <p:nvPr/>
        </p:nvCxnSpPr>
        <p:spPr bwMode="auto">
          <a:xfrm>
            <a:off x="7265988" y="5616575"/>
            <a:ext cx="249237" cy="152400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55" name="Straight Connector 123"/>
          <p:cNvCxnSpPr>
            <a:cxnSpLocks noChangeShapeType="1"/>
          </p:cNvCxnSpPr>
          <p:nvPr/>
        </p:nvCxnSpPr>
        <p:spPr bwMode="auto">
          <a:xfrm rot="10800000" flipV="1">
            <a:off x="1695450" y="4891088"/>
            <a:ext cx="336550" cy="196850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56" name="Straight Connector 123"/>
          <p:cNvCxnSpPr>
            <a:cxnSpLocks noChangeShapeType="1"/>
          </p:cNvCxnSpPr>
          <p:nvPr/>
        </p:nvCxnSpPr>
        <p:spPr bwMode="auto">
          <a:xfrm rot="10800000" flipV="1">
            <a:off x="1728788" y="5557838"/>
            <a:ext cx="290512" cy="128587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7457" name="Text Box 27"/>
          <p:cNvSpPr txBox="1">
            <a:spLocks noChangeArrowheads="1"/>
          </p:cNvSpPr>
          <p:nvPr/>
        </p:nvSpPr>
        <p:spPr bwMode="auto">
          <a:xfrm>
            <a:off x="1674813" y="5149850"/>
            <a:ext cx="431800" cy="339725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ea typeface="宋体" charset="-122"/>
              </a:rPr>
              <a:t>P</a:t>
            </a:r>
            <a:r>
              <a:rPr lang="en-US" altLang="zh-CN" sz="1600" baseline="-25000">
                <a:ea typeface="宋体" charset="-122"/>
              </a:rPr>
              <a:t>k</a:t>
            </a:r>
          </a:p>
        </p:txBody>
      </p:sp>
      <p:sp>
        <p:nvSpPr>
          <p:cNvPr id="17458" name="Text Box 27"/>
          <p:cNvSpPr txBox="1">
            <a:spLocks noChangeArrowheads="1"/>
          </p:cNvSpPr>
          <p:nvPr/>
        </p:nvSpPr>
        <p:spPr bwMode="auto">
          <a:xfrm>
            <a:off x="5484813" y="5184775"/>
            <a:ext cx="431800" cy="339725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ea typeface="宋体" charset="-122"/>
              </a:rPr>
              <a:t>P</a:t>
            </a:r>
            <a:r>
              <a:rPr lang="en-US" altLang="zh-CN" sz="1600" baseline="-25000">
                <a:ea typeface="宋体" charset="-122"/>
              </a:rPr>
              <a:t>k</a:t>
            </a:r>
          </a:p>
        </p:txBody>
      </p:sp>
      <p:sp>
        <p:nvSpPr>
          <p:cNvPr id="17459" name="Text Box 27"/>
          <p:cNvSpPr txBox="1">
            <a:spLocks noChangeArrowheads="1"/>
          </p:cNvSpPr>
          <p:nvPr/>
        </p:nvSpPr>
        <p:spPr bwMode="auto">
          <a:xfrm>
            <a:off x="-17463" y="5318125"/>
            <a:ext cx="431801" cy="339725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ea typeface="宋体" charset="-122"/>
              </a:rPr>
              <a:t>P</a:t>
            </a:r>
            <a:r>
              <a:rPr lang="en-US" altLang="zh-CN" sz="1600" baseline="-25000">
                <a:ea typeface="宋体" charset="-122"/>
              </a:rPr>
              <a:t>k</a:t>
            </a:r>
          </a:p>
        </p:txBody>
      </p:sp>
      <p:sp>
        <p:nvSpPr>
          <p:cNvPr id="17460" name="Text Box 27"/>
          <p:cNvSpPr txBox="1">
            <a:spLocks noChangeArrowheads="1"/>
          </p:cNvSpPr>
          <p:nvPr/>
        </p:nvSpPr>
        <p:spPr bwMode="auto">
          <a:xfrm>
            <a:off x="8843963" y="5235575"/>
            <a:ext cx="431800" cy="339725"/>
          </a:xfrm>
          <a:prstGeom prst="rect">
            <a:avLst/>
          </a:prstGeom>
          <a:noFill/>
          <a:ln w="508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ea typeface="宋体" charset="-122"/>
              </a:rPr>
              <a:t>P</a:t>
            </a:r>
            <a:r>
              <a:rPr lang="en-US" altLang="zh-CN" sz="1600" baseline="-25000">
                <a:ea typeface="宋体" charset="-122"/>
              </a:rPr>
              <a:t>k</a:t>
            </a:r>
          </a:p>
        </p:txBody>
      </p:sp>
      <p:sp>
        <p:nvSpPr>
          <p:cNvPr id="145" name="Rectangle 11"/>
          <p:cNvSpPr>
            <a:spLocks noChangeArrowheads="1"/>
          </p:cNvSpPr>
          <p:nvPr/>
        </p:nvSpPr>
        <p:spPr bwMode="auto">
          <a:xfrm>
            <a:off x="566738" y="4065588"/>
            <a:ext cx="904875" cy="420687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200">
                <a:ea typeface="宋体" charset="-122"/>
              </a:rPr>
              <a:t>clean</a:t>
            </a:r>
          </a:p>
        </p:txBody>
      </p:sp>
      <p:sp>
        <p:nvSpPr>
          <p:cNvPr id="17462" name="Rectangle 11"/>
          <p:cNvSpPr>
            <a:spLocks noChangeArrowheads="1"/>
          </p:cNvSpPr>
          <p:nvPr/>
        </p:nvSpPr>
        <p:spPr bwMode="auto">
          <a:xfrm>
            <a:off x="1679575" y="6467475"/>
            <a:ext cx="1363663" cy="390525"/>
          </a:xfrm>
          <a:prstGeom prst="rect">
            <a:avLst/>
          </a:prstGeom>
          <a:solidFill>
            <a:srgbClr val="92D05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600">
                <a:ea typeface="宋体" charset="-122"/>
              </a:rPr>
              <a:t>ReadOnly</a:t>
            </a:r>
            <a:endParaRPr lang="zh-CN" altLang="en-US" sz="1600">
              <a:ea typeface="宋体" charset="-122"/>
            </a:endParaRPr>
          </a:p>
        </p:txBody>
      </p:sp>
      <p:sp>
        <p:nvSpPr>
          <p:cNvPr id="17463" name="Rectangle 11"/>
          <p:cNvSpPr>
            <a:spLocks noChangeArrowheads="1"/>
          </p:cNvSpPr>
          <p:nvPr/>
        </p:nvSpPr>
        <p:spPr bwMode="auto">
          <a:xfrm>
            <a:off x="263525" y="6467475"/>
            <a:ext cx="1363663" cy="390525"/>
          </a:xfrm>
          <a:prstGeom prst="rect">
            <a:avLst/>
          </a:prstGeom>
          <a:solidFill>
            <a:schemeClr val="bg2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600">
                <a:ea typeface="宋体" charset="-122"/>
              </a:rPr>
              <a:t>NonAccess</a:t>
            </a:r>
            <a:endParaRPr lang="zh-CN" altLang="en-US" sz="1600">
              <a:ea typeface="宋体" charset="-122"/>
            </a:endParaRPr>
          </a:p>
        </p:txBody>
      </p:sp>
      <p:sp>
        <p:nvSpPr>
          <p:cNvPr id="17464" name="Rectangle 11"/>
          <p:cNvSpPr>
            <a:spLocks noChangeArrowheads="1"/>
          </p:cNvSpPr>
          <p:nvPr/>
        </p:nvSpPr>
        <p:spPr bwMode="auto">
          <a:xfrm>
            <a:off x="3046413" y="6467475"/>
            <a:ext cx="1362075" cy="390525"/>
          </a:xfrm>
          <a:prstGeom prst="rect">
            <a:avLst/>
          </a:prstGeom>
          <a:solidFill>
            <a:srgbClr val="0070C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600">
                <a:ea typeface="宋体" charset="-122"/>
              </a:rPr>
              <a:t>Writeable</a:t>
            </a:r>
            <a:endParaRPr lang="zh-CN" altLang="en-US" sz="1600">
              <a:ea typeface="宋体" charset="-122"/>
            </a:endParaRPr>
          </a:p>
        </p:txBody>
      </p:sp>
      <p:sp>
        <p:nvSpPr>
          <p:cNvPr id="164" name="Rounded Rectangular Callout 163"/>
          <p:cNvSpPr>
            <a:spLocks noChangeArrowheads="1"/>
          </p:cNvSpPr>
          <p:nvPr/>
        </p:nvSpPr>
        <p:spPr bwMode="auto">
          <a:xfrm>
            <a:off x="3513138" y="936625"/>
            <a:ext cx="1036637" cy="509588"/>
          </a:xfrm>
          <a:prstGeom prst="wedgeRoundRectCallout">
            <a:avLst>
              <a:gd name="adj1" fmla="val -174264"/>
              <a:gd name="adj2" fmla="val 55833"/>
              <a:gd name="adj3" fmla="val 16667"/>
            </a:avLst>
          </a:prstGeom>
          <a:solidFill>
            <a:srgbClr val="0070C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400">
                <a:ea typeface="宋体" charset="-122"/>
              </a:rPr>
              <a:t>PageFault</a:t>
            </a:r>
            <a:endParaRPr lang="zh-CN" altLang="en-US" sz="1400">
              <a:ea typeface="宋体" charset="-122"/>
            </a:endParaRPr>
          </a:p>
        </p:txBody>
      </p:sp>
      <p:grpSp>
        <p:nvGrpSpPr>
          <p:cNvPr id="12" name="Group 93"/>
          <p:cNvGrpSpPr/>
          <p:nvPr/>
        </p:nvGrpSpPr>
        <p:grpSpPr>
          <a:xfrm>
            <a:off x="2028308" y="3423776"/>
            <a:ext cx="1504950" cy="715962"/>
            <a:chOff x="1833568" y="3428271"/>
            <a:chExt cx="1504950" cy="715962"/>
          </a:xfrm>
          <a:solidFill>
            <a:srgbClr val="096DBF"/>
          </a:solidFill>
        </p:grpSpPr>
        <p:sp>
          <p:nvSpPr>
            <p:cNvPr id="166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grpFill/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13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168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a:10</a:t>
                </a:r>
              </a:p>
            </p:txBody>
          </p:sp>
          <p:sp>
            <p:nvSpPr>
              <p:cNvPr id="169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b:0</a:t>
                </a:r>
              </a:p>
            </p:txBody>
          </p:sp>
        </p:grpSp>
      </p:grpSp>
      <p:grpSp>
        <p:nvGrpSpPr>
          <p:cNvPr id="14" name="Group 93"/>
          <p:cNvGrpSpPr/>
          <p:nvPr/>
        </p:nvGrpSpPr>
        <p:grpSpPr>
          <a:xfrm>
            <a:off x="2028306" y="3423776"/>
            <a:ext cx="1504950" cy="715962"/>
            <a:chOff x="1833568" y="3428271"/>
            <a:chExt cx="1504950" cy="715962"/>
          </a:xfrm>
          <a:solidFill>
            <a:srgbClr val="096DBF"/>
          </a:solidFill>
        </p:grpSpPr>
        <p:sp>
          <p:nvSpPr>
            <p:cNvPr id="171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grpFill/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15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173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a:10</a:t>
                </a:r>
              </a:p>
            </p:txBody>
          </p:sp>
          <p:sp>
            <p:nvSpPr>
              <p:cNvPr id="174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b:1</a:t>
                </a:r>
              </a:p>
            </p:txBody>
          </p:sp>
        </p:grpSp>
      </p:grpSp>
      <p:cxnSp>
        <p:nvCxnSpPr>
          <p:cNvPr id="176" name="Straight Arrow Connector 13"/>
          <p:cNvCxnSpPr>
            <a:cxnSpLocks noChangeShapeType="1"/>
          </p:cNvCxnSpPr>
          <p:nvPr/>
        </p:nvCxnSpPr>
        <p:spPr bwMode="auto">
          <a:xfrm>
            <a:off x="1100138" y="1538288"/>
            <a:ext cx="503237" cy="1587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77" name="Rounded Rectangular Callout 176"/>
          <p:cNvSpPr>
            <a:spLocks noChangeArrowheads="1"/>
          </p:cNvSpPr>
          <p:nvPr/>
        </p:nvSpPr>
        <p:spPr bwMode="auto">
          <a:xfrm>
            <a:off x="3516313" y="1238250"/>
            <a:ext cx="1036637" cy="509588"/>
          </a:xfrm>
          <a:prstGeom prst="wedgeRoundRectCallout">
            <a:avLst>
              <a:gd name="adj1" fmla="val -174264"/>
              <a:gd name="adj2" fmla="val 55833"/>
              <a:gd name="adj3" fmla="val 16667"/>
            </a:avLst>
          </a:prstGeom>
          <a:solidFill>
            <a:srgbClr val="0070C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400">
                <a:ea typeface="宋体" charset="-122"/>
              </a:rPr>
              <a:t>writable</a:t>
            </a:r>
            <a:endParaRPr lang="zh-CN" altLang="en-US" sz="1400">
              <a:ea typeface="宋体" charset="-122"/>
            </a:endParaRPr>
          </a:p>
        </p:txBody>
      </p:sp>
      <p:cxnSp>
        <p:nvCxnSpPr>
          <p:cNvPr id="178" name="Straight Arrow Connector 13"/>
          <p:cNvCxnSpPr>
            <a:cxnSpLocks noChangeShapeType="1"/>
          </p:cNvCxnSpPr>
          <p:nvPr/>
        </p:nvCxnSpPr>
        <p:spPr bwMode="auto">
          <a:xfrm>
            <a:off x="1103313" y="1757363"/>
            <a:ext cx="503237" cy="1587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79" name="Rounded Rectangular Callout 178"/>
          <p:cNvSpPr>
            <a:spLocks noChangeArrowheads="1"/>
          </p:cNvSpPr>
          <p:nvPr/>
        </p:nvSpPr>
        <p:spPr bwMode="auto">
          <a:xfrm>
            <a:off x="3532188" y="1454150"/>
            <a:ext cx="1036637" cy="509588"/>
          </a:xfrm>
          <a:prstGeom prst="wedgeRoundRectCallout">
            <a:avLst>
              <a:gd name="adj1" fmla="val -174264"/>
              <a:gd name="adj2" fmla="val 55833"/>
              <a:gd name="adj3" fmla="val 16667"/>
            </a:avLst>
          </a:prstGeom>
          <a:solidFill>
            <a:srgbClr val="0070C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400">
                <a:ea typeface="宋体" charset="-122"/>
              </a:rPr>
              <a:t>PageFault</a:t>
            </a:r>
            <a:endParaRPr lang="zh-CN" altLang="en-US" sz="1400">
              <a:ea typeface="宋体" charset="-122"/>
            </a:endParaRPr>
          </a:p>
        </p:txBody>
      </p:sp>
      <p:grpSp>
        <p:nvGrpSpPr>
          <p:cNvPr id="16" name="Group 179"/>
          <p:cNvGrpSpPr>
            <a:grpSpLocks/>
          </p:cNvGrpSpPr>
          <p:nvPr/>
        </p:nvGrpSpPr>
        <p:grpSpPr bwMode="auto">
          <a:xfrm>
            <a:off x="2043113" y="4797425"/>
            <a:ext cx="1504950" cy="715963"/>
            <a:chOff x="2042275" y="4779386"/>
            <a:chExt cx="1504950" cy="715962"/>
          </a:xfrm>
        </p:grpSpPr>
        <p:sp>
          <p:nvSpPr>
            <p:cNvPr id="17512" name="Rectangle 11"/>
            <p:cNvSpPr>
              <a:spLocks noChangeArrowheads="1"/>
            </p:cNvSpPr>
            <p:nvPr/>
          </p:nvSpPr>
          <p:spPr bwMode="auto">
            <a:xfrm>
              <a:off x="2042275" y="4779386"/>
              <a:ext cx="1504950" cy="715962"/>
            </a:xfrm>
            <a:prstGeom prst="rect">
              <a:avLst/>
            </a:prstGeom>
            <a:solidFill>
              <a:srgbClr val="0070C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7513" name="Rectangle 11"/>
            <p:cNvSpPr>
              <a:spLocks noChangeArrowheads="1"/>
            </p:cNvSpPr>
            <p:nvPr/>
          </p:nvSpPr>
          <p:spPr bwMode="auto">
            <a:xfrm>
              <a:off x="2470064" y="4912648"/>
              <a:ext cx="546100" cy="434975"/>
            </a:xfrm>
            <a:prstGeom prst="rect">
              <a:avLst/>
            </a:prstGeom>
            <a:solidFill>
              <a:srgbClr val="0070C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CN" sz="1600">
                  <a:ea typeface="宋体" charset="-122"/>
                </a:rPr>
                <a:t>c:0</a:t>
              </a:r>
            </a:p>
          </p:txBody>
        </p:sp>
      </p:grpSp>
      <p:grpSp>
        <p:nvGrpSpPr>
          <p:cNvPr id="17" name="Group 183"/>
          <p:cNvGrpSpPr>
            <a:grpSpLocks/>
          </p:cNvGrpSpPr>
          <p:nvPr/>
        </p:nvGrpSpPr>
        <p:grpSpPr bwMode="auto">
          <a:xfrm>
            <a:off x="2030413" y="4799013"/>
            <a:ext cx="1504950" cy="715962"/>
            <a:chOff x="363377" y="5738757"/>
            <a:chExt cx="1504950" cy="715962"/>
          </a:xfrm>
        </p:grpSpPr>
        <p:sp>
          <p:nvSpPr>
            <p:cNvPr id="17510" name="Rectangle 11"/>
            <p:cNvSpPr>
              <a:spLocks noChangeArrowheads="1"/>
            </p:cNvSpPr>
            <p:nvPr/>
          </p:nvSpPr>
          <p:spPr bwMode="auto">
            <a:xfrm>
              <a:off x="363377" y="5738757"/>
              <a:ext cx="1504950" cy="715962"/>
            </a:xfrm>
            <a:prstGeom prst="rect">
              <a:avLst/>
            </a:prstGeom>
            <a:solidFill>
              <a:srgbClr val="0070C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7511" name="Rectangle 11"/>
            <p:cNvSpPr>
              <a:spLocks noChangeArrowheads="1"/>
            </p:cNvSpPr>
            <p:nvPr/>
          </p:nvSpPr>
          <p:spPr bwMode="auto">
            <a:xfrm>
              <a:off x="791166" y="5872019"/>
              <a:ext cx="546100" cy="434975"/>
            </a:xfrm>
            <a:prstGeom prst="rect">
              <a:avLst/>
            </a:prstGeom>
            <a:solidFill>
              <a:srgbClr val="0070C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CN" sz="1600">
                  <a:ea typeface="宋体" charset="-122"/>
                </a:rPr>
                <a:t>c:1</a:t>
              </a:r>
            </a:p>
          </p:txBody>
        </p:sp>
      </p:grpSp>
      <p:cxnSp>
        <p:nvCxnSpPr>
          <p:cNvPr id="192" name="Straight Arrow Connector 13"/>
          <p:cNvCxnSpPr>
            <a:cxnSpLocks noChangeShapeType="1"/>
          </p:cNvCxnSpPr>
          <p:nvPr/>
        </p:nvCxnSpPr>
        <p:spPr bwMode="auto">
          <a:xfrm>
            <a:off x="1120775" y="1954213"/>
            <a:ext cx="503238" cy="1587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94" name="Rounded Rectangular Callout 193"/>
          <p:cNvSpPr>
            <a:spLocks noChangeArrowheads="1"/>
          </p:cNvSpPr>
          <p:nvPr/>
        </p:nvSpPr>
        <p:spPr bwMode="auto">
          <a:xfrm>
            <a:off x="4075113" y="1577975"/>
            <a:ext cx="1036637" cy="509588"/>
          </a:xfrm>
          <a:prstGeom prst="wedgeRoundRectCallout">
            <a:avLst>
              <a:gd name="adj1" fmla="val -174264"/>
              <a:gd name="adj2" fmla="val 55833"/>
              <a:gd name="adj3" fmla="val 16667"/>
            </a:avLst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400">
                <a:ea typeface="宋体" charset="-122"/>
              </a:rPr>
              <a:t>Release</a:t>
            </a:r>
            <a:endParaRPr lang="zh-CN" altLang="en-US" sz="1400">
              <a:ea typeface="宋体" charset="-122"/>
            </a:endParaRPr>
          </a:p>
        </p:txBody>
      </p:sp>
      <p:cxnSp>
        <p:nvCxnSpPr>
          <p:cNvPr id="199" name="Straight Arrow Connector 13"/>
          <p:cNvCxnSpPr>
            <a:cxnSpLocks noChangeShapeType="1"/>
          </p:cNvCxnSpPr>
          <p:nvPr/>
        </p:nvCxnSpPr>
        <p:spPr bwMode="auto">
          <a:xfrm>
            <a:off x="1093788" y="2151063"/>
            <a:ext cx="503237" cy="1587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01" name="Rounded Rectangular Callout 200"/>
          <p:cNvSpPr>
            <a:spLocks noChangeArrowheads="1"/>
          </p:cNvSpPr>
          <p:nvPr/>
        </p:nvSpPr>
        <p:spPr bwMode="auto">
          <a:xfrm>
            <a:off x="7854950" y="650875"/>
            <a:ext cx="1036638" cy="509588"/>
          </a:xfrm>
          <a:prstGeom prst="wedgeRoundRectCallout">
            <a:avLst>
              <a:gd name="adj1" fmla="val -174264"/>
              <a:gd name="adj2" fmla="val 55833"/>
              <a:gd name="adj3" fmla="val 16667"/>
            </a:avLst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400">
                <a:ea typeface="宋体" charset="-122"/>
              </a:rPr>
              <a:t>Acquire</a:t>
            </a:r>
            <a:endParaRPr lang="zh-CN" altLang="en-US" sz="1400">
              <a:ea typeface="宋体" charset="-122"/>
            </a:endParaRPr>
          </a:p>
        </p:txBody>
      </p:sp>
      <p:grpSp>
        <p:nvGrpSpPr>
          <p:cNvPr id="18" name="Group 93"/>
          <p:cNvGrpSpPr/>
          <p:nvPr/>
        </p:nvGrpSpPr>
        <p:grpSpPr>
          <a:xfrm>
            <a:off x="2060784" y="3426272"/>
            <a:ext cx="1504950" cy="715962"/>
            <a:chOff x="1833568" y="3428271"/>
            <a:chExt cx="1504950" cy="715962"/>
          </a:xfrm>
          <a:solidFill>
            <a:srgbClr val="096DBF"/>
          </a:solidFill>
        </p:grpSpPr>
        <p:sp>
          <p:nvSpPr>
            <p:cNvPr id="206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solidFill>
              <a:srgbClr val="92D05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19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208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solidFill>
                <a:srgbClr val="92D05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a:10</a:t>
                </a:r>
              </a:p>
            </p:txBody>
          </p:sp>
          <p:sp>
            <p:nvSpPr>
              <p:cNvPr id="209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solidFill>
                <a:srgbClr val="92D05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b:1</a:t>
                </a:r>
              </a:p>
            </p:txBody>
          </p:sp>
        </p:grpSp>
      </p:grpSp>
      <p:grpSp>
        <p:nvGrpSpPr>
          <p:cNvPr id="20" name="Group 93"/>
          <p:cNvGrpSpPr/>
          <p:nvPr/>
        </p:nvGrpSpPr>
        <p:grpSpPr>
          <a:xfrm>
            <a:off x="3697212" y="4253231"/>
            <a:ext cx="1504950" cy="715962"/>
            <a:chOff x="1833568" y="3428271"/>
            <a:chExt cx="1504950" cy="715962"/>
          </a:xfrm>
          <a:solidFill>
            <a:srgbClr val="096DBF"/>
          </a:solidFill>
        </p:grpSpPr>
        <p:sp>
          <p:nvSpPr>
            <p:cNvPr id="211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solidFill>
              <a:srgbClr val="92D05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21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213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solidFill>
                <a:srgbClr val="92D05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a:10</a:t>
                </a:r>
              </a:p>
            </p:txBody>
          </p:sp>
          <p:sp>
            <p:nvSpPr>
              <p:cNvPr id="215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solidFill>
                <a:srgbClr val="92D05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b:1</a:t>
                </a:r>
              </a:p>
            </p:txBody>
          </p:sp>
        </p:grpSp>
      </p:grpSp>
      <p:grpSp>
        <p:nvGrpSpPr>
          <p:cNvPr id="22" name="Group 121"/>
          <p:cNvGrpSpPr/>
          <p:nvPr/>
        </p:nvGrpSpPr>
        <p:grpSpPr>
          <a:xfrm>
            <a:off x="5839845" y="3475252"/>
            <a:ext cx="1504950" cy="715962"/>
            <a:chOff x="1833568" y="3428271"/>
            <a:chExt cx="1504950" cy="715962"/>
          </a:xfrm>
          <a:solidFill>
            <a:srgbClr val="F4727B"/>
          </a:solidFill>
        </p:grpSpPr>
        <p:sp>
          <p:nvSpPr>
            <p:cNvPr id="217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solidFill>
              <a:srgbClr val="92D05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23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219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solidFill>
                <a:srgbClr val="92D05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a:10</a:t>
                </a:r>
              </a:p>
            </p:txBody>
          </p:sp>
          <p:sp>
            <p:nvSpPr>
              <p:cNvPr id="220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solidFill>
                <a:srgbClr val="92D05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b:1</a:t>
                </a:r>
              </a:p>
            </p:txBody>
          </p:sp>
        </p:grpSp>
      </p:grpSp>
      <p:grpSp>
        <p:nvGrpSpPr>
          <p:cNvPr id="24" name="Group 222"/>
          <p:cNvGrpSpPr>
            <a:grpSpLocks/>
          </p:cNvGrpSpPr>
          <p:nvPr/>
        </p:nvGrpSpPr>
        <p:grpSpPr bwMode="auto">
          <a:xfrm>
            <a:off x="5840413" y="4902200"/>
            <a:ext cx="1504950" cy="715963"/>
            <a:chOff x="5843588" y="4914900"/>
            <a:chExt cx="1504950" cy="715963"/>
          </a:xfrm>
        </p:grpSpPr>
        <p:sp>
          <p:nvSpPr>
            <p:cNvPr id="17508" name="Rectangle 11"/>
            <p:cNvSpPr>
              <a:spLocks noChangeArrowheads="1"/>
            </p:cNvSpPr>
            <p:nvPr/>
          </p:nvSpPr>
          <p:spPr bwMode="auto">
            <a:xfrm>
              <a:off x="5843588" y="4914900"/>
              <a:ext cx="1504950" cy="715963"/>
            </a:xfrm>
            <a:prstGeom prst="rect">
              <a:avLst/>
            </a:prstGeom>
            <a:solidFill>
              <a:srgbClr val="92D05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7509" name="Rectangle 11"/>
            <p:cNvSpPr>
              <a:spLocks noChangeArrowheads="1"/>
            </p:cNvSpPr>
            <p:nvPr/>
          </p:nvSpPr>
          <p:spPr bwMode="auto">
            <a:xfrm>
              <a:off x="6346825" y="5065713"/>
              <a:ext cx="546100" cy="434975"/>
            </a:xfrm>
            <a:prstGeom prst="rect">
              <a:avLst/>
            </a:prstGeom>
            <a:solidFill>
              <a:srgbClr val="92D05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CN" sz="1600">
                  <a:ea typeface="宋体" charset="-122"/>
                </a:rPr>
                <a:t>c:1</a:t>
              </a:r>
            </a:p>
          </p:txBody>
        </p:sp>
      </p:grpSp>
      <p:cxnSp>
        <p:nvCxnSpPr>
          <p:cNvPr id="89" name="Straight Arrow Connector 88"/>
          <p:cNvCxnSpPr>
            <a:cxnSpLocks noChangeShapeType="1"/>
          </p:cNvCxnSpPr>
          <p:nvPr/>
        </p:nvCxnSpPr>
        <p:spPr bwMode="auto">
          <a:xfrm>
            <a:off x="3117850" y="5216525"/>
            <a:ext cx="3117850" cy="120650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28" name="Straight Arrow Connector 13"/>
          <p:cNvCxnSpPr>
            <a:cxnSpLocks noChangeShapeType="1"/>
          </p:cNvCxnSpPr>
          <p:nvPr/>
        </p:nvCxnSpPr>
        <p:spPr bwMode="auto">
          <a:xfrm>
            <a:off x="5103813" y="1209675"/>
            <a:ext cx="503237" cy="1588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29" name="Rounded Rectangular Callout 228"/>
          <p:cNvSpPr>
            <a:spLocks noChangeArrowheads="1"/>
          </p:cNvSpPr>
          <p:nvPr/>
        </p:nvSpPr>
        <p:spPr bwMode="auto">
          <a:xfrm>
            <a:off x="7732713" y="1298575"/>
            <a:ext cx="1036637" cy="509588"/>
          </a:xfrm>
          <a:prstGeom prst="wedgeRoundRectCallout">
            <a:avLst>
              <a:gd name="adj1" fmla="val -174264"/>
              <a:gd name="adj2" fmla="val 55833"/>
              <a:gd name="adj3" fmla="val 16667"/>
            </a:avLst>
          </a:prstGeom>
          <a:solidFill>
            <a:srgbClr val="0070C0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400">
                <a:ea typeface="宋体" charset="-122"/>
              </a:rPr>
              <a:t>PageFault</a:t>
            </a:r>
            <a:endParaRPr lang="zh-CN" altLang="en-US" sz="1400">
              <a:ea typeface="宋体" charset="-122"/>
            </a:endParaRPr>
          </a:p>
        </p:txBody>
      </p:sp>
      <p:cxnSp>
        <p:nvCxnSpPr>
          <p:cNvPr id="230" name="Straight Arrow Connector 13"/>
          <p:cNvCxnSpPr>
            <a:cxnSpLocks noChangeShapeType="1"/>
          </p:cNvCxnSpPr>
          <p:nvPr/>
        </p:nvCxnSpPr>
        <p:spPr bwMode="auto">
          <a:xfrm>
            <a:off x="5137150" y="1571625"/>
            <a:ext cx="503238" cy="1588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arrow" w="med" len="med"/>
          </a:ln>
        </p:spPr>
      </p:cxnSp>
      <p:grpSp>
        <p:nvGrpSpPr>
          <p:cNvPr id="25" name="Group 121"/>
          <p:cNvGrpSpPr/>
          <p:nvPr/>
        </p:nvGrpSpPr>
        <p:grpSpPr>
          <a:xfrm>
            <a:off x="5847302" y="3506563"/>
            <a:ext cx="1504950" cy="715962"/>
            <a:chOff x="1833568" y="3428271"/>
            <a:chExt cx="1504950" cy="715962"/>
          </a:xfrm>
          <a:solidFill>
            <a:srgbClr val="008000"/>
          </a:solidFill>
        </p:grpSpPr>
        <p:sp>
          <p:nvSpPr>
            <p:cNvPr id="202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solidFill>
              <a:srgbClr val="0070C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26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204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solidFill>
                <a:srgbClr val="0070C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a:10</a:t>
                </a:r>
              </a:p>
            </p:txBody>
          </p:sp>
          <p:sp>
            <p:nvSpPr>
              <p:cNvPr id="205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solidFill>
                <a:srgbClr val="0070C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b:1</a:t>
                </a:r>
              </a:p>
            </p:txBody>
          </p:sp>
        </p:grpSp>
      </p:grpSp>
      <p:grpSp>
        <p:nvGrpSpPr>
          <p:cNvPr id="27" name="Group 121"/>
          <p:cNvGrpSpPr/>
          <p:nvPr/>
        </p:nvGrpSpPr>
        <p:grpSpPr>
          <a:xfrm>
            <a:off x="5834811" y="3494071"/>
            <a:ext cx="1504950" cy="715962"/>
            <a:chOff x="1833568" y="3428271"/>
            <a:chExt cx="1504950" cy="715962"/>
          </a:xfrm>
          <a:solidFill>
            <a:srgbClr val="008000"/>
          </a:solidFill>
        </p:grpSpPr>
        <p:sp>
          <p:nvSpPr>
            <p:cNvPr id="232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solidFill>
              <a:srgbClr val="0070C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234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solidFill>
                <a:srgbClr val="0070C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a:21</a:t>
                </a:r>
              </a:p>
            </p:txBody>
          </p:sp>
          <p:sp>
            <p:nvSpPr>
              <p:cNvPr id="235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solidFill>
                <a:srgbClr val="0070C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b:1</a:t>
                </a:r>
              </a:p>
            </p:txBody>
          </p:sp>
        </p:grpSp>
      </p:grpSp>
      <p:sp>
        <p:nvSpPr>
          <p:cNvPr id="236" name="Rectangle 11"/>
          <p:cNvSpPr>
            <a:spLocks noChangeArrowheads="1"/>
          </p:cNvSpPr>
          <p:nvPr/>
        </p:nvSpPr>
        <p:spPr bwMode="auto">
          <a:xfrm>
            <a:off x="7745413" y="4184650"/>
            <a:ext cx="903287" cy="420688"/>
          </a:xfrm>
          <a:prstGeom prst="rect">
            <a:avLst/>
          </a:prstGeom>
          <a:solidFill>
            <a:srgbClr val="096DBF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200">
                <a:ea typeface="宋体" charset="-122"/>
              </a:rPr>
              <a:t>dirty</a:t>
            </a:r>
          </a:p>
        </p:txBody>
      </p:sp>
      <p:cxnSp>
        <p:nvCxnSpPr>
          <p:cNvPr id="237" name="Straight Arrow Connector 13"/>
          <p:cNvCxnSpPr>
            <a:cxnSpLocks noChangeShapeType="1"/>
          </p:cNvCxnSpPr>
          <p:nvPr/>
        </p:nvCxnSpPr>
        <p:spPr bwMode="auto">
          <a:xfrm>
            <a:off x="5094288" y="1812925"/>
            <a:ext cx="503237" cy="1588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38" name="Rounded Rectangular Callout 237"/>
          <p:cNvSpPr>
            <a:spLocks noChangeArrowheads="1"/>
          </p:cNvSpPr>
          <p:nvPr/>
        </p:nvSpPr>
        <p:spPr bwMode="auto">
          <a:xfrm>
            <a:off x="7662863" y="1582738"/>
            <a:ext cx="1036637" cy="509587"/>
          </a:xfrm>
          <a:prstGeom prst="wedgeRoundRectCallout">
            <a:avLst>
              <a:gd name="adj1" fmla="val -174264"/>
              <a:gd name="adj2" fmla="val 55833"/>
              <a:gd name="adj3" fmla="val 16667"/>
            </a:avLst>
          </a:prstGeom>
          <a:solidFill>
            <a:schemeClr val="accent1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400">
                <a:ea typeface="宋体" charset="-122"/>
              </a:rPr>
              <a:t>Release</a:t>
            </a:r>
            <a:endParaRPr lang="zh-CN" altLang="en-US" sz="1400">
              <a:ea typeface="宋体" charset="-122"/>
            </a:endParaRPr>
          </a:p>
        </p:txBody>
      </p:sp>
      <p:grpSp>
        <p:nvGrpSpPr>
          <p:cNvPr id="29" name="Group 121"/>
          <p:cNvGrpSpPr/>
          <p:nvPr/>
        </p:nvGrpSpPr>
        <p:grpSpPr>
          <a:xfrm>
            <a:off x="5861154" y="3482895"/>
            <a:ext cx="1504950" cy="715962"/>
            <a:chOff x="1818328" y="3428271"/>
            <a:chExt cx="1504950" cy="715962"/>
          </a:xfrm>
          <a:solidFill>
            <a:srgbClr val="92D050"/>
          </a:solidFill>
        </p:grpSpPr>
        <p:sp>
          <p:nvSpPr>
            <p:cNvPr id="144" name="Rectangle 11"/>
            <p:cNvSpPr>
              <a:spLocks noChangeArrowheads="1"/>
            </p:cNvSpPr>
            <p:nvPr/>
          </p:nvSpPr>
          <p:spPr bwMode="auto">
            <a:xfrm>
              <a:off x="1818328" y="3428271"/>
              <a:ext cx="1504950" cy="715962"/>
            </a:xfrm>
            <a:prstGeom prst="rect">
              <a:avLst/>
            </a:prstGeom>
            <a:grpFill/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30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147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a:21</a:t>
                </a:r>
              </a:p>
            </p:txBody>
          </p:sp>
          <p:sp>
            <p:nvSpPr>
              <p:cNvPr id="148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grpFill/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b:1</a:t>
                </a:r>
              </a:p>
            </p:txBody>
          </p:sp>
        </p:grpSp>
      </p:grpSp>
      <p:cxnSp>
        <p:nvCxnSpPr>
          <p:cNvPr id="251" name="Straight Arrow Connector 13"/>
          <p:cNvCxnSpPr>
            <a:cxnSpLocks noChangeShapeType="1"/>
          </p:cNvCxnSpPr>
          <p:nvPr/>
        </p:nvCxnSpPr>
        <p:spPr bwMode="auto">
          <a:xfrm>
            <a:off x="5051425" y="2041525"/>
            <a:ext cx="503238" cy="1588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arrow" w="med" len="med"/>
          </a:ln>
        </p:spPr>
      </p:cxnSp>
      <p:grpSp>
        <p:nvGrpSpPr>
          <p:cNvPr id="31" name="Group 93"/>
          <p:cNvGrpSpPr/>
          <p:nvPr/>
        </p:nvGrpSpPr>
        <p:grpSpPr>
          <a:xfrm>
            <a:off x="2035799" y="3446259"/>
            <a:ext cx="1504950" cy="715962"/>
            <a:chOff x="1833568" y="3428271"/>
            <a:chExt cx="1504950" cy="715962"/>
          </a:xfrm>
          <a:solidFill>
            <a:srgbClr val="096DBF"/>
          </a:solidFill>
        </p:grpSpPr>
        <p:sp>
          <p:nvSpPr>
            <p:cNvPr id="254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solidFill>
              <a:srgbClr val="92D05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64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256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solidFill>
                <a:srgbClr val="92D05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A:10</a:t>
                </a:r>
              </a:p>
            </p:txBody>
          </p:sp>
          <p:sp>
            <p:nvSpPr>
              <p:cNvPr id="257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solidFill>
                <a:srgbClr val="92D05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b:1</a:t>
                </a:r>
              </a:p>
            </p:txBody>
          </p:sp>
        </p:grpSp>
      </p:grpSp>
      <p:grpSp>
        <p:nvGrpSpPr>
          <p:cNvPr id="65" name="Group 93"/>
          <p:cNvGrpSpPr/>
          <p:nvPr/>
        </p:nvGrpSpPr>
        <p:grpSpPr>
          <a:xfrm>
            <a:off x="2033302" y="3443763"/>
            <a:ext cx="1504950" cy="715962"/>
            <a:chOff x="1833568" y="3428271"/>
            <a:chExt cx="1504950" cy="715962"/>
          </a:xfrm>
          <a:solidFill>
            <a:srgbClr val="096DBF"/>
          </a:solidFill>
        </p:grpSpPr>
        <p:sp>
          <p:nvSpPr>
            <p:cNvPr id="247" name="Rectangle 11"/>
            <p:cNvSpPr>
              <a:spLocks noChangeArrowheads="1"/>
            </p:cNvSpPr>
            <p:nvPr/>
          </p:nvSpPr>
          <p:spPr bwMode="auto">
            <a:xfrm>
              <a:off x="1833568" y="3428271"/>
              <a:ext cx="1504950" cy="715962"/>
            </a:xfrm>
            <a:prstGeom prst="rect">
              <a:avLst/>
            </a:prstGeom>
            <a:solidFill>
              <a:srgbClr val="92D05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grpSp>
          <p:nvGrpSpPr>
            <p:cNvPr id="66" name="Group 27"/>
            <p:cNvGrpSpPr/>
            <p:nvPr/>
          </p:nvGrpSpPr>
          <p:grpSpPr>
            <a:xfrm>
              <a:off x="1970088" y="3536950"/>
              <a:ext cx="1277937" cy="447675"/>
              <a:chOff x="1970088" y="3536950"/>
              <a:chExt cx="1277937" cy="447675"/>
            </a:xfrm>
            <a:grpFill/>
          </p:grpSpPr>
          <p:sp>
            <p:nvSpPr>
              <p:cNvPr id="249" name="Rectangle 11"/>
              <p:cNvSpPr>
                <a:spLocks noChangeArrowheads="1"/>
              </p:cNvSpPr>
              <p:nvPr/>
            </p:nvSpPr>
            <p:spPr bwMode="auto">
              <a:xfrm>
                <a:off x="1970088" y="3549650"/>
                <a:ext cx="546100" cy="434975"/>
              </a:xfrm>
              <a:prstGeom prst="rect">
                <a:avLst/>
              </a:prstGeom>
              <a:solidFill>
                <a:srgbClr val="92D05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a:21</a:t>
                </a:r>
              </a:p>
            </p:txBody>
          </p:sp>
          <p:sp>
            <p:nvSpPr>
              <p:cNvPr id="250" name="Rectangle 11"/>
              <p:cNvSpPr>
                <a:spLocks noChangeArrowheads="1"/>
              </p:cNvSpPr>
              <p:nvPr/>
            </p:nvSpPr>
            <p:spPr bwMode="auto">
              <a:xfrm>
                <a:off x="2701925" y="3536950"/>
                <a:ext cx="546100" cy="434975"/>
              </a:xfrm>
              <a:prstGeom prst="rect">
                <a:avLst/>
              </a:prstGeom>
              <a:solidFill>
                <a:srgbClr val="92D050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1600" dirty="0">
                    <a:ea typeface="宋体" charset="-122"/>
                  </a:rPr>
                  <a:t>b:1</a:t>
                </a:r>
              </a:p>
            </p:txBody>
          </p:sp>
        </p:grpSp>
      </p:grpSp>
      <p:grpSp>
        <p:nvGrpSpPr>
          <p:cNvPr id="67" name="Group 257"/>
          <p:cNvGrpSpPr>
            <a:grpSpLocks/>
          </p:cNvGrpSpPr>
          <p:nvPr/>
        </p:nvGrpSpPr>
        <p:grpSpPr bwMode="auto">
          <a:xfrm>
            <a:off x="2033588" y="4802188"/>
            <a:ext cx="1504950" cy="715962"/>
            <a:chOff x="363377" y="5738757"/>
            <a:chExt cx="1504950" cy="715962"/>
          </a:xfrm>
        </p:grpSpPr>
        <p:sp>
          <p:nvSpPr>
            <p:cNvPr id="17506" name="Rectangle 11"/>
            <p:cNvSpPr>
              <a:spLocks noChangeArrowheads="1"/>
            </p:cNvSpPr>
            <p:nvPr/>
          </p:nvSpPr>
          <p:spPr bwMode="auto">
            <a:xfrm>
              <a:off x="363377" y="5738757"/>
              <a:ext cx="1504950" cy="715962"/>
            </a:xfrm>
            <a:prstGeom prst="rect">
              <a:avLst/>
            </a:prstGeom>
            <a:solidFill>
              <a:srgbClr val="92D05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17507" name="Rectangle 11"/>
            <p:cNvSpPr>
              <a:spLocks noChangeArrowheads="1"/>
            </p:cNvSpPr>
            <p:nvPr/>
          </p:nvSpPr>
          <p:spPr bwMode="auto">
            <a:xfrm>
              <a:off x="791166" y="5872019"/>
              <a:ext cx="546100" cy="434975"/>
            </a:xfrm>
            <a:prstGeom prst="rect">
              <a:avLst/>
            </a:prstGeom>
            <a:solidFill>
              <a:srgbClr val="92D050"/>
            </a:solidFill>
            <a:ln w="508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CN" sz="1600">
                  <a:ea typeface="宋体" charset="-122"/>
                </a:rPr>
                <a:t>c:1</a:t>
              </a:r>
            </a:p>
          </p:txBody>
        </p:sp>
      </p:grpSp>
      <p:grpSp>
        <p:nvGrpSpPr>
          <p:cNvPr id="68" name="Group 271"/>
          <p:cNvGrpSpPr>
            <a:grpSpLocks/>
          </p:cNvGrpSpPr>
          <p:nvPr/>
        </p:nvGrpSpPr>
        <p:grpSpPr bwMode="auto">
          <a:xfrm>
            <a:off x="2952750" y="3846513"/>
            <a:ext cx="2949575" cy="2368550"/>
            <a:chOff x="2953062" y="3846513"/>
            <a:chExt cx="2949928" cy="2368185"/>
          </a:xfrm>
        </p:grpSpPr>
        <p:grpSp>
          <p:nvGrpSpPr>
            <p:cNvPr id="69" name="Group 244"/>
            <p:cNvGrpSpPr>
              <a:grpSpLocks/>
            </p:cNvGrpSpPr>
            <p:nvPr/>
          </p:nvGrpSpPr>
          <p:grpSpPr bwMode="auto">
            <a:xfrm>
              <a:off x="2953062" y="3846513"/>
              <a:ext cx="2949928" cy="1993900"/>
              <a:chOff x="2953062" y="3846513"/>
              <a:chExt cx="2949928" cy="1993900"/>
            </a:xfrm>
          </p:grpSpPr>
          <p:sp>
            <p:nvSpPr>
              <p:cNvPr id="17502" name="Flowchart: Or 77"/>
              <p:cNvSpPr>
                <a:spLocks noChangeArrowheads="1"/>
              </p:cNvSpPr>
              <p:nvPr/>
            </p:nvSpPr>
            <p:spPr bwMode="auto">
              <a:xfrm>
                <a:off x="4146550" y="5330825"/>
                <a:ext cx="560388" cy="509588"/>
              </a:xfrm>
              <a:prstGeom prst="flowChartOr">
                <a:avLst/>
              </a:prstGeom>
              <a:solidFill>
                <a:schemeClr val="accent1"/>
              </a:solidFill>
              <a:ln w="508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0">
                  <a:ea typeface="宋体" charset="-122"/>
                </a:endParaRPr>
              </a:p>
            </p:txBody>
          </p:sp>
          <p:cxnSp>
            <p:nvCxnSpPr>
              <p:cNvPr id="17503" name="Straight Arrow Connector 79"/>
              <p:cNvCxnSpPr>
                <a:cxnSpLocks noChangeShapeType="1"/>
              </p:cNvCxnSpPr>
              <p:nvPr/>
            </p:nvCxnSpPr>
            <p:spPr bwMode="auto">
              <a:xfrm rot="10800000" flipV="1">
                <a:off x="4674265" y="3846513"/>
                <a:ext cx="1228725" cy="1558925"/>
              </a:xfrm>
              <a:prstGeom prst="straightConnector1">
                <a:avLst/>
              </a:prstGeom>
              <a:noFill/>
              <a:ln w="50800" algn="ctr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17504" name="Straight Arrow Connector 81"/>
              <p:cNvCxnSpPr>
                <a:cxnSpLocks noChangeShapeType="1"/>
              </p:cNvCxnSpPr>
              <p:nvPr/>
            </p:nvCxnSpPr>
            <p:spPr bwMode="auto">
              <a:xfrm rot="5400000">
                <a:off x="4631977" y="4334897"/>
                <a:ext cx="1365467" cy="1141403"/>
              </a:xfrm>
              <a:prstGeom prst="straightConnector1">
                <a:avLst/>
              </a:prstGeom>
              <a:noFill/>
              <a:ln w="50800" algn="ctr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17505" name="Straight Arrow Connector 238"/>
              <p:cNvCxnSpPr>
                <a:cxnSpLocks noChangeShapeType="1"/>
              </p:cNvCxnSpPr>
              <p:nvPr/>
            </p:nvCxnSpPr>
            <p:spPr bwMode="auto">
              <a:xfrm rot="16200000" flipV="1">
                <a:off x="2915587" y="4279691"/>
                <a:ext cx="1214204" cy="1139253"/>
              </a:xfrm>
              <a:prstGeom prst="straightConnector1">
                <a:avLst/>
              </a:prstGeom>
              <a:noFill/>
              <a:ln w="50800" algn="ctr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</p:grpSp>
        <p:sp>
          <p:nvSpPr>
            <p:cNvPr id="17501" name="TextBox 269"/>
            <p:cNvSpPr txBox="1">
              <a:spLocks noChangeArrowheads="1"/>
            </p:cNvSpPr>
            <p:nvPr/>
          </p:nvSpPr>
          <p:spPr bwMode="auto">
            <a:xfrm>
              <a:off x="4107305" y="5876144"/>
              <a:ext cx="64457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/>
                <a:t>Diff</a:t>
              </a:r>
            </a:p>
          </p:txBody>
        </p:sp>
      </p:grpSp>
      <p:sp>
        <p:nvSpPr>
          <p:cNvPr id="160" name="Rectangle 11"/>
          <p:cNvSpPr>
            <a:spLocks noChangeArrowheads="1"/>
          </p:cNvSpPr>
          <p:nvPr/>
        </p:nvSpPr>
        <p:spPr bwMode="auto">
          <a:xfrm>
            <a:off x="585788" y="5105400"/>
            <a:ext cx="904875" cy="420688"/>
          </a:xfrm>
          <a:prstGeom prst="rect">
            <a:avLst/>
          </a:prstGeom>
          <a:solidFill>
            <a:srgbClr val="096DBF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200">
                <a:ea typeface="宋体" charset="-122"/>
              </a:rPr>
              <a:t>dirty</a:t>
            </a:r>
          </a:p>
        </p:txBody>
      </p:sp>
      <p:sp>
        <p:nvSpPr>
          <p:cNvPr id="106" name="Rectangle 11"/>
          <p:cNvSpPr>
            <a:spLocks noChangeArrowheads="1"/>
          </p:cNvSpPr>
          <p:nvPr/>
        </p:nvSpPr>
        <p:spPr bwMode="auto">
          <a:xfrm>
            <a:off x="561975" y="4056063"/>
            <a:ext cx="904875" cy="420687"/>
          </a:xfrm>
          <a:prstGeom prst="rect">
            <a:avLst/>
          </a:prstGeom>
          <a:solidFill>
            <a:srgbClr val="096DBF"/>
          </a:solidFill>
          <a:ln w="508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1200">
                <a:ea typeface="宋体" charset="-122"/>
              </a:rPr>
              <a:t>dirty</a:t>
            </a:r>
          </a:p>
        </p:txBody>
      </p:sp>
      <p:sp>
        <p:nvSpPr>
          <p:cNvPr id="17499" name="Slide Number Placeholder 160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E36B91E-0514-4FA4-A66E-FD4729D44BDD}" type="slidenum">
              <a:rPr lang="en-US" altLang="zh-CN"/>
              <a:pPr/>
              <a:t>11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1.32948E-6 L -2.77778E-7 0.08694 " pathEditMode="fixed" rAng="0" ptsTypes="AA">
                                      <p:cBhvr>
                                        <p:cTn id="6" dur="10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-0.00069 L 0.00347 0.02567 " pathEditMode="fixed" rAng="0" ptsTypes="AA">
                                      <p:cBhvr>
                                        <p:cTn id="40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" y="13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4 0.00463 L 0.00365 0.03099 " pathEditMode="fixed" rAng="0" ptsTypes="AA">
                                      <p:cBhvr>
                                        <p:cTn id="64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" y="13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 0.00648 L 0.00122 0.03284 " pathEditMode="fixed" rAng="0" ptsTypes="AA">
                                      <p:cBhvr>
                                        <p:cTn id="95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" y="13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3.2948E-6 L 0.4559 -0.12855 " pathEditMode="fixed" rAng="0" ptsTypes="AA">
                                      <p:cBhvr>
                                        <p:cTn id="110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8" y="-64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3.75723E-6 L 0.1908 0.12046 " pathEditMode="relative" rAng="0" ptsTypes="AA">
                                      <p:cBhvr>
                                        <p:cTn id="12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" y="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24 4.91329E-6 L 0.23889 -0.11168 " pathEditMode="relative" rAng="0" ptsTypes="AA">
                                      <p:cBhvr>
                                        <p:cTn id="13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" y="-56"/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5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0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3.17919E-6 L 2.22222E-6 0.05641 " pathEditMode="fixed" rAng="0" ptsTypes="AA">
                                      <p:cBhvr>
                                        <p:cTn id="175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9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3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1 0.00162 L -0.00191 0.03399 " pathEditMode="fixed" rAng="0" ptsTypes="AA">
                                      <p:cBhvr>
                                        <p:cTn id="185" dur="1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"/>
                                    </p:animMotion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8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20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3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4 3.75723E-6 L -0.00174 0.03237 " pathEditMode="fixed" rAng="0" ptsTypes="AA">
                                      <p:cBhvr>
                                        <p:cTn id="219" dur="10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8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500"/>
                            </p:stCondLst>
                            <p:childTnLst>
                              <p:par>
                                <p:cTn id="2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1000"/>
                            </p:stCondLst>
                            <p:childTnLst>
                              <p:par>
                                <p:cTn id="23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1500"/>
                            </p:stCondLst>
                            <p:childTnLst>
                              <p:par>
                                <p:cTn id="2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8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0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2.60116E-6 L -0.4375 0.04116 " pathEditMode="fixed" rAng="0" ptsTypes="AA">
                                      <p:cBhvr>
                                        <p:cTn id="253" dur="10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9" y="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 animBg="1"/>
      <p:bldP spid="145" grpId="1" animBg="1"/>
      <p:bldP spid="164" grpId="0" animBg="1"/>
      <p:bldP spid="164" grpId="1" animBg="1"/>
      <p:bldP spid="177" grpId="0" animBg="1"/>
      <p:bldP spid="177" grpId="1" animBg="1"/>
      <p:bldP spid="179" grpId="0" animBg="1"/>
      <p:bldP spid="179" grpId="1" animBg="1"/>
      <p:bldP spid="194" grpId="0" animBg="1"/>
      <p:bldP spid="194" grpId="1" animBg="1"/>
      <p:bldP spid="201" grpId="0" animBg="1"/>
      <p:bldP spid="201" grpId="1" animBg="1"/>
      <p:bldP spid="229" grpId="0" animBg="1"/>
      <p:bldP spid="229" grpId="1" animBg="1"/>
      <p:bldP spid="236" grpId="0" animBg="1"/>
      <p:bldP spid="236" grpId="1" animBg="1"/>
      <p:bldP spid="238" grpId="0" animBg="1"/>
      <p:bldP spid="238" grpId="1" animBg="1"/>
      <p:bldP spid="160" grpId="0" animBg="1"/>
      <p:bldP spid="160" grpId="1" animBg="1"/>
      <p:bldP spid="106" grpId="0" animBg="1"/>
      <p:bldP spid="106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273050"/>
            <a:ext cx="8688387" cy="889000"/>
          </a:xfrm>
        </p:spPr>
        <p:txBody>
          <a:bodyPr/>
          <a:lstStyle/>
          <a:p>
            <a:r>
              <a:rPr lang="en-US" altLang="zh-CN" dirty="0" smtClean="0">
                <a:ea typeface="宋体" charset="-122"/>
              </a:rPr>
              <a:t>Memory Management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341438"/>
            <a:ext cx="8237537" cy="43434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dirty="0" smtClean="0">
                <a:ea typeface="宋体" charset="-122"/>
              </a:rPr>
              <a:t>Arena based VSM</a:t>
            </a:r>
          </a:p>
          <a:p>
            <a:pPr>
              <a:lnSpc>
                <a:spcPct val="80000"/>
              </a:lnSpc>
            </a:pPr>
            <a:r>
              <a:rPr lang="en-US" altLang="zh-CN" sz="1800" dirty="0" smtClean="0">
                <a:ea typeface="宋体" charset="-122"/>
              </a:rPr>
              <a:t>Arena is the minimum unit for memory consistency protocol</a:t>
            </a:r>
          </a:p>
          <a:p>
            <a:pPr>
              <a:lnSpc>
                <a:spcPct val="80000"/>
              </a:lnSpc>
            </a:pPr>
            <a:r>
              <a:rPr lang="en-US" altLang="zh-CN" sz="1800" dirty="0" smtClean="0">
                <a:ea typeface="宋体" charset="-122"/>
              </a:rPr>
              <a:t>When no arena is specified, default arena is used by MYO.</a:t>
            </a:r>
          </a:p>
          <a:p>
            <a:pPr>
              <a:lnSpc>
                <a:spcPct val="80000"/>
              </a:lnSpc>
            </a:pPr>
            <a:r>
              <a:rPr lang="en-US" altLang="zh-CN" sz="1800" dirty="0" smtClean="0">
                <a:ea typeface="宋体" charset="-122"/>
              </a:rPr>
              <a:t>User can create arenas and perform </a:t>
            </a:r>
            <a:r>
              <a:rPr lang="en-US" altLang="zh-CN" sz="1800" dirty="0" err="1" smtClean="0">
                <a:ea typeface="宋体" charset="-122"/>
              </a:rPr>
              <a:t>malloc</a:t>
            </a:r>
            <a:r>
              <a:rPr lang="en-US" altLang="zh-CN" sz="1800" dirty="0" smtClean="0">
                <a:ea typeface="宋体" charset="-122"/>
              </a:rPr>
              <a:t>/free inside the arena.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zh-CN" sz="2000" dirty="0" smtClean="0">
              <a:ea typeface="宋体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dirty="0" smtClean="0">
                <a:ea typeface="宋体" charset="-122"/>
              </a:rPr>
              <a:t>CPU &amp; MIC share VSM</a:t>
            </a:r>
          </a:p>
          <a:p>
            <a:pPr>
              <a:lnSpc>
                <a:spcPct val="80000"/>
              </a:lnSpc>
            </a:pPr>
            <a:r>
              <a:rPr lang="en-US" altLang="zh-CN" sz="1800" dirty="0" smtClean="0">
                <a:ea typeface="宋体" charset="-122"/>
              </a:rPr>
              <a:t>MYO managed virtual memory are identical on </a:t>
            </a:r>
            <a:r>
              <a:rPr lang="en-US" altLang="zh-CN" sz="1800" dirty="0" smtClean="0">
                <a:ea typeface="宋体" charset="-122"/>
              </a:rPr>
              <a:t>host Xeon®</a:t>
            </a:r>
            <a:r>
              <a:rPr lang="en-US" altLang="zh-CN" sz="1800" dirty="0" smtClean="0">
                <a:ea typeface="宋体" charset="-122"/>
              </a:rPr>
              <a:t> </a:t>
            </a:r>
            <a:r>
              <a:rPr lang="en-US" altLang="zh-CN" sz="1800" dirty="0" smtClean="0">
                <a:ea typeface="宋体" charset="-122"/>
              </a:rPr>
              <a:t>and MIC</a:t>
            </a:r>
          </a:p>
          <a:p>
            <a:pPr>
              <a:lnSpc>
                <a:spcPct val="80000"/>
              </a:lnSpc>
            </a:pPr>
            <a:r>
              <a:rPr lang="en-US" altLang="zh-CN" sz="1800" dirty="0" smtClean="0">
                <a:ea typeface="宋体" charset="-122"/>
              </a:rPr>
              <a:t>Physical memory are distinct and managed locally </a:t>
            </a:r>
            <a:r>
              <a:rPr lang="en-US" altLang="zh-CN" sz="1800" dirty="0" smtClean="0">
                <a:ea typeface="宋体" charset="-122"/>
              </a:rPr>
              <a:t>by the host Xeon® </a:t>
            </a:r>
            <a:r>
              <a:rPr lang="en-US" altLang="zh-CN" sz="1800" dirty="0" smtClean="0">
                <a:ea typeface="宋体" charset="-122"/>
              </a:rPr>
              <a:t>and </a:t>
            </a:r>
            <a:r>
              <a:rPr lang="en-US" altLang="zh-CN" sz="1800" dirty="0" smtClean="0">
                <a:ea typeface="宋体" charset="-122"/>
              </a:rPr>
              <a:t>MIC</a:t>
            </a:r>
          </a:p>
          <a:p>
            <a:pPr>
              <a:lnSpc>
                <a:spcPct val="80000"/>
              </a:lnSpc>
            </a:pPr>
            <a:r>
              <a:rPr lang="en-US" altLang="zh-CN" sz="1800" dirty="0" smtClean="0">
                <a:ea typeface="宋体" charset="-122"/>
              </a:rPr>
              <a:t>Memory management details are hidden from the programmer.</a:t>
            </a:r>
          </a:p>
          <a:p>
            <a:pPr>
              <a:lnSpc>
                <a:spcPct val="80000"/>
              </a:lnSpc>
            </a:pPr>
            <a:endParaRPr lang="en-US" altLang="zh-CN" sz="1600" dirty="0" smtClean="0">
              <a:ea typeface="宋体" charset="-122"/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24CC048-8722-4344-8D9E-37F7023085C1}" type="slidenum">
              <a:rPr lang="en-US" altLang="zh-CN"/>
              <a:pPr/>
              <a:t>12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63" y="2890857"/>
            <a:ext cx="8237537" cy="889000"/>
          </a:xfrm>
        </p:spPr>
        <p:txBody>
          <a:bodyPr/>
          <a:lstStyle/>
          <a:p>
            <a:pPr algn="ctr"/>
            <a:r>
              <a:rPr lang="en-US" sz="3200" dirty="0" smtClean="0"/>
              <a:t>MYO Programming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MYO Program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Include files</a:t>
            </a:r>
          </a:p>
          <a:p>
            <a:pPr>
              <a:lnSpc>
                <a:spcPts val="1000"/>
              </a:lnSpc>
              <a:buNone/>
            </a:pPr>
            <a:r>
              <a:rPr lang="en-US" sz="1800" dirty="0" err="1" smtClean="0"/>
              <a:t>myo.h</a:t>
            </a:r>
            <a:endParaRPr lang="en-US" sz="1800" dirty="0" smtClean="0"/>
          </a:p>
          <a:p>
            <a:pPr>
              <a:lnSpc>
                <a:spcPts val="1000"/>
              </a:lnSpc>
              <a:buNone/>
            </a:pPr>
            <a:r>
              <a:rPr lang="en-US" sz="1800" dirty="0" err="1" smtClean="0"/>
              <a:t>myoimpl.h</a:t>
            </a:r>
            <a:endParaRPr lang="en-US" sz="1800" dirty="0" smtClean="0"/>
          </a:p>
          <a:p>
            <a:pPr>
              <a:lnSpc>
                <a:spcPts val="1000"/>
              </a:lnSpc>
              <a:buNone/>
            </a:pPr>
            <a:endParaRPr lang="en-US" dirty="0" smtClean="0"/>
          </a:p>
          <a:p>
            <a:pPr>
              <a:lnSpc>
                <a:spcPts val="1000"/>
              </a:lnSpc>
              <a:buNone/>
            </a:pPr>
            <a:r>
              <a:rPr lang="en-US" dirty="0" smtClean="0"/>
              <a:t>User Initialization Routine</a:t>
            </a:r>
          </a:p>
          <a:p>
            <a:pPr>
              <a:lnSpc>
                <a:spcPts val="1000"/>
              </a:lnSpc>
              <a:buNone/>
            </a:pPr>
            <a:r>
              <a:rPr lang="en-US" sz="1800" dirty="0" err="1" smtClean="0"/>
              <a:t>myoiUserInit</a:t>
            </a:r>
            <a:r>
              <a:rPr lang="en-US" sz="1800" dirty="0" smtClean="0"/>
              <a:t>{</a:t>
            </a:r>
          </a:p>
          <a:p>
            <a:pPr>
              <a:lnSpc>
                <a:spcPts val="1000"/>
              </a:lnSpc>
              <a:buNone/>
            </a:pPr>
            <a:r>
              <a:rPr lang="en-US" sz="1800" dirty="0" smtClean="0"/>
              <a:t>Register Shared Variables and Remote Functions here.</a:t>
            </a:r>
          </a:p>
          <a:p>
            <a:pPr>
              <a:lnSpc>
                <a:spcPts val="1000"/>
              </a:lnSpc>
              <a:buNone/>
            </a:pPr>
            <a:r>
              <a:rPr lang="en-US" sz="1800" dirty="0" smtClean="0"/>
              <a:t>}</a:t>
            </a:r>
          </a:p>
          <a:p>
            <a:pPr>
              <a:lnSpc>
                <a:spcPts val="1000"/>
              </a:lnSpc>
              <a:buNone/>
            </a:pPr>
            <a:endParaRPr lang="en-US" sz="2000" dirty="0" smtClean="0"/>
          </a:p>
          <a:p>
            <a:pPr>
              <a:lnSpc>
                <a:spcPts val="1000"/>
              </a:lnSpc>
              <a:buNone/>
            </a:pPr>
            <a:r>
              <a:rPr lang="en-US" dirty="0" smtClean="0"/>
              <a:t>Main Routine</a:t>
            </a:r>
          </a:p>
          <a:p>
            <a:pPr>
              <a:lnSpc>
                <a:spcPts val="1000"/>
              </a:lnSpc>
              <a:buNone/>
            </a:pPr>
            <a:r>
              <a:rPr lang="en-US" sz="1800" dirty="0" smtClean="0"/>
              <a:t>main {</a:t>
            </a:r>
          </a:p>
          <a:p>
            <a:pPr>
              <a:lnSpc>
                <a:spcPts val="1000"/>
              </a:lnSpc>
              <a:buNone/>
            </a:pPr>
            <a:r>
              <a:rPr lang="en-US" sz="1800" dirty="0" smtClean="0"/>
              <a:t>Initialize MYO</a:t>
            </a:r>
          </a:p>
          <a:p>
            <a:pPr>
              <a:lnSpc>
                <a:spcPts val="1000"/>
              </a:lnSpc>
              <a:buNone/>
            </a:pPr>
            <a:r>
              <a:rPr lang="en-US" sz="1800" dirty="0" smtClean="0"/>
              <a:t>….</a:t>
            </a:r>
          </a:p>
          <a:p>
            <a:pPr>
              <a:lnSpc>
                <a:spcPts val="1000"/>
              </a:lnSpc>
              <a:buNone/>
            </a:pPr>
            <a:r>
              <a:rPr lang="en-US" sz="1800" dirty="0" smtClean="0"/>
              <a:t>Call RPC</a:t>
            </a:r>
          </a:p>
          <a:p>
            <a:pPr>
              <a:lnSpc>
                <a:spcPts val="1000"/>
              </a:lnSpc>
              <a:buNone/>
            </a:pPr>
            <a:r>
              <a:rPr lang="en-US" sz="1800" dirty="0" smtClean="0"/>
              <a:t>….</a:t>
            </a:r>
          </a:p>
          <a:p>
            <a:pPr>
              <a:lnSpc>
                <a:spcPts val="1000"/>
              </a:lnSpc>
              <a:buNone/>
            </a:pPr>
            <a:r>
              <a:rPr lang="en-US" sz="1800" dirty="0" smtClean="0"/>
              <a:t>Finalize MYO</a:t>
            </a:r>
          </a:p>
          <a:p>
            <a:pPr>
              <a:lnSpc>
                <a:spcPts val="1000"/>
              </a:lnSpc>
              <a:buNone/>
            </a:pPr>
            <a:r>
              <a:rPr lang="en-US" sz="1800" dirty="0" smtClean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7839C3-4C75-4980-81B5-0F633030F8FC}" type="slidenum">
              <a:rPr lang="en-US" altLang="zh-CN" smtClean="0"/>
              <a:pPr>
                <a:defRPr/>
              </a:pPr>
              <a:t>14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myoiUserInit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Register Remote Functions and Shared Variables</a:t>
            </a:r>
          </a:p>
          <a:p>
            <a:r>
              <a:rPr lang="en-US" sz="2000" b="1" dirty="0" err="1" smtClean="0"/>
              <a:t>myoiRemoteFuncRegister</a:t>
            </a:r>
            <a:endParaRPr lang="en-US" sz="2000" b="1" dirty="0" smtClean="0"/>
          </a:p>
          <a:p>
            <a:pPr lvl="2"/>
            <a:r>
              <a:rPr lang="en-US" sz="2000" dirty="0" smtClean="0"/>
              <a:t>Register Function to allow calls from remote nodes</a:t>
            </a:r>
          </a:p>
          <a:p>
            <a:pPr lvl="2"/>
            <a:r>
              <a:rPr lang="en-US" sz="2000" dirty="0" smtClean="0"/>
              <a:t>Ex: </a:t>
            </a:r>
            <a:r>
              <a:rPr lang="en-US" sz="2000" dirty="0" err="1" smtClean="0"/>
              <a:t>myoiRemoteFuncRegister</a:t>
            </a:r>
            <a:r>
              <a:rPr lang="en-US" sz="2000" dirty="0" smtClean="0"/>
              <a:t>((</a:t>
            </a:r>
            <a:r>
              <a:rPr lang="en-US" sz="2000" dirty="0" err="1" smtClean="0"/>
              <a:t>MyoiRemoteFuncType</a:t>
            </a:r>
            <a:r>
              <a:rPr lang="en-US" sz="2000" dirty="0" smtClean="0"/>
              <a:t>) </a:t>
            </a:r>
            <a:r>
              <a:rPr lang="en-US" sz="2000" dirty="0" err="1" smtClean="0"/>
              <a:t>helloworld</a:t>
            </a:r>
            <a:r>
              <a:rPr lang="en-US" sz="2000" dirty="0" smtClean="0"/>
              <a:t>, “</a:t>
            </a:r>
            <a:r>
              <a:rPr lang="en-US" sz="2000" dirty="0" err="1" smtClean="0"/>
              <a:t>helloworld</a:t>
            </a:r>
            <a:r>
              <a:rPr lang="en-US" sz="2000" dirty="0" smtClean="0"/>
              <a:t>");</a:t>
            </a:r>
          </a:p>
          <a:p>
            <a:r>
              <a:rPr lang="en-US" sz="2000" b="1" dirty="0" err="1" smtClean="0"/>
              <a:t>myoiVarRegister</a:t>
            </a:r>
            <a:endParaRPr lang="en-US" sz="2000" b="1" dirty="0" smtClean="0"/>
          </a:p>
          <a:p>
            <a:pPr lvl="2"/>
            <a:r>
              <a:rPr lang="en-US" sz="2000" dirty="0" smtClean="0"/>
              <a:t>Register shared variables</a:t>
            </a:r>
          </a:p>
          <a:p>
            <a:pPr lvl="2"/>
            <a:r>
              <a:rPr lang="en-US" sz="2000" dirty="0" smtClean="0"/>
              <a:t>Ex: </a:t>
            </a:r>
            <a:r>
              <a:rPr lang="en-US" sz="2000" dirty="0" err="1" smtClean="0"/>
              <a:t>myoiVarRegister</a:t>
            </a:r>
            <a:r>
              <a:rPr lang="en-US" sz="2000" dirty="0" smtClean="0"/>
              <a:t>((void *)&amp;buffer, "buffer");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7839C3-4C75-4980-81B5-0F633030F8FC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Main routine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Initialize </a:t>
            </a:r>
            <a:r>
              <a:rPr lang="en-US" dirty="0" err="1" smtClean="0"/>
              <a:t>myo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    </a:t>
            </a:r>
            <a:r>
              <a:rPr lang="en-US" sz="2000" dirty="0" err="1" smtClean="0"/>
              <a:t>myoiLibInit</a:t>
            </a:r>
            <a:r>
              <a:rPr lang="en-US" sz="2000" dirty="0" smtClean="0"/>
              <a:t>(NULL, (void*)&amp;</a:t>
            </a:r>
            <a:r>
              <a:rPr lang="en-US" sz="2000" dirty="0" err="1" smtClean="0"/>
              <a:t>myoiUserInit</a:t>
            </a:r>
            <a:r>
              <a:rPr lang="en-US" sz="2000" dirty="0" smtClean="0"/>
              <a:t>)</a:t>
            </a:r>
          </a:p>
          <a:p>
            <a:pPr>
              <a:buNone/>
            </a:pPr>
            <a:r>
              <a:rPr lang="en-US" dirty="0" smtClean="0"/>
              <a:t>Call Remote function</a:t>
            </a:r>
          </a:p>
          <a:p>
            <a:pPr>
              <a:buNone/>
            </a:pPr>
            <a:r>
              <a:rPr lang="en-US" sz="2000" dirty="0" smtClean="0"/>
              <a:t>    </a:t>
            </a:r>
            <a:r>
              <a:rPr lang="en-US" sz="2000" dirty="0" err="1" smtClean="0"/>
              <a:t>myoRelease</a:t>
            </a:r>
            <a:r>
              <a:rPr lang="en-US" sz="2000" dirty="0" smtClean="0"/>
              <a:t>(); //Release before RPC</a:t>
            </a:r>
          </a:p>
          <a:p>
            <a:pPr>
              <a:buNone/>
            </a:pPr>
            <a:r>
              <a:rPr lang="en-US" sz="2000" dirty="0" smtClean="0"/>
              <a:t>    </a:t>
            </a:r>
            <a:r>
              <a:rPr lang="en-US" sz="2000" dirty="0" err="1" smtClean="0"/>
              <a:t>rpcHandle</a:t>
            </a:r>
            <a:r>
              <a:rPr lang="en-US" sz="2000" dirty="0" smtClean="0"/>
              <a:t> = </a:t>
            </a:r>
            <a:r>
              <a:rPr lang="en-US" sz="2000" dirty="0" err="1" smtClean="0"/>
              <a:t>myoiRemoteCall</a:t>
            </a:r>
            <a:r>
              <a:rPr lang="en-US" sz="2000" dirty="0" smtClean="0"/>
              <a:t>((char*)“</a:t>
            </a:r>
            <a:r>
              <a:rPr lang="en-US" sz="2000" dirty="0" err="1" smtClean="0"/>
              <a:t>FunctionName</a:t>
            </a:r>
            <a:r>
              <a:rPr lang="en-US" sz="2000" dirty="0" smtClean="0"/>
              <a:t>", argument, 0);</a:t>
            </a:r>
          </a:p>
          <a:p>
            <a:pPr>
              <a:buNone/>
            </a:pPr>
            <a:r>
              <a:rPr lang="en-US" sz="2000" dirty="0" smtClean="0"/>
              <a:t>    </a:t>
            </a:r>
            <a:r>
              <a:rPr lang="en-US" sz="2000" dirty="0" err="1" smtClean="0"/>
              <a:t>myoiGetResult</a:t>
            </a:r>
            <a:r>
              <a:rPr lang="en-US" sz="2000" dirty="0" smtClean="0"/>
              <a:t>(</a:t>
            </a:r>
            <a:r>
              <a:rPr lang="en-US" sz="2000" dirty="0" err="1" smtClean="0"/>
              <a:t>rpcHandle</a:t>
            </a:r>
            <a:r>
              <a:rPr lang="en-US" sz="2000" dirty="0" smtClean="0"/>
              <a:t>); //Wait for RPC completion</a:t>
            </a:r>
          </a:p>
          <a:p>
            <a:pPr>
              <a:buNone/>
            </a:pPr>
            <a:r>
              <a:rPr lang="en-US" sz="2000" dirty="0" smtClean="0"/>
              <a:t>    </a:t>
            </a:r>
            <a:r>
              <a:rPr lang="en-US" sz="2000" dirty="0" err="1" smtClean="0"/>
              <a:t>myoAcquire</a:t>
            </a:r>
            <a:r>
              <a:rPr lang="en-US" sz="2000" dirty="0" smtClean="0"/>
              <a:t>();//acquire after RPC return</a:t>
            </a:r>
          </a:p>
          <a:p>
            <a:pPr>
              <a:buNone/>
            </a:pPr>
            <a:r>
              <a:rPr lang="en-US" dirty="0" smtClean="0"/>
              <a:t>Finalize MYO</a:t>
            </a:r>
          </a:p>
          <a:p>
            <a:pPr>
              <a:buNone/>
            </a:pPr>
            <a:r>
              <a:rPr lang="en-US" sz="2000" dirty="0" smtClean="0"/>
              <a:t>   </a:t>
            </a:r>
            <a:r>
              <a:rPr lang="en-US" sz="2000" dirty="0" err="1" smtClean="0"/>
              <a:t>myoiLibFini</a:t>
            </a:r>
            <a:r>
              <a:rPr lang="en-US" sz="2000" dirty="0" smtClean="0"/>
              <a:t>();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7839C3-4C75-4980-81B5-0F633030F8FC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Hello World Client (Host)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500"/>
              </a:lnSpc>
              <a:buNone/>
            </a:pPr>
            <a:r>
              <a:rPr lang="en-US" sz="1200" dirty="0" err="1" smtClean="0"/>
              <a:t>int</a:t>
            </a:r>
            <a:r>
              <a:rPr lang="en-US" sz="1200" dirty="0" smtClean="0"/>
              <a:t> main(</a:t>
            </a:r>
            <a:r>
              <a:rPr lang="en-US" sz="1200" dirty="0" err="1" smtClean="0"/>
              <a:t>int</a:t>
            </a:r>
            <a:r>
              <a:rPr lang="en-US" sz="1200" dirty="0" smtClean="0"/>
              <a:t> </a:t>
            </a:r>
            <a:r>
              <a:rPr lang="en-US" sz="1200" dirty="0" err="1" smtClean="0"/>
              <a:t>argc</a:t>
            </a:r>
            <a:r>
              <a:rPr lang="en-US" sz="1200" dirty="0" smtClean="0"/>
              <a:t>, char * </a:t>
            </a:r>
            <a:r>
              <a:rPr lang="en-US" sz="1200" dirty="0" err="1" smtClean="0"/>
              <a:t>argv</a:t>
            </a:r>
            <a:r>
              <a:rPr lang="en-US" sz="1200" dirty="0" smtClean="0"/>
              <a:t>[]){</a:t>
            </a:r>
          </a:p>
          <a:p>
            <a:pPr>
              <a:lnSpc>
                <a:spcPts val="500"/>
              </a:lnSpc>
              <a:buNone/>
            </a:pPr>
            <a:endParaRPr lang="en-US" sz="1200" dirty="0" smtClean="0"/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</a:t>
            </a:r>
            <a:r>
              <a:rPr lang="en-US" sz="1200" dirty="0" err="1" smtClean="0"/>
              <a:t>MyoiRFuncCallHandle</a:t>
            </a:r>
            <a:r>
              <a:rPr lang="en-US" sz="1200" dirty="0" smtClean="0"/>
              <a:t> </a:t>
            </a:r>
            <a:r>
              <a:rPr lang="en-US" sz="1200" dirty="0" err="1" smtClean="0"/>
              <a:t>rpcHandle</a:t>
            </a:r>
            <a:r>
              <a:rPr lang="en-US" sz="1200" dirty="0" smtClean="0"/>
              <a:t> ;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</a:t>
            </a:r>
            <a:r>
              <a:rPr lang="en-US" sz="1200" b="1" dirty="0" err="1" smtClean="0">
                <a:solidFill>
                  <a:srgbClr val="FFFF00"/>
                </a:solidFill>
              </a:rPr>
              <a:t>myoiLibInit</a:t>
            </a:r>
            <a:r>
              <a:rPr lang="en-US" sz="1200" dirty="0" smtClean="0"/>
              <a:t>(NULL, (void*)&amp;</a:t>
            </a:r>
            <a:r>
              <a:rPr lang="en-US" sz="1200" b="1" dirty="0" err="1" smtClean="0">
                <a:solidFill>
                  <a:srgbClr val="FFFF00"/>
                </a:solidFill>
              </a:rPr>
              <a:t>myoiUserInit</a:t>
            </a:r>
            <a:r>
              <a:rPr lang="en-US" sz="1200" dirty="0" smtClean="0"/>
              <a:t>)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char * buffer;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char temp[50] = "hello world";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</a:t>
            </a:r>
            <a:r>
              <a:rPr lang="en-US" sz="1200" b="1" dirty="0" smtClean="0">
                <a:solidFill>
                  <a:srgbClr val="FFFF00"/>
                </a:solidFill>
              </a:rPr>
              <a:t>buffer</a:t>
            </a:r>
            <a:r>
              <a:rPr lang="en-US" sz="1200" dirty="0" smtClean="0"/>
              <a:t> = (char *)</a:t>
            </a:r>
            <a:r>
              <a:rPr lang="en-US" sz="1200" dirty="0" err="1" smtClean="0"/>
              <a:t>myoSharedMalloc</a:t>
            </a:r>
            <a:r>
              <a:rPr lang="en-US" sz="1200" dirty="0" smtClean="0"/>
              <a:t>(</a:t>
            </a:r>
            <a:r>
              <a:rPr lang="en-US" sz="1200" dirty="0" err="1" smtClean="0"/>
              <a:t>sizeof</a:t>
            </a:r>
            <a:r>
              <a:rPr lang="en-US" sz="1200" dirty="0" smtClean="0"/>
              <a:t>(char) * MAXWORLD *2)</a:t>
            </a:r>
          </a:p>
          <a:p>
            <a:pPr>
              <a:lnSpc>
                <a:spcPts val="500"/>
              </a:lnSpc>
              <a:buNone/>
            </a:pPr>
            <a:endParaRPr lang="en-US" sz="1200" dirty="0" smtClean="0"/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</a:t>
            </a:r>
            <a:r>
              <a:rPr lang="en-US" sz="1200" dirty="0" err="1" smtClean="0"/>
              <a:t>strcpy</a:t>
            </a:r>
            <a:r>
              <a:rPr lang="en-US" sz="1200" dirty="0" smtClean="0"/>
              <a:t>(buffer, temp);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</a:t>
            </a:r>
            <a:r>
              <a:rPr lang="en-US" sz="1200" dirty="0" err="1" smtClean="0"/>
              <a:t>printf</a:t>
            </a:r>
            <a:r>
              <a:rPr lang="en-US" sz="1200" dirty="0" smtClean="0"/>
              <a:t>("%s\n", buffer);</a:t>
            </a:r>
          </a:p>
          <a:p>
            <a:pPr>
              <a:lnSpc>
                <a:spcPts val="500"/>
              </a:lnSpc>
              <a:buNone/>
            </a:pPr>
            <a:endParaRPr lang="en-US" sz="1200" dirty="0" smtClean="0"/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</a:t>
            </a:r>
            <a:r>
              <a:rPr lang="en-US" sz="1200" b="1" dirty="0" err="1" smtClean="0">
                <a:solidFill>
                  <a:srgbClr val="FFFF00"/>
                </a:solidFill>
              </a:rPr>
              <a:t>myoRelease</a:t>
            </a:r>
            <a:r>
              <a:rPr lang="en-US" sz="1200" dirty="0" smtClean="0"/>
              <a:t>(); //Release before RPC</a:t>
            </a:r>
          </a:p>
          <a:p>
            <a:pPr>
              <a:lnSpc>
                <a:spcPts val="500"/>
              </a:lnSpc>
              <a:buNone/>
            </a:pPr>
            <a:endParaRPr lang="en-US" sz="1200" dirty="0" smtClean="0"/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</a:t>
            </a:r>
            <a:r>
              <a:rPr lang="en-US" sz="1200" dirty="0" err="1" smtClean="0"/>
              <a:t>rpcHandle</a:t>
            </a:r>
            <a:r>
              <a:rPr lang="en-US" sz="1200" dirty="0" smtClean="0"/>
              <a:t> = </a:t>
            </a:r>
            <a:r>
              <a:rPr lang="en-US" sz="1200" b="1" dirty="0" err="1" smtClean="0">
                <a:solidFill>
                  <a:srgbClr val="FFFF00"/>
                </a:solidFill>
              </a:rPr>
              <a:t>myoiRemoteCall</a:t>
            </a:r>
            <a:r>
              <a:rPr lang="en-US" sz="1200" dirty="0" smtClean="0"/>
              <a:t>((char*)"</a:t>
            </a:r>
            <a:r>
              <a:rPr lang="en-US" sz="1200" b="1" dirty="0" smtClean="0">
                <a:solidFill>
                  <a:srgbClr val="FFFF00"/>
                </a:solidFill>
              </a:rPr>
              <a:t>kernel</a:t>
            </a:r>
            <a:r>
              <a:rPr lang="en-US" sz="1200" dirty="0" smtClean="0"/>
              <a:t>", buffer, 0); //Function to run on MIC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</a:t>
            </a:r>
            <a:r>
              <a:rPr lang="en-US" sz="1200" b="1" dirty="0" err="1" smtClean="0">
                <a:solidFill>
                  <a:srgbClr val="FFFF00"/>
                </a:solidFill>
              </a:rPr>
              <a:t>myoiGetResult</a:t>
            </a:r>
            <a:r>
              <a:rPr lang="en-US" sz="1200" dirty="0" smtClean="0"/>
              <a:t>(</a:t>
            </a:r>
            <a:r>
              <a:rPr lang="en-US" sz="1200" dirty="0" err="1" smtClean="0"/>
              <a:t>rpcHandle</a:t>
            </a:r>
            <a:r>
              <a:rPr lang="en-US" sz="1200" dirty="0" smtClean="0"/>
              <a:t>);</a:t>
            </a:r>
          </a:p>
          <a:p>
            <a:pPr>
              <a:lnSpc>
                <a:spcPts val="500"/>
              </a:lnSpc>
              <a:buNone/>
            </a:pPr>
            <a:endParaRPr lang="en-US" sz="1200" dirty="0" smtClean="0"/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</a:t>
            </a:r>
            <a:r>
              <a:rPr lang="en-US" sz="1200" b="1" dirty="0" err="1" smtClean="0">
                <a:solidFill>
                  <a:srgbClr val="FFFF00"/>
                </a:solidFill>
              </a:rPr>
              <a:t>myoAcquire</a:t>
            </a:r>
            <a:r>
              <a:rPr lang="en-US" sz="1200" dirty="0" smtClean="0"/>
              <a:t>();//acquire after RPC return</a:t>
            </a:r>
          </a:p>
          <a:p>
            <a:pPr>
              <a:lnSpc>
                <a:spcPts val="500"/>
              </a:lnSpc>
              <a:buNone/>
            </a:pPr>
            <a:endParaRPr lang="en-US" sz="1200" dirty="0" smtClean="0"/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</a:t>
            </a:r>
            <a:r>
              <a:rPr lang="en-US" sz="1200" dirty="0" err="1" smtClean="0"/>
              <a:t>printf</a:t>
            </a:r>
            <a:r>
              <a:rPr lang="en-US" sz="1200" dirty="0" smtClean="0"/>
              <a:t>("%s\n", buffer);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</a:t>
            </a:r>
            <a:r>
              <a:rPr lang="en-US" sz="1200" b="1" dirty="0" err="1" smtClean="0">
                <a:solidFill>
                  <a:srgbClr val="FFFF00"/>
                </a:solidFill>
              </a:rPr>
              <a:t>myoiLibFini</a:t>
            </a:r>
            <a:r>
              <a:rPr lang="en-US" sz="1200" dirty="0" smtClean="0"/>
              <a:t>();</a:t>
            </a:r>
          </a:p>
          <a:p>
            <a:pPr>
              <a:lnSpc>
                <a:spcPts val="500"/>
              </a:lnSpc>
              <a:buNone/>
            </a:pPr>
            <a:endParaRPr lang="en-US" sz="1200" dirty="0" smtClean="0"/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return (0);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}</a:t>
            </a:r>
          </a:p>
          <a:p>
            <a:pPr>
              <a:lnSpc>
                <a:spcPts val="500"/>
              </a:lnSpc>
              <a:buNone/>
            </a:pPr>
            <a:endParaRPr lang="en-US" sz="1200" dirty="0" smtClean="0"/>
          </a:p>
          <a:p>
            <a:pPr>
              <a:lnSpc>
                <a:spcPts val="500"/>
              </a:lnSpc>
              <a:buNone/>
            </a:pPr>
            <a:r>
              <a:rPr lang="en-US" sz="1200" dirty="0" err="1" smtClean="0"/>
              <a:t>MyoError</a:t>
            </a:r>
            <a:r>
              <a:rPr lang="en-US" sz="1200" dirty="0" smtClean="0"/>
              <a:t> </a:t>
            </a:r>
            <a:r>
              <a:rPr lang="en-US" sz="1200" dirty="0" err="1" smtClean="0"/>
              <a:t>myoiUserInit</a:t>
            </a:r>
            <a:r>
              <a:rPr lang="en-US" sz="1200" dirty="0" smtClean="0"/>
              <a:t>(void){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</a:t>
            </a:r>
            <a:r>
              <a:rPr lang="en-US" sz="1200" dirty="0" err="1" smtClean="0"/>
              <a:t>MyoError</a:t>
            </a:r>
            <a:r>
              <a:rPr lang="en-US" sz="1200" dirty="0" smtClean="0"/>
              <a:t> ret = MYO_SUCCESS;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return ret;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}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7839C3-4C75-4980-81B5-0F633030F8FC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Hello World Service (Device)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500"/>
              </a:lnSpc>
              <a:buNone/>
            </a:pPr>
            <a:r>
              <a:rPr lang="en-US" sz="1200" dirty="0" smtClean="0"/>
              <a:t>extern </a:t>
            </a:r>
            <a:r>
              <a:rPr lang="en-US" sz="1200" dirty="0" err="1" smtClean="0"/>
              <a:t>MyoError</a:t>
            </a:r>
            <a:r>
              <a:rPr lang="en-US" sz="1200" dirty="0" smtClean="0"/>
              <a:t> </a:t>
            </a:r>
            <a:r>
              <a:rPr lang="en-US" sz="1200" dirty="0" err="1" smtClean="0"/>
              <a:t>myoiUserInit</a:t>
            </a:r>
            <a:r>
              <a:rPr lang="en-US" sz="1200" dirty="0" smtClean="0"/>
              <a:t>(void);</a:t>
            </a:r>
          </a:p>
          <a:p>
            <a:pPr>
              <a:lnSpc>
                <a:spcPts val="500"/>
              </a:lnSpc>
              <a:buNone/>
            </a:pPr>
            <a:endParaRPr lang="en-US" sz="1200" dirty="0" smtClean="0"/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//Remote function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void kernel(char * buffer)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{</a:t>
            </a:r>
          </a:p>
          <a:p>
            <a:pPr>
              <a:lnSpc>
                <a:spcPts val="500"/>
              </a:lnSpc>
              <a:buNone/>
            </a:pPr>
            <a:r>
              <a:rPr lang="en-US" sz="1200" b="1" dirty="0" smtClean="0">
                <a:solidFill>
                  <a:srgbClr val="FFFF00"/>
                </a:solidFill>
              </a:rPr>
              <a:t>    </a:t>
            </a:r>
            <a:r>
              <a:rPr lang="en-US" sz="1200" b="1" dirty="0" err="1" smtClean="0">
                <a:solidFill>
                  <a:srgbClr val="FFFF00"/>
                </a:solidFill>
              </a:rPr>
              <a:t>myoAcquire</a:t>
            </a:r>
            <a:r>
              <a:rPr lang="en-US" sz="1200" dirty="0" smtClean="0"/>
              <a:t>(); //acquire in service</a:t>
            </a:r>
          </a:p>
          <a:p>
            <a:pPr>
              <a:lnSpc>
                <a:spcPts val="500"/>
              </a:lnSpc>
              <a:buNone/>
            </a:pPr>
            <a:endParaRPr lang="en-US" sz="1200" dirty="0" smtClean="0"/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char temp[50] = "world hello";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</a:t>
            </a:r>
            <a:r>
              <a:rPr lang="en-US" sz="1200" dirty="0" err="1" smtClean="0"/>
              <a:t>strcpy</a:t>
            </a:r>
            <a:r>
              <a:rPr lang="en-US" sz="1200" dirty="0" smtClean="0"/>
              <a:t>( buffer, temp);</a:t>
            </a:r>
          </a:p>
          <a:p>
            <a:pPr>
              <a:lnSpc>
                <a:spcPts val="500"/>
              </a:lnSpc>
              <a:buNone/>
            </a:pPr>
            <a:endParaRPr lang="en-US" sz="1200" b="1" dirty="0" smtClean="0">
              <a:solidFill>
                <a:srgbClr val="FFFF00"/>
              </a:solidFill>
            </a:endParaRPr>
          </a:p>
          <a:p>
            <a:pPr>
              <a:lnSpc>
                <a:spcPts val="500"/>
              </a:lnSpc>
              <a:buNone/>
            </a:pPr>
            <a:r>
              <a:rPr lang="en-US" sz="1200" b="1" dirty="0" smtClean="0">
                <a:solidFill>
                  <a:srgbClr val="FFFF00"/>
                </a:solidFill>
              </a:rPr>
              <a:t>    </a:t>
            </a:r>
            <a:r>
              <a:rPr lang="en-US" sz="1200" b="1" dirty="0" err="1" smtClean="0">
                <a:solidFill>
                  <a:srgbClr val="FFFF00"/>
                </a:solidFill>
              </a:rPr>
              <a:t>myoRelease</a:t>
            </a:r>
            <a:r>
              <a:rPr lang="en-US" sz="1200" dirty="0" smtClean="0"/>
              <a:t>(); //release before return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}</a:t>
            </a:r>
          </a:p>
          <a:p>
            <a:pPr>
              <a:lnSpc>
                <a:spcPts val="500"/>
              </a:lnSpc>
              <a:buNone/>
            </a:pPr>
            <a:endParaRPr lang="en-US" sz="1200" dirty="0" smtClean="0"/>
          </a:p>
          <a:p>
            <a:pPr>
              <a:lnSpc>
                <a:spcPts val="500"/>
              </a:lnSpc>
              <a:buNone/>
            </a:pPr>
            <a:r>
              <a:rPr lang="en-US" sz="1200" dirty="0" err="1" smtClean="0"/>
              <a:t>int</a:t>
            </a:r>
            <a:r>
              <a:rPr lang="en-US" sz="1200" dirty="0" smtClean="0"/>
              <a:t> main(</a:t>
            </a:r>
            <a:r>
              <a:rPr lang="en-US" sz="1200" dirty="0" err="1" smtClean="0"/>
              <a:t>int</a:t>
            </a:r>
            <a:r>
              <a:rPr lang="en-US" sz="1200" dirty="0" smtClean="0"/>
              <a:t> </a:t>
            </a:r>
            <a:r>
              <a:rPr lang="en-US" sz="1200" dirty="0" err="1" smtClean="0"/>
              <a:t>argc</a:t>
            </a:r>
            <a:r>
              <a:rPr lang="en-US" sz="1200" dirty="0" smtClean="0"/>
              <a:t>, char * </a:t>
            </a:r>
            <a:r>
              <a:rPr lang="en-US" sz="1200" dirty="0" err="1" smtClean="0"/>
              <a:t>argv</a:t>
            </a:r>
            <a:r>
              <a:rPr lang="en-US" sz="1200" dirty="0" smtClean="0"/>
              <a:t>[]){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</a:t>
            </a:r>
            <a:r>
              <a:rPr lang="en-US" sz="1200" b="1" dirty="0" err="1" smtClean="0">
                <a:solidFill>
                  <a:srgbClr val="FFFF00"/>
                </a:solidFill>
              </a:rPr>
              <a:t>myoiLibInit</a:t>
            </a:r>
            <a:r>
              <a:rPr lang="en-US" sz="1200" dirty="0" smtClean="0"/>
              <a:t>(NULL, (void*)&amp;</a:t>
            </a:r>
            <a:r>
              <a:rPr lang="en-US" sz="1200" b="1" dirty="0" err="1" smtClean="0">
                <a:solidFill>
                  <a:srgbClr val="FFFF00"/>
                </a:solidFill>
              </a:rPr>
              <a:t>myoiUserInit</a:t>
            </a:r>
            <a:r>
              <a:rPr lang="en-US" sz="1200" dirty="0" smtClean="0"/>
              <a:t>);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</a:t>
            </a:r>
            <a:r>
              <a:rPr lang="en-US" sz="1200" b="1" dirty="0" err="1" smtClean="0">
                <a:solidFill>
                  <a:srgbClr val="FFFF00"/>
                </a:solidFill>
              </a:rPr>
              <a:t>myoiLibFin</a:t>
            </a:r>
            <a:r>
              <a:rPr lang="en-US" sz="1200" dirty="0" err="1" smtClean="0"/>
              <a:t>i</a:t>
            </a:r>
            <a:r>
              <a:rPr lang="en-US" sz="1200" dirty="0" smtClean="0"/>
              <a:t>();</a:t>
            </a:r>
          </a:p>
          <a:p>
            <a:pPr>
              <a:lnSpc>
                <a:spcPts val="500"/>
              </a:lnSpc>
              <a:buNone/>
            </a:pPr>
            <a:endParaRPr lang="en-US" sz="1200" dirty="0" smtClean="0"/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return (0);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}</a:t>
            </a:r>
          </a:p>
          <a:p>
            <a:pPr>
              <a:lnSpc>
                <a:spcPts val="500"/>
              </a:lnSpc>
              <a:buNone/>
            </a:pPr>
            <a:endParaRPr lang="en-US" sz="1200" dirty="0" smtClean="0"/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//Init Function, Generated by Translator or by Hand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err="1" smtClean="0"/>
              <a:t>MyoError</a:t>
            </a:r>
            <a:r>
              <a:rPr lang="en-US" sz="1200" dirty="0" smtClean="0"/>
              <a:t> </a:t>
            </a:r>
            <a:r>
              <a:rPr lang="en-US" sz="1200" dirty="0" err="1" smtClean="0"/>
              <a:t>myoiUserInit</a:t>
            </a:r>
            <a:r>
              <a:rPr lang="en-US" sz="1200" dirty="0" smtClean="0"/>
              <a:t>(void){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</a:t>
            </a:r>
            <a:r>
              <a:rPr lang="en-US" sz="1200" dirty="0" err="1" smtClean="0"/>
              <a:t>MyoError</a:t>
            </a:r>
            <a:r>
              <a:rPr lang="en-US" sz="1200" dirty="0" smtClean="0"/>
              <a:t> ret = MYO_SUCCESS;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ret = </a:t>
            </a:r>
            <a:r>
              <a:rPr lang="en-US" sz="1200" b="1" dirty="0" err="1" smtClean="0">
                <a:solidFill>
                  <a:srgbClr val="FFFF00"/>
                </a:solidFill>
              </a:rPr>
              <a:t>myoiRemoteFuncRegister</a:t>
            </a:r>
            <a:r>
              <a:rPr lang="en-US" sz="1200" dirty="0" smtClean="0"/>
              <a:t>((</a:t>
            </a:r>
            <a:r>
              <a:rPr lang="en-US" sz="1200" dirty="0" err="1" smtClean="0"/>
              <a:t>MyoiRemoteFuncType</a:t>
            </a:r>
            <a:r>
              <a:rPr lang="en-US" sz="1200" dirty="0" smtClean="0"/>
              <a:t>) kernel, "</a:t>
            </a:r>
            <a:r>
              <a:rPr lang="en-US" sz="1200" b="1" dirty="0" smtClean="0">
                <a:solidFill>
                  <a:srgbClr val="FFFF00"/>
                </a:solidFill>
              </a:rPr>
              <a:t>kernel</a:t>
            </a:r>
            <a:r>
              <a:rPr lang="en-US" sz="1200" dirty="0" smtClean="0"/>
              <a:t>");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   return ret;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}</a:t>
            </a:r>
          </a:p>
          <a:p>
            <a:pPr>
              <a:lnSpc>
                <a:spcPts val="500"/>
              </a:lnSpc>
              <a:buNone/>
            </a:pPr>
            <a:r>
              <a:rPr lang="en-US" sz="1200" dirty="0" smtClean="0"/>
              <a:t> 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7839C3-4C75-4980-81B5-0F633030F8FC}" type="slidenum">
              <a:rPr lang="en-US" altLang="zh-CN" smtClean="0"/>
              <a:pPr>
                <a:defRPr/>
              </a:pPr>
              <a:t>18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Case Study: Volume Rendering(VR)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volume rendering</a:t>
            </a:r>
            <a:r>
              <a:rPr lang="en-US" dirty="0" smtClean="0"/>
              <a:t> is used to display a 2D projection of a 3D discretely sampled data set</a:t>
            </a:r>
          </a:p>
          <a:p>
            <a:r>
              <a:rPr lang="en-US" dirty="0" smtClean="0"/>
              <a:t>Favors MYO due to complex data structure.</a:t>
            </a:r>
          </a:p>
          <a:p>
            <a:r>
              <a:rPr lang="en-US" dirty="0" smtClean="0"/>
              <a:t>Sequential code: Init complex data structure</a:t>
            </a:r>
          </a:p>
          <a:p>
            <a:r>
              <a:rPr lang="en-US" dirty="0" smtClean="0"/>
              <a:t>Parallel Code: Volume Rendering kernel</a:t>
            </a:r>
          </a:p>
          <a:p>
            <a:r>
              <a:rPr lang="en-US" dirty="0" smtClean="0"/>
              <a:t>Optimal Solution: Init on host, run Render on MIC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7839C3-4C75-4980-81B5-0F633030F8FC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Case Study: Volume Rendering(VR)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752373" y="1388976"/>
          <a:ext cx="7627713" cy="1111131"/>
        </p:xfrm>
        <a:graphic>
          <a:graphicData uri="http://schemas.openxmlformats.org/drawingml/2006/table">
            <a:tbl>
              <a:tblPr/>
              <a:tblGrid>
                <a:gridCol w="1956118"/>
                <a:gridCol w="1157469"/>
                <a:gridCol w="1655180"/>
                <a:gridCol w="1435260"/>
                <a:gridCol w="1423686"/>
              </a:tblGrid>
              <a:tr h="520863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Execution mode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Offload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MYO (Hybrid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)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MYO (Eager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)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MYO(Lazy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)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02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Time(seconds)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11.04125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6.7675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6.8815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10.78513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7839C3-4C75-4980-81B5-0F633030F8FC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6" name="TextBox 5"/>
          <p:cNvSpPr txBox="1"/>
          <p:nvPr/>
        </p:nvSpPr>
        <p:spPr>
          <a:xfrm>
            <a:off x="266218" y="2974694"/>
            <a:ext cx="864628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dirty="0" smtClean="0">
                <a:latin typeface="Calibri" pitchFamily="34" charset="0"/>
                <a:cs typeface="Calibri" pitchFamily="34" charset="0"/>
              </a:rPr>
              <a:t>Offload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 b="0" dirty="0" smtClean="0">
                <a:latin typeface="Calibri" pitchFamily="34" charset="0"/>
                <a:cs typeface="Calibri" pitchFamily="34" charset="0"/>
              </a:rPr>
              <a:t>Read input from file on host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 b="0" dirty="0" smtClean="0">
                <a:latin typeface="Calibri" pitchFamily="34" charset="0"/>
                <a:cs typeface="Calibri" pitchFamily="34" charset="0"/>
              </a:rPr>
              <a:t>Transfer data to device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 b="0" dirty="0" smtClean="0">
                <a:latin typeface="Calibri" pitchFamily="34" charset="0"/>
                <a:cs typeface="Calibri" pitchFamily="34" charset="0"/>
              </a:rPr>
              <a:t>Init the data structure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 b="0" dirty="0" smtClean="0">
                <a:latin typeface="Calibri" pitchFamily="34" charset="0"/>
                <a:cs typeface="Calibri" pitchFamily="34" charset="0"/>
              </a:rPr>
              <a:t>Execute the parallel rendering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8143" y="4643419"/>
            <a:ext cx="86462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dirty="0" smtClean="0">
                <a:latin typeface="Calibri" pitchFamily="34" charset="0"/>
                <a:cs typeface="Calibri" pitchFamily="34" charset="0"/>
              </a:rPr>
              <a:t>MYO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 b="0" dirty="0" smtClean="0">
                <a:latin typeface="Calibri" pitchFamily="34" charset="0"/>
                <a:cs typeface="Calibri" pitchFamily="34" charset="0"/>
              </a:rPr>
              <a:t>Read input from file on host and Init the data structure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 b="0" dirty="0" smtClean="0">
                <a:latin typeface="Calibri" pitchFamily="34" charset="0"/>
                <a:cs typeface="Calibri" pitchFamily="34" charset="0"/>
              </a:rPr>
              <a:t>Transfer data to device on demand(hybrid and lazy) or on acquire(Eager)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 b="0" dirty="0" smtClean="0">
                <a:latin typeface="Calibri" pitchFamily="34" charset="0"/>
                <a:cs typeface="Calibri" pitchFamily="34" charset="0"/>
              </a:rPr>
              <a:t>Execute the parallel rendering 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273050"/>
            <a:ext cx="8688387" cy="889000"/>
          </a:xfrm>
        </p:spPr>
        <p:txBody>
          <a:bodyPr/>
          <a:lstStyle/>
          <a:p>
            <a:r>
              <a:rPr lang="en-US" altLang="zh-CN" dirty="0" smtClean="0">
                <a:ea typeface="宋体" charset="-122"/>
              </a:rPr>
              <a:t>Summary: MYO Usage Model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341438"/>
            <a:ext cx="8237537" cy="43434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 dirty="0" smtClean="0">
                <a:ea typeface="宋体" charset="-122"/>
              </a:rPr>
              <a:t>We expect MYO has following advantages for MIC.</a:t>
            </a:r>
          </a:p>
          <a:p>
            <a:pPr>
              <a:lnSpc>
                <a:spcPct val="80000"/>
              </a:lnSpc>
            </a:pPr>
            <a:r>
              <a:rPr lang="en-US" altLang="zh-CN" dirty="0" smtClean="0">
                <a:ea typeface="宋体" charset="-122"/>
              </a:rPr>
              <a:t>Easy programming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dirty="0" smtClean="0">
                <a:ea typeface="宋体" charset="-122"/>
              </a:rPr>
              <a:t>		Shared memory programming model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dirty="0" smtClean="0">
                <a:ea typeface="宋体" charset="-122"/>
              </a:rPr>
              <a:t>		No data marshalling</a:t>
            </a:r>
          </a:p>
          <a:p>
            <a:pPr>
              <a:lnSpc>
                <a:spcPct val="80000"/>
              </a:lnSpc>
            </a:pPr>
            <a:r>
              <a:rPr lang="en-US" altLang="zh-CN" dirty="0" smtClean="0">
                <a:ea typeface="宋体" charset="-122"/>
              </a:rPr>
              <a:t>Competitive performance with message passing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dirty="0" smtClean="0">
                <a:ea typeface="宋体" charset="-122"/>
              </a:rPr>
              <a:t>		No Data marshalling overhead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dirty="0" smtClean="0">
                <a:ea typeface="宋体" charset="-122"/>
              </a:rPr>
              <a:t>		VSM with release consistency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dirty="0" smtClean="0">
                <a:ea typeface="宋体" charset="-122"/>
              </a:rPr>
              <a:t>		Fine-grained control of data sharing.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zh-CN" sz="1600" dirty="0" smtClean="0">
              <a:ea typeface="宋体" charset="-122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zh-CN" sz="1600" dirty="0" smtClean="0">
              <a:ea typeface="宋体" charset="-122"/>
            </a:endParaRPr>
          </a:p>
          <a:p>
            <a:pPr>
              <a:lnSpc>
                <a:spcPct val="80000"/>
              </a:lnSpc>
            </a:pPr>
            <a:endParaRPr lang="en-US" altLang="zh-CN" sz="1600" dirty="0" smtClean="0">
              <a:ea typeface="宋体" charset="-122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41F5FE8-D59C-4854-BEDB-75CE7C70F7F2}" type="slidenum">
              <a:rPr lang="en-US" altLang="zh-CN"/>
              <a:pPr/>
              <a:t>21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273050"/>
            <a:ext cx="8688387" cy="889000"/>
          </a:xfrm>
        </p:spPr>
        <p:txBody>
          <a:bodyPr/>
          <a:lstStyle/>
          <a:p>
            <a:r>
              <a:rPr lang="en-US" altLang="zh-CN" smtClean="0">
                <a:ea typeface="宋体" charset="-122"/>
              </a:rPr>
              <a:t>Q&amp;A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341438"/>
            <a:ext cx="8237537" cy="43434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altLang="zh-CN" sz="1600" dirty="0" smtClean="0">
              <a:ea typeface="宋体" charset="-122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zh-CN" sz="1600" dirty="0" smtClean="0">
              <a:ea typeface="宋体" charset="-122"/>
            </a:endParaRPr>
          </a:p>
          <a:p>
            <a:pPr>
              <a:lnSpc>
                <a:spcPct val="80000"/>
              </a:lnSpc>
            </a:pPr>
            <a:endParaRPr lang="en-US" altLang="zh-CN" sz="1600" dirty="0" smtClean="0">
              <a:ea typeface="宋体" charset="-122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EBE322E-B16A-4EA8-84B8-86F7D6266A27}" type="slidenum">
              <a:rPr lang="en-US" altLang="zh-CN" smtClean="0"/>
              <a:pPr/>
              <a:t>22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350863" y="2890857"/>
            <a:ext cx="8237537" cy="889000"/>
          </a:xfrm>
        </p:spPr>
        <p:txBody>
          <a:bodyPr/>
          <a:lstStyle/>
          <a:p>
            <a:pPr algn="ctr"/>
            <a:r>
              <a:rPr lang="en-US" sz="3200" dirty="0" smtClean="0"/>
              <a:t>Backup</a:t>
            </a:r>
            <a:endParaRPr lang="en-US" sz="3200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455613" y="6357938"/>
            <a:ext cx="415925" cy="304800"/>
          </a:xfrm>
          <a:noFill/>
        </p:spPr>
        <p:txBody>
          <a:bodyPr/>
          <a:lstStyle/>
          <a:p>
            <a:fld id="{EEBE322E-B16A-4EA8-84B8-86F7D6266A27}" type="slidenum">
              <a:rPr lang="en-US" altLang="zh-CN" smtClean="0"/>
              <a:pPr/>
              <a:t>23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Case Study: Volume Rendering(VR)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85198" y="902826"/>
          <a:ext cx="8854636" cy="4722144"/>
        </p:xfrm>
        <a:graphic>
          <a:graphicData uri="http://schemas.openxmlformats.org/drawingml/2006/table">
            <a:tbl>
              <a:tblPr/>
              <a:tblGrid>
                <a:gridCol w="1496558"/>
                <a:gridCol w="1294333"/>
                <a:gridCol w="1574071"/>
                <a:gridCol w="1496558"/>
                <a:gridCol w="1496558"/>
                <a:gridCol w="1496558"/>
              </a:tblGrid>
              <a:tr h="98378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Offload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myo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 (hybrid)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myo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 (eager)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myo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 (lazy)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native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351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trial 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12.003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6.804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6.869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10.877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5.82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351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trial 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11.157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6.708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6.969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10.734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5.88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351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trial 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10.769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6.863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6.885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10.736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5.87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351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trial 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11.124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6.648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6.857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10.828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6.05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351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trial 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10.968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6.722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6.856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10.842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6.06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351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trial 6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10.651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6.765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6.881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10.634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6.03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351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trial 7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10.876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6.911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6.878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10.725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5.82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351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trial 8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10.782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6.719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6.857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10.905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5.96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02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averages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11.04125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6.7675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6.8815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10.78513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5.93625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7839C3-4C75-4980-81B5-0F633030F8FC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ChangeArrowheads="1"/>
          </p:cNvSpPr>
          <p:nvPr/>
        </p:nvSpPr>
        <p:spPr bwMode="auto">
          <a:xfrm>
            <a:off x="539750" y="2360613"/>
            <a:ext cx="809625" cy="2690812"/>
          </a:xfrm>
          <a:prstGeom prst="rect">
            <a:avLst/>
          </a:prstGeom>
          <a:solidFill>
            <a:schemeClr val="tx2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r>
              <a:rPr lang="en-US" altLang="zh-CN" sz="2000">
                <a:solidFill>
                  <a:schemeClr val="bg1"/>
                </a:solidFill>
                <a:ea typeface="宋体" charset="-122"/>
              </a:rPr>
              <a:t>Initialization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58750" y="273050"/>
            <a:ext cx="8937625" cy="889000"/>
          </a:xfrm>
        </p:spPr>
        <p:txBody>
          <a:bodyPr/>
          <a:lstStyle/>
          <a:p>
            <a:r>
              <a:rPr lang="en-US" altLang="zh-CN" smtClean="0">
                <a:ea typeface="宋体" charset="-122"/>
              </a:rPr>
              <a:t>MYO Runtime Modules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479425" y="1438275"/>
            <a:ext cx="7689850" cy="855663"/>
          </a:xfrm>
          <a:prstGeom prst="rect">
            <a:avLst/>
          </a:prstGeom>
          <a:solidFill>
            <a:schemeClr val="accent5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zh-CN" sz="2000" dirty="0">
                <a:solidFill>
                  <a:schemeClr val="bg1"/>
                </a:solidFill>
                <a:ea typeface="宋体" charset="-122"/>
              </a:rPr>
              <a:t>MYO Runtime APIs (</a:t>
            </a:r>
            <a:r>
              <a:rPr lang="en-US" altLang="zh-CN" sz="2000" dirty="0" err="1">
                <a:solidFill>
                  <a:schemeClr val="bg1"/>
                </a:solidFill>
                <a:ea typeface="宋体" charset="-122"/>
              </a:rPr>
              <a:t>myo.h</a:t>
            </a:r>
            <a:r>
              <a:rPr lang="en-US" altLang="zh-CN" sz="2000" dirty="0">
                <a:solidFill>
                  <a:schemeClr val="bg1"/>
                </a:solidFill>
                <a:ea typeface="宋体" charset="-122"/>
              </a:rPr>
              <a:t>)</a:t>
            </a:r>
          </a:p>
        </p:txBody>
      </p:sp>
      <p:sp>
        <p:nvSpPr>
          <p:cNvPr id="10245" name="Rectangle 7"/>
          <p:cNvSpPr>
            <a:spLocks noChangeArrowheads="1"/>
          </p:cNvSpPr>
          <p:nvPr/>
        </p:nvSpPr>
        <p:spPr bwMode="auto">
          <a:xfrm>
            <a:off x="1754188" y="4137025"/>
            <a:ext cx="6249987" cy="887413"/>
          </a:xfrm>
          <a:prstGeom prst="rect">
            <a:avLst/>
          </a:prstGeom>
          <a:solidFill>
            <a:schemeClr val="tx2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altLang="zh-CN" sz="2000">
                <a:solidFill>
                  <a:schemeClr val="bg1"/>
                </a:solidFill>
                <a:ea typeface="宋体" charset="-122"/>
              </a:rPr>
              <a:t>Communication module</a:t>
            </a:r>
          </a:p>
        </p:txBody>
      </p:sp>
      <p:sp>
        <p:nvSpPr>
          <p:cNvPr id="10246" name="Rectangle 7"/>
          <p:cNvSpPr>
            <a:spLocks noChangeArrowheads="1"/>
          </p:cNvSpPr>
          <p:nvPr/>
        </p:nvSpPr>
        <p:spPr bwMode="auto">
          <a:xfrm>
            <a:off x="3627438" y="2578100"/>
            <a:ext cx="1212850" cy="1274763"/>
          </a:xfrm>
          <a:prstGeom prst="rect">
            <a:avLst/>
          </a:prstGeom>
          <a:solidFill>
            <a:schemeClr val="tx2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altLang="zh-CN" sz="2000">
                <a:solidFill>
                  <a:schemeClr val="bg1"/>
                </a:solidFill>
                <a:ea typeface="宋体" charset="-122"/>
              </a:rPr>
              <a:t>Mem</a:t>
            </a:r>
          </a:p>
          <a:p>
            <a:pPr algn="l"/>
            <a:r>
              <a:rPr lang="en-US" altLang="zh-CN" sz="2000">
                <a:solidFill>
                  <a:schemeClr val="bg1"/>
                </a:solidFill>
                <a:ea typeface="宋体" charset="-122"/>
              </a:rPr>
              <a:t>mgmt</a:t>
            </a:r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1747838" y="2597150"/>
            <a:ext cx="1774825" cy="1285875"/>
          </a:xfrm>
          <a:prstGeom prst="rect">
            <a:avLst/>
          </a:prstGeom>
          <a:solidFill>
            <a:schemeClr val="tx2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altLang="zh-CN" sz="2000">
                <a:solidFill>
                  <a:schemeClr val="bg1"/>
                </a:solidFill>
                <a:ea typeface="宋体" charset="-122"/>
              </a:rPr>
              <a:t>Mem</a:t>
            </a:r>
          </a:p>
          <a:p>
            <a:pPr algn="l"/>
            <a:r>
              <a:rPr lang="en-US" altLang="zh-CN" sz="2000">
                <a:solidFill>
                  <a:schemeClr val="bg1"/>
                </a:solidFill>
                <a:ea typeface="宋体" charset="-122"/>
              </a:rPr>
              <a:t>Consistency</a:t>
            </a:r>
          </a:p>
        </p:txBody>
      </p:sp>
      <p:sp>
        <p:nvSpPr>
          <p:cNvPr id="10248" name="Rectangle 7"/>
          <p:cNvSpPr>
            <a:spLocks noChangeArrowheads="1"/>
          </p:cNvSpPr>
          <p:nvPr/>
        </p:nvSpPr>
        <p:spPr bwMode="auto">
          <a:xfrm>
            <a:off x="4987925" y="2597150"/>
            <a:ext cx="1338263" cy="1247775"/>
          </a:xfrm>
          <a:prstGeom prst="rect">
            <a:avLst/>
          </a:prstGeom>
          <a:solidFill>
            <a:schemeClr val="tx2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altLang="zh-CN" sz="2000">
                <a:solidFill>
                  <a:schemeClr val="bg1"/>
                </a:solidFill>
                <a:ea typeface="宋体" charset="-122"/>
              </a:rPr>
              <a:t>RPC</a:t>
            </a:r>
          </a:p>
          <a:p>
            <a:pPr algn="l"/>
            <a:r>
              <a:rPr lang="en-US" altLang="zh-CN" sz="2000">
                <a:solidFill>
                  <a:schemeClr val="bg1"/>
                </a:solidFill>
                <a:ea typeface="宋体" charset="-122"/>
              </a:rPr>
              <a:t>module</a:t>
            </a:r>
          </a:p>
        </p:txBody>
      </p:sp>
      <p:sp>
        <p:nvSpPr>
          <p:cNvPr id="10249" name="Rectangle 7"/>
          <p:cNvSpPr>
            <a:spLocks noChangeArrowheads="1"/>
          </p:cNvSpPr>
          <p:nvPr/>
        </p:nvSpPr>
        <p:spPr bwMode="auto">
          <a:xfrm>
            <a:off x="6470650" y="2598738"/>
            <a:ext cx="1524000" cy="1249362"/>
          </a:xfrm>
          <a:prstGeom prst="rect">
            <a:avLst/>
          </a:prstGeom>
          <a:solidFill>
            <a:schemeClr val="tx2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altLang="zh-CN" sz="2000">
                <a:solidFill>
                  <a:schemeClr val="bg1"/>
                </a:solidFill>
                <a:ea typeface="宋体" charset="-122"/>
              </a:rPr>
              <a:t>Global</a:t>
            </a:r>
          </a:p>
          <a:p>
            <a:pPr algn="l"/>
            <a:r>
              <a:rPr lang="en-US" altLang="zh-CN" sz="2000">
                <a:solidFill>
                  <a:schemeClr val="bg1"/>
                </a:solidFill>
                <a:ea typeface="宋体" charset="-122"/>
              </a:rPr>
              <a:t>Sync.</a:t>
            </a:r>
          </a:p>
          <a:p>
            <a:pPr algn="l"/>
            <a:r>
              <a:rPr lang="en-US" altLang="zh-CN" sz="2000">
                <a:solidFill>
                  <a:schemeClr val="bg1"/>
                </a:solidFill>
                <a:ea typeface="宋体" charset="-122"/>
              </a:rPr>
              <a:t>Primitives</a:t>
            </a:r>
          </a:p>
        </p:txBody>
      </p:sp>
      <p:sp>
        <p:nvSpPr>
          <p:cNvPr id="10250" name="Rectangle 7"/>
          <p:cNvSpPr>
            <a:spLocks noChangeArrowheads="1"/>
          </p:cNvSpPr>
          <p:nvPr/>
        </p:nvSpPr>
        <p:spPr bwMode="auto">
          <a:xfrm>
            <a:off x="479425" y="5203825"/>
            <a:ext cx="7737475" cy="854075"/>
          </a:xfrm>
          <a:prstGeom prst="rect">
            <a:avLst/>
          </a:prstGeom>
          <a:solidFill>
            <a:schemeClr val="tx1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2000" dirty="0">
                <a:solidFill>
                  <a:schemeClr val="bg1"/>
                </a:solidFill>
                <a:ea typeface="宋体" charset="-122"/>
              </a:rPr>
              <a:t>Windows/Linux SCIF </a:t>
            </a:r>
            <a:r>
              <a:rPr lang="en-US" altLang="zh-CN" sz="2000" dirty="0" smtClean="0">
                <a:solidFill>
                  <a:schemeClr val="bg1"/>
                </a:solidFill>
                <a:ea typeface="宋体" charset="-122"/>
              </a:rPr>
              <a:t>API’s</a:t>
            </a:r>
            <a:endParaRPr lang="en-US" altLang="zh-CN" sz="2000" dirty="0">
              <a:solidFill>
                <a:schemeClr val="bg1"/>
              </a:solidFill>
              <a:ea typeface="宋体" charset="-122"/>
            </a:endParaRPr>
          </a:p>
        </p:txBody>
      </p:sp>
      <p:sp>
        <p:nvSpPr>
          <p:cNvPr id="10251" name="Slide Number Placeholder 10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85C4286-CED0-4C0F-9AA5-D8B7F76C7671}" type="slidenum">
              <a:rPr lang="en-US" altLang="zh-CN"/>
              <a:pPr/>
              <a:t>25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_intel_only">
  <a:themeElements>
    <a:clrScheme name="blue_intel_only 1">
      <a:dk1>
        <a:srgbClr val="FF5C00"/>
      </a:dk1>
      <a:lt1>
        <a:srgbClr val="FFFFFF"/>
      </a:lt1>
      <a:dk2>
        <a:srgbClr val="0C2E86"/>
      </a:dk2>
      <a:lt2>
        <a:srgbClr val="F5E647"/>
      </a:lt2>
      <a:accent1>
        <a:srgbClr val="A6CAE1"/>
      </a:accent1>
      <a:accent2>
        <a:srgbClr val="567EB9"/>
      </a:accent2>
      <a:accent3>
        <a:srgbClr val="AAADC3"/>
      </a:accent3>
      <a:accent4>
        <a:srgbClr val="DADADA"/>
      </a:accent4>
      <a:accent5>
        <a:srgbClr val="D0E1EE"/>
      </a:accent5>
      <a:accent6>
        <a:srgbClr val="4D72A7"/>
      </a:accent6>
      <a:hlink>
        <a:srgbClr val="0860A8"/>
      </a:hlink>
      <a:folHlink>
        <a:srgbClr val="AA014C"/>
      </a:folHlink>
    </a:clrScheme>
    <a:fontScheme name="blue_intel_only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5"/>
        </a:solidFill>
        <a:ln w="50800" algn="ctr">
          <a:solidFill>
            <a:schemeClr val="tx1"/>
          </a:solidFill>
          <a:miter lim="800000"/>
          <a:headEnd/>
          <a:tailEnd/>
        </a:ln>
      </a:spPr>
      <a:bodyPr wrap="none" anchor="ctr"/>
      <a:lstStyle>
        <a:defPPr>
          <a:defRPr sz="2000" dirty="0" smtClean="0">
            <a:solidFill>
              <a:schemeClr val="bg1"/>
            </a:solidFill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lue_intel_only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_intel_only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blue_intel_only</Template>
  <TotalTime>45600</TotalTime>
  <Words>1571</Words>
  <Application>Microsoft Office PowerPoint</Application>
  <PresentationFormat>On-screen Show (4:3)</PresentationFormat>
  <Paragraphs>585</Paragraphs>
  <Slides>25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blue_intel_only</vt:lpstr>
      <vt:lpstr>Pixel</vt:lpstr>
      <vt:lpstr>MYO: Shared Memory Programming Model for Intel® MIC    Ravi Ganapathi</vt:lpstr>
      <vt:lpstr>MYO – Shared  Programming Model</vt:lpstr>
      <vt:lpstr>MYO – Shared  Programming Model</vt:lpstr>
      <vt:lpstr>Offload Model(Non Shared)</vt:lpstr>
      <vt:lpstr>CPU-GPU/MIC Interaction: Offload Model</vt:lpstr>
      <vt:lpstr>Why MYO? </vt:lpstr>
      <vt:lpstr>PowerPoint Presentation</vt:lpstr>
      <vt:lpstr>MYO Program Visualization</vt:lpstr>
      <vt:lpstr>How MYO works?</vt:lpstr>
      <vt:lpstr>Our mode example (Lazy Update)</vt:lpstr>
      <vt:lpstr>Our mode example (Eager Update)</vt:lpstr>
      <vt:lpstr>Memory Management</vt:lpstr>
      <vt:lpstr>MYO Programming</vt:lpstr>
      <vt:lpstr>MYO Program Structure</vt:lpstr>
      <vt:lpstr>myoiUserInit</vt:lpstr>
      <vt:lpstr>Main routine</vt:lpstr>
      <vt:lpstr>Hello World Client (Host)</vt:lpstr>
      <vt:lpstr>Hello World Service (Device)</vt:lpstr>
      <vt:lpstr>Case Study: Volume Rendering(VR)</vt:lpstr>
      <vt:lpstr>Case Study: Volume Rendering(VR)</vt:lpstr>
      <vt:lpstr>Summary: MYO Usage Model</vt:lpstr>
      <vt:lpstr>Q&amp;A</vt:lpstr>
      <vt:lpstr>Backup</vt:lpstr>
      <vt:lpstr>Case Study: Volume Rendering(VR)</vt:lpstr>
      <vt:lpstr>MYO Runtime Modules</vt:lpstr>
    </vt:vector>
  </TitlesOfParts>
  <Company>Intel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MYO</dc:title>
  <dc:subject>introduction to TPT</dc:subject>
  <dc:creator>Tiger Chen</dc:creator>
  <cp:lastModifiedBy>ronaldte</cp:lastModifiedBy>
  <cp:revision>1614</cp:revision>
  <dcterms:created xsi:type="dcterms:W3CDTF">2006-01-26T08:57:25Z</dcterms:created>
  <dcterms:modified xsi:type="dcterms:W3CDTF">2011-09-28T22:48:54Z</dcterms:modified>
</cp:coreProperties>
</file>